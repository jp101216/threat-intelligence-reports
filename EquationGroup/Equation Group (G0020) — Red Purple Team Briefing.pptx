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embeddedFontLst>
    <p:embeddedFont>
      <p:font typeface="JetBrains Mono" panose="02000009000000000000" pitchFamily="49" charset="0"/>
      <p:regular r:id="rId18"/>
      <p:bold r:id="rId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font" Target="fonts/font1.fntdata"/><Relationship Id="rId19"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F141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65754"/>
            <a:ext cx="10566400" cy="521380"/>
          </a:xfrm>
          <a:prstGeom prst="rect">
            <a:avLst/>
          </a:prstGeom>
          <a:noFill/>
          <a:ln/>
        </p:spPr>
        <p:txBody>
          <a:bodyPr wrap="square" lIns="0" tIns="0" rIns="0" bIns="0" rtlCol="0" anchor="t"/>
          <a:lstStyle>
            <a:lvl1pPr algn="l" indent="0" marL="0">
              <a:lnSpc>
                <a:spcPct val="115000"/>
              </a:lnSpc>
              <a:buNone/>
              <a:defRPr lang="en-US" sz="3400" dirty="0">
                <a:solidFill>
                  <a:srgbClr val="EAEEF3"/>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400" dirty="0"/>
          </a:p>
        </p:txBody>
      </p:sp>
      <p:sp>
        <p:nvSpPr>
          <p:cNvPr id="3" name="Text Placeholder 2"/>
          <p:cNvSpPr/>
          <p:nvPr>
            <p:ph idx="101" type="body"/>
          </p:nvPr>
        </p:nvSpPr>
        <p:spPr>
          <a:xfrm>
            <a:off x="812800" y="1991935"/>
            <a:ext cx="10566400" cy="4053265"/>
          </a:xfrm>
          <a:prstGeom prst="rect">
            <a:avLst/>
          </a:prstGeom>
          <a:noFill/>
          <a:ln/>
        </p:spPr>
        <p:txBody>
          <a:bodyPr wrap="square" lIns="0" tIns="0" rIns="0" bIns="0" rtlCol="0" anchor="t"/>
          <a:lstStyle>
            <a:lvl1pPr algn="l" indent="0" marL="0">
              <a:lnSpc>
                <a:spcPct val="140000"/>
              </a:lnSpc>
              <a:buNone/>
              <a:defRPr lang="en-US" sz="1600" dirty="0">
                <a:solidFill>
                  <a:srgbClr val="EAEEF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F141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65754"/>
            <a:ext cx="10566400" cy="521380"/>
          </a:xfrm>
          <a:prstGeom prst="rect">
            <a:avLst/>
          </a:prstGeom>
          <a:noFill/>
          <a:ln/>
        </p:spPr>
        <p:txBody>
          <a:bodyPr wrap="square" lIns="0" tIns="0" rIns="0" bIns="0" rtlCol="0" anchor="t"/>
          <a:lstStyle>
            <a:lvl1pPr algn="l" indent="0" marL="0">
              <a:lnSpc>
                <a:spcPct val="115000"/>
              </a:lnSpc>
              <a:buNone/>
              <a:defRPr lang="en-US" sz="3400" dirty="0">
                <a:solidFill>
                  <a:srgbClr val="EAEEF3"/>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400" dirty="0"/>
          </a:p>
        </p:txBody>
      </p:sp>
      <p:sp>
        <p:nvSpPr>
          <p:cNvPr id="3" name="Text Placeholder 2"/>
          <p:cNvSpPr/>
          <p:nvPr>
            <p:ph idx="101" type="body"/>
          </p:nvPr>
        </p:nvSpPr>
        <p:spPr>
          <a:xfrm>
            <a:off x="812800" y="1991935"/>
            <a:ext cx="10566400" cy="4053265"/>
          </a:xfrm>
          <a:prstGeom prst="rect">
            <a:avLst/>
          </a:prstGeom>
          <a:noFill/>
          <a:ln/>
        </p:spPr>
        <p:txBody>
          <a:bodyPr wrap="square" lIns="0" tIns="0" rIns="0" bIns="0" rtlCol="0" anchor="t"/>
          <a:lstStyle>
            <a:lvl1pPr algn="l" indent="0" marL="0">
              <a:lnSpc>
                <a:spcPct val="140000"/>
              </a:lnSpc>
              <a:buNone/>
              <a:defRPr lang="en-US" sz="1600" dirty="0">
                <a:solidFill>
                  <a:srgbClr val="EAEEF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41B"/>
        </a:solidFill>
      </p:bgPr>
    </p:bg>
    <p:spTree>
      <p:nvGrpSpPr>
        <p:cNvPr id="1" name=""/>
        <p:cNvGrpSpPr/>
        <p:nvPr/>
      </p:nvGrpSpPr>
      <p:grpSpPr>
        <a:xfrm>
          <a:off x="0" y="0"/>
          <a:ext cx="0" cy="0"/>
          <a:chOff x="0" y="0"/>
          <a:chExt cx="0" cy="0"/>
        </a:xfrm>
      </p:grpSpPr>
      <p:pic>
        <p:nvPicPr>
          <p:cNvPr id="2" name="Image 0" descr="rect">    </p:cNvPr>
          <p:cNvPicPr>
            <a:picLocks noChangeAspect="1"/>
          </p:cNvPicPr>
          <p:nvPr/>
        </p:nvPicPr>
        <p:blipFill>
          <a:blip r:embed="rId1"/>
          <a:srcRect l="0" r="0" t="0" b="0"/>
          <a:stretch/>
        </p:blipFill>
        <p:spPr>
          <a:xfrm>
            <a:off x="812800" y="936890"/>
            <a:ext cx="355600" cy="38100"/>
          </a:xfrm>
          <a:prstGeom prst="rect">
            <a:avLst/>
          </a:prstGeom>
        </p:spPr>
      </p:pic>
      <p:sp>
        <p:nvSpPr>
          <p:cNvPr id="3" name="Text 0"/>
          <p:cNvSpPr/>
          <p:nvPr/>
        </p:nvSpPr>
        <p:spPr>
          <a:xfrm>
            <a:off x="1295400" y="812800"/>
            <a:ext cx="6041208" cy="311679"/>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E0A45A"/>
                </a:solidFill>
                <a:latin typeface="JetBrains Mono" pitchFamily="49" charset="0"/>
                <a:ea typeface="JetBrains Mono" pitchFamily="49" charset="-122"/>
                <a:cs typeface="JetBrains Mono" pitchFamily="49" charset="-120"/>
              </a:rPr>
              <a:t>THREAT ACTOR PROFILE  ·  TLP:CLEAR</a:t>
            </a:r>
            <a:endParaRPr lang="en-US" sz="1400" dirty="0"/>
          </a:p>
        </p:txBody>
      </p:sp>
      <p:sp>
        <p:nvSpPr>
          <p:cNvPr id="4" name="Text 1"/>
          <p:cNvSpPr/>
          <p:nvPr>
            <p:ph type="title"/>
          </p:nvPr>
        </p:nvSpPr>
        <p:spPr>
          <a:xfrm>
            <a:off x="812800" y="1693749"/>
            <a:ext cx="10883392" cy="1190890"/>
          </a:xfrm>
          <a:prstGeom prst="rect">
            <a:avLst/>
          </a:prstGeom>
          <a:noFill/>
          <a:ln/>
        </p:spPr>
        <p:txBody>
          <a:bodyPr wrap="square" lIns="0" tIns="0" rIns="0" bIns="0" rtlCol="0" anchor="t">
            <a:normAutofit/>
          </a:bodyPr>
          <a:lstStyle/>
          <a:p>
            <a:pPr algn="l" indent="0" marL="0">
              <a:lnSpc>
                <a:spcPts val="7980"/>
              </a:lnSpc>
              <a:buNone/>
            </a:pPr>
            <a:r>
              <a:rPr lang="en-US" sz="8400" b="1" i="0" spc="-150" kern="0" dirty="0">
                <a:solidFill>
                  <a:srgbClr val="EAEEF3"/>
                </a:solidFill>
                <a:latin typeface="IBM Plex Sans" pitchFamily="34" charset="0"/>
                <a:ea typeface="IBM Plex Sans" pitchFamily="34" charset="-122"/>
                <a:cs typeface="IBM Plex Sans" pitchFamily="34" charset="-120"/>
              </a:rPr>
              <a:t>Equation Group</a:t>
            </a:r>
            <a:endParaRPr lang="en-US" sz="8400" dirty="0"/>
          </a:p>
        </p:txBody>
      </p:sp>
      <p:sp>
        <p:nvSpPr>
          <p:cNvPr id="5" name="Text 2"/>
          <p:cNvSpPr/>
          <p:nvPr/>
        </p:nvSpPr>
        <p:spPr>
          <a:xfrm>
            <a:off x="812800" y="3049739"/>
            <a:ext cx="10883392" cy="372987"/>
          </a:xfrm>
          <a:prstGeom prst="rect">
            <a:avLst/>
          </a:prstGeom>
          <a:noFill/>
          <a:ln/>
        </p:spPr>
        <p:txBody>
          <a:bodyPr wrap="square" lIns="0" tIns="0" rIns="0" bIns="0" rtlCol="0" anchor="t">
            <a:normAutofit/>
          </a:bodyPr>
          <a:lstStyle/>
          <a:p>
            <a:pPr algn="l" indent="0" marL="0">
              <a:lnSpc>
                <a:spcPts val="2380"/>
              </a:lnSpc>
              <a:buNone/>
            </a:pPr>
            <a:r>
              <a:rPr lang="en-US" sz="1700" spc="50" kern="0" dirty="0">
                <a:solidFill>
                  <a:srgbClr val="8E9BAA"/>
                </a:solidFill>
                <a:latin typeface="JetBrains Mono" pitchFamily="49" charset="0"/>
                <a:ea typeface="JetBrains Mono" pitchFamily="49" charset="-122"/>
                <a:cs typeface="JetBrains Mono" pitchFamily="49" charset="-120"/>
              </a:rPr>
              <a:t>MITRE G0020  ·  linked to NSA / TAO</a:t>
            </a:r>
            <a:endParaRPr lang="en-US" sz="1700" dirty="0"/>
          </a:p>
        </p:txBody>
      </p:sp>
      <p:sp>
        <p:nvSpPr>
          <p:cNvPr id="6" name="Text 3"/>
          <p:cNvSpPr/>
          <p:nvPr/>
        </p:nvSpPr>
        <p:spPr>
          <a:xfrm>
            <a:off x="812800" y="3587826"/>
            <a:ext cx="8895080" cy="1208314"/>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C7D0DB"/>
                </a:solidFill>
                <a:latin typeface="IBM Plex Sans" pitchFamily="34" charset="0"/>
                <a:ea typeface="IBM Plex Sans" pitchFamily="34" charset="-122"/>
                <a:cs typeface="IBM Plex Sans" pitchFamily="34" charset="-120"/>
              </a:rPr>
              <a:t>The benchmark for state-level tradecraft: firmware persistence, air-gap bridging, and the leaked toolkit that spawned WannaCry and NotPetya.</a:t>
            </a:r>
            <a:endParaRPr lang="en-US" sz="2000" dirty="0"/>
          </a:p>
        </p:txBody>
      </p:sp>
      <p:sp>
        <p:nvSpPr>
          <p:cNvPr id="7" name="Shape 4"/>
          <p:cNvSpPr/>
          <p:nvPr/>
        </p:nvSpPr>
        <p:spPr>
          <a:xfrm>
            <a:off x="812800" y="5368547"/>
            <a:ext cx="10566400" cy="0"/>
          </a:xfrm>
          <a:prstGeom prst="line">
            <a:avLst/>
          </a:prstGeom>
          <a:noFill/>
          <a:ln w="6350">
            <a:solidFill>
              <a:srgbClr val="263142"/>
            </a:solidFill>
            <a:prstDash val="solid"/>
          </a:ln>
        </p:spPr>
      </p:sp>
      <p:sp>
        <p:nvSpPr>
          <p:cNvPr id="8" name="Text 5"/>
          <p:cNvSpPr/>
          <p:nvPr/>
        </p:nvSpPr>
        <p:spPr>
          <a:xfrm>
            <a:off x="812800" y="5598810"/>
            <a:ext cx="3159397" cy="33209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8E9BAA"/>
                </a:solidFill>
                <a:latin typeface="IBM Plex Sans" pitchFamily="34" charset="0"/>
                <a:ea typeface="IBM Plex Sans" pitchFamily="34" charset="-122"/>
                <a:cs typeface="IBM Plex Sans" pitchFamily="34" charset="-120"/>
              </a:rPr>
              <a:t>Red &amp; purple team briefing</a:t>
            </a:r>
            <a:endParaRPr lang="en-US" sz="1500" dirty="0"/>
          </a:p>
        </p:txBody>
      </p:sp>
      <p:sp>
        <p:nvSpPr>
          <p:cNvPr id="9" name="Text 6"/>
          <p:cNvSpPr/>
          <p:nvPr/>
        </p:nvSpPr>
        <p:spPr>
          <a:xfrm>
            <a:off x="7829459" y="5598810"/>
            <a:ext cx="3549741" cy="332090"/>
          </a:xfrm>
          <a:prstGeom prst="rect">
            <a:avLst/>
          </a:prstGeom>
          <a:noFill/>
          <a:ln/>
        </p:spPr>
        <p:txBody>
          <a:bodyPr wrap="square" lIns="0" tIns="0" rIns="0" bIns="0" rtlCol="0" anchor="t">
            <a:normAutofit/>
          </a:bodyPr>
          <a:lstStyle/>
          <a:p>
            <a:pPr algn="r" indent="0" marL="0">
              <a:lnSpc>
                <a:spcPts val="2100"/>
              </a:lnSpc>
              <a:buNone/>
            </a:pPr>
            <a:r>
              <a:rPr lang="en-US" sz="1500" dirty="0">
                <a:solidFill>
                  <a:srgbClr val="8E9BAA"/>
                </a:solidFill>
                <a:latin typeface="IBM Plex Sans" pitchFamily="34" charset="0"/>
                <a:ea typeface="IBM Plex Sans" pitchFamily="34" charset="-122"/>
                <a:cs typeface="IBM Plex Sans" pitchFamily="34" charset="-120"/>
              </a:rPr>
              <a:t>Jessie Parker  ·  October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41B"/>
        </a:solidFill>
      </p:bgPr>
    </p:bg>
    <p:spTree>
      <p:nvGrpSpPr>
        <p:cNvPr id="1" name=""/>
        <p:cNvGrpSpPr/>
        <p:nvPr/>
      </p:nvGrpSpPr>
      <p:grpSpPr>
        <a:xfrm>
          <a:off x="0" y="0"/>
          <a:ext cx="0" cy="0"/>
          <a:chOff x="0" y="0"/>
          <a:chExt cx="0" cy="0"/>
        </a:xfrm>
      </p:grpSpPr>
      <p:sp>
        <p:nvSpPr>
          <p:cNvPr id="2" name="Text 0"/>
          <p:cNvSpPr/>
          <p:nvPr/>
        </p:nvSpPr>
        <p:spPr>
          <a:xfrm>
            <a:off x="812800" y="812800"/>
            <a:ext cx="10883392" cy="231926"/>
          </a:xfrm>
          <a:prstGeom prst="rect">
            <a:avLst/>
          </a:prstGeom>
          <a:noFill/>
          <a:ln/>
        </p:spPr>
        <p:txBody>
          <a:bodyPr wrap="square" lIns="0" tIns="0" rIns="0" bIns="0" rtlCol="0" anchor="t">
            <a:normAutofit/>
          </a:bodyPr>
          <a:lstStyle/>
          <a:p>
            <a:pPr algn="l" indent="0" marL="0">
              <a:lnSpc>
                <a:spcPts val="1456"/>
              </a:lnSpc>
              <a:buNone/>
            </a:pPr>
            <a:r>
              <a:rPr lang="en-US" sz="1040" spc="150" kern="0" dirty="0">
                <a:solidFill>
                  <a:srgbClr val="E0A45A"/>
                </a:solidFill>
                <a:latin typeface="JetBrains Mono" pitchFamily="49" charset="0"/>
                <a:ea typeface="JetBrains Mono" pitchFamily="49" charset="-122"/>
                <a:cs typeface="JetBrains Mono" pitchFamily="49" charset="-120"/>
              </a:rPr>
              <a:t>BOTTOM LINE UP FRONT</a:t>
            </a:r>
            <a:endParaRPr lang="en-US" sz="1040" dirty="0"/>
          </a:p>
        </p:txBody>
      </p:sp>
      <p:sp>
        <p:nvSpPr>
          <p:cNvPr id="3" name="Text 1"/>
          <p:cNvSpPr/>
          <p:nvPr>
            <p:ph type="title"/>
          </p:nvPr>
        </p:nvSpPr>
        <p:spPr>
          <a:xfrm>
            <a:off x="812800" y="1108226"/>
            <a:ext cx="10883392" cy="454365"/>
          </a:xfrm>
          <a:prstGeom prst="rect">
            <a:avLst/>
          </a:prstGeom>
          <a:noFill/>
          <a:ln/>
        </p:spPr>
        <p:txBody>
          <a:bodyPr wrap="square" lIns="0" tIns="0" rIns="0" bIns="0" rtlCol="0" anchor="t">
            <a:normAutofit/>
          </a:bodyPr>
          <a:lstStyle/>
          <a:p>
            <a:pPr algn="l" indent="0" marL="0">
              <a:lnSpc>
                <a:spcPts val="2977"/>
              </a:lnSpc>
              <a:buNone/>
            </a:pPr>
            <a:r>
              <a:rPr lang="en-US" sz="2835" b="1" i="0" dirty="0">
                <a:solidFill>
                  <a:srgbClr val="EAEEF3"/>
                </a:solidFill>
                <a:latin typeface="IBM Plex Sans" pitchFamily="34" charset="0"/>
                <a:ea typeface="IBM Plex Sans" pitchFamily="34" charset="-122"/>
                <a:cs typeface="IBM Plex Sans" pitchFamily="34" charset="-120"/>
              </a:rPr>
              <a:t>The benchmark, and a cautionary tale</a:t>
            </a:r>
            <a:endParaRPr lang="en-US" sz="2835" dirty="0"/>
          </a:p>
        </p:txBody>
      </p:sp>
      <p:sp>
        <p:nvSpPr>
          <p:cNvPr id="4" name="Shape 2"/>
          <p:cNvSpPr/>
          <p:nvPr/>
        </p:nvSpPr>
        <p:spPr>
          <a:xfrm>
            <a:off x="815975" y="1870566"/>
            <a:ext cx="10560050" cy="830981"/>
          </a:xfrm>
          <a:prstGeom prst="roundRect">
            <a:avLst>
              <a:gd name="adj" fmla="val 11844"/>
            </a:avLst>
          </a:prstGeom>
          <a:solidFill>
            <a:srgbClr val="161D27"/>
          </a:solidFill>
          <a:ln w="6350">
            <a:solidFill>
              <a:srgbClr val="263142"/>
            </a:solidFill>
            <a:prstDash val="solid"/>
          </a:ln>
        </p:spPr>
      </p:sp>
      <p:sp>
        <p:nvSpPr>
          <p:cNvPr id="5" name="Text 3"/>
          <p:cNvSpPr/>
          <p:nvPr/>
        </p:nvSpPr>
        <p:spPr>
          <a:xfrm>
            <a:off x="1046238" y="2062730"/>
            <a:ext cx="357505" cy="372987"/>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E0A45A"/>
                </a:solidFill>
                <a:latin typeface="JetBrains Mono" pitchFamily="49" charset="0"/>
                <a:ea typeface="JetBrains Mono" pitchFamily="49" charset="-122"/>
                <a:cs typeface="JetBrains Mono" pitchFamily="49" charset="-120"/>
              </a:rPr>
              <a:t>01</a:t>
            </a:r>
            <a:endParaRPr lang="en-US" sz="1700" dirty="0"/>
          </a:p>
        </p:txBody>
      </p:sp>
      <p:sp>
        <p:nvSpPr>
          <p:cNvPr id="6" name="Text 4"/>
          <p:cNvSpPr/>
          <p:nvPr/>
        </p:nvSpPr>
        <p:spPr>
          <a:xfrm>
            <a:off x="1534659" y="2062730"/>
            <a:ext cx="8975591" cy="362782"/>
          </a:xfrm>
          <a:prstGeom prst="rect">
            <a:avLst/>
          </a:prstGeom>
          <a:noFill/>
          <a:ln/>
        </p:spPr>
        <p:txBody>
          <a:bodyPr wrap="square" lIns="0" tIns="0" rIns="0" bIns="0" rtlCol="0" anchor="t">
            <a:normAutofit/>
          </a:bodyPr>
          <a:lstStyle/>
          <a:p>
            <a:pPr algn="l" indent="0" marL="0">
              <a:lnSpc>
                <a:spcPts val="2310"/>
              </a:lnSpc>
              <a:buNone/>
            </a:pPr>
            <a:r>
              <a:rPr lang="en-US" sz="1650" b="1" dirty="0">
                <a:solidFill>
                  <a:srgbClr val="EAEEF3"/>
                </a:solidFill>
                <a:latin typeface="IBM Plex Sans" pitchFamily="34" charset="0"/>
                <a:ea typeface="IBM Plex Sans" pitchFamily="34" charset="-122"/>
                <a:cs typeface="IBM Plex Sans" pitchFamily="34" charset="-120"/>
              </a:rPr>
              <a:t>The most sophisticated actor documented</a:t>
            </a:r>
            <a:endParaRPr lang="en-US" sz="1650" dirty="0"/>
          </a:p>
        </p:txBody>
      </p:sp>
      <p:sp>
        <p:nvSpPr>
          <p:cNvPr id="7" name="Text 5"/>
          <p:cNvSpPr/>
          <p:nvPr/>
        </p:nvSpPr>
        <p:spPr>
          <a:xfrm>
            <a:off x="1534659" y="2450911"/>
            <a:ext cx="9838191" cy="30143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9B4C0"/>
                </a:solidFill>
                <a:latin typeface="IBM Plex Sans" pitchFamily="34" charset="0"/>
                <a:ea typeface="IBM Plex Sans" pitchFamily="34" charset="-122"/>
                <a:cs typeface="IBM Plex Sans" pitchFamily="34" charset="-120"/>
              </a:rPr>
              <a:t>Disclosed by Kaspersky in 2015; active since at least 2001; widely linked to the NSA's TAO unit.</a:t>
            </a:r>
            <a:endParaRPr lang="en-US" sz="1400" dirty="0"/>
          </a:p>
        </p:txBody>
      </p:sp>
      <p:sp>
        <p:nvSpPr>
          <p:cNvPr id="8" name="Shape 6"/>
          <p:cNvSpPr/>
          <p:nvPr/>
        </p:nvSpPr>
        <p:spPr>
          <a:xfrm>
            <a:off x="815975" y="2860298"/>
            <a:ext cx="10560050" cy="1016643"/>
          </a:xfrm>
          <a:prstGeom prst="roundRect">
            <a:avLst>
              <a:gd name="adj" fmla="val 9681"/>
            </a:avLst>
          </a:prstGeom>
          <a:solidFill>
            <a:srgbClr val="161D27"/>
          </a:solidFill>
          <a:ln w="6350">
            <a:solidFill>
              <a:srgbClr val="263142"/>
            </a:solidFill>
            <a:prstDash val="solid"/>
          </a:ln>
        </p:spPr>
      </p:sp>
      <p:sp>
        <p:nvSpPr>
          <p:cNvPr id="9" name="Text 7"/>
          <p:cNvSpPr/>
          <p:nvPr/>
        </p:nvSpPr>
        <p:spPr>
          <a:xfrm>
            <a:off x="1046238" y="3052460"/>
            <a:ext cx="336663" cy="720574"/>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E0A45A"/>
                </a:solidFill>
                <a:latin typeface="JetBrains Mono" pitchFamily="49" charset="0"/>
                <a:ea typeface="JetBrains Mono" pitchFamily="49" charset="-122"/>
                <a:cs typeface="JetBrains Mono" pitchFamily="49" charset="-120"/>
              </a:rPr>
              <a:t>02</a:t>
            </a:r>
            <a:endParaRPr lang="en-US" sz="1700" dirty="0"/>
          </a:p>
        </p:txBody>
      </p:sp>
      <p:sp>
        <p:nvSpPr>
          <p:cNvPr id="10" name="Text 8"/>
          <p:cNvSpPr/>
          <p:nvPr/>
        </p:nvSpPr>
        <p:spPr>
          <a:xfrm>
            <a:off x="1522602" y="3052460"/>
            <a:ext cx="9911855" cy="362782"/>
          </a:xfrm>
          <a:prstGeom prst="rect">
            <a:avLst/>
          </a:prstGeom>
          <a:noFill/>
          <a:ln/>
        </p:spPr>
        <p:txBody>
          <a:bodyPr wrap="square" lIns="0" tIns="0" rIns="0" bIns="0" rtlCol="0" anchor="t">
            <a:normAutofit/>
          </a:bodyPr>
          <a:lstStyle/>
          <a:p>
            <a:pPr algn="l" indent="0" marL="0">
              <a:lnSpc>
                <a:spcPts val="2310"/>
              </a:lnSpc>
              <a:buNone/>
            </a:pPr>
            <a:r>
              <a:rPr lang="en-US" sz="1650" b="1" dirty="0">
                <a:solidFill>
                  <a:srgbClr val="EAEEF3"/>
                </a:solidFill>
                <a:latin typeface="IBM Plex Sans" pitchFamily="34" charset="0"/>
                <a:ea typeface="IBM Plex Sans" pitchFamily="34" charset="-122"/>
                <a:cs typeface="IBM Plex Sans" pitchFamily="34" charset="-120"/>
              </a:rPr>
              <a:t>Persistence below the operating system</a:t>
            </a:r>
            <a:endParaRPr lang="en-US" sz="1650" dirty="0"/>
          </a:p>
        </p:txBody>
      </p:sp>
      <p:sp>
        <p:nvSpPr>
          <p:cNvPr id="11" name="Text 9"/>
          <p:cNvSpPr/>
          <p:nvPr/>
        </p:nvSpPr>
        <p:spPr>
          <a:xfrm>
            <a:off x="1522602" y="3440642"/>
            <a:ext cx="9911855" cy="577472"/>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9B4C0"/>
                </a:solidFill>
                <a:latin typeface="IBM Plex Sans" pitchFamily="34" charset="0"/>
                <a:ea typeface="IBM Plex Sans" pitchFamily="34" charset="-122"/>
                <a:cs typeface="IBM Plex Sans" pitchFamily="34" charset="-120"/>
              </a:rPr>
              <a:t>Reflashes hard-drive firmware to survive reformatting; bridges air gaps; hides in encrypted virtual filesystems.</a:t>
            </a:r>
            <a:endParaRPr lang="en-US" sz="1400" dirty="0"/>
          </a:p>
        </p:txBody>
      </p:sp>
      <p:sp>
        <p:nvSpPr>
          <p:cNvPr id="12" name="Shape 10"/>
          <p:cNvSpPr/>
          <p:nvPr/>
        </p:nvSpPr>
        <p:spPr>
          <a:xfrm>
            <a:off x="815975" y="4035690"/>
            <a:ext cx="10560050" cy="830981"/>
          </a:xfrm>
          <a:prstGeom prst="roundRect">
            <a:avLst>
              <a:gd name="adj" fmla="val 11844"/>
            </a:avLst>
          </a:prstGeom>
          <a:solidFill>
            <a:srgbClr val="161D27"/>
          </a:solidFill>
          <a:ln w="6350">
            <a:solidFill>
              <a:srgbClr val="263142"/>
            </a:solidFill>
            <a:prstDash val="solid"/>
          </a:ln>
        </p:spPr>
      </p:sp>
      <p:sp>
        <p:nvSpPr>
          <p:cNvPr id="13" name="Text 11"/>
          <p:cNvSpPr/>
          <p:nvPr/>
        </p:nvSpPr>
        <p:spPr>
          <a:xfrm>
            <a:off x="1046238" y="4227853"/>
            <a:ext cx="357505" cy="372987"/>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E0A45A"/>
                </a:solidFill>
                <a:latin typeface="JetBrains Mono" pitchFamily="49" charset="0"/>
                <a:ea typeface="JetBrains Mono" pitchFamily="49" charset="-122"/>
                <a:cs typeface="JetBrains Mono" pitchFamily="49" charset="-120"/>
              </a:rPr>
              <a:t>03</a:t>
            </a:r>
            <a:endParaRPr lang="en-US" sz="1700" dirty="0"/>
          </a:p>
        </p:txBody>
      </p:sp>
      <p:sp>
        <p:nvSpPr>
          <p:cNvPr id="14" name="Text 12"/>
          <p:cNvSpPr/>
          <p:nvPr/>
        </p:nvSpPr>
        <p:spPr>
          <a:xfrm>
            <a:off x="1534659" y="4227853"/>
            <a:ext cx="9418437" cy="362782"/>
          </a:xfrm>
          <a:prstGeom prst="rect">
            <a:avLst/>
          </a:prstGeom>
          <a:noFill/>
          <a:ln/>
        </p:spPr>
        <p:txBody>
          <a:bodyPr wrap="square" lIns="0" tIns="0" rIns="0" bIns="0" rtlCol="0" anchor="t">
            <a:normAutofit/>
          </a:bodyPr>
          <a:lstStyle/>
          <a:p>
            <a:pPr algn="l" indent="0" marL="0">
              <a:lnSpc>
                <a:spcPts val="2310"/>
              </a:lnSpc>
              <a:buNone/>
            </a:pPr>
            <a:r>
              <a:rPr lang="en-US" sz="1650" b="1" dirty="0">
                <a:solidFill>
                  <a:srgbClr val="EAEEF3"/>
                </a:solidFill>
                <a:latin typeface="IBM Plex Sans" pitchFamily="34" charset="0"/>
                <a:ea typeface="IBM Plex Sans" pitchFamily="34" charset="-122"/>
                <a:cs typeface="IBM Plex Sans" pitchFamily="34" charset="-120"/>
              </a:rPr>
              <a:t>Its leak reshaped the threat landscape</a:t>
            </a:r>
            <a:endParaRPr lang="en-US" sz="1650" dirty="0"/>
          </a:p>
        </p:txBody>
      </p:sp>
      <p:sp>
        <p:nvSpPr>
          <p:cNvPr id="15" name="Text 13"/>
          <p:cNvSpPr/>
          <p:nvPr/>
        </p:nvSpPr>
        <p:spPr>
          <a:xfrm>
            <a:off x="1534659" y="4616035"/>
            <a:ext cx="9838191" cy="30143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9B4C0"/>
                </a:solidFill>
                <a:latin typeface="IBM Plex Sans" pitchFamily="34" charset="0"/>
                <a:ea typeface="IBM Plex Sans" pitchFamily="34" charset="-122"/>
                <a:cs typeface="IBM Plex Sans" pitchFamily="34" charset="-120"/>
              </a:rPr>
              <a:t>The 2016–17 Shadow Brokers dump exposed EternalBlue, which powered WannaCry and NotPetya.</a:t>
            </a:r>
            <a:endParaRPr lang="en-US" sz="1400" dirty="0"/>
          </a:p>
        </p:txBody>
      </p:sp>
      <p:sp>
        <p:nvSpPr>
          <p:cNvPr id="16" name="Shape 14"/>
          <p:cNvSpPr/>
          <p:nvPr/>
        </p:nvSpPr>
        <p:spPr>
          <a:xfrm>
            <a:off x="815975" y="5025420"/>
            <a:ext cx="10560050" cy="1016605"/>
          </a:xfrm>
          <a:prstGeom prst="roundRect">
            <a:avLst>
              <a:gd name="adj" fmla="val 9682"/>
            </a:avLst>
          </a:prstGeom>
          <a:solidFill>
            <a:srgbClr val="161D27"/>
          </a:solidFill>
          <a:ln w="6350">
            <a:solidFill>
              <a:srgbClr val="2E4256"/>
            </a:solidFill>
            <a:prstDash val="solid"/>
          </a:ln>
        </p:spPr>
      </p:sp>
      <p:sp>
        <p:nvSpPr>
          <p:cNvPr id="17" name="Text 15"/>
          <p:cNvSpPr/>
          <p:nvPr/>
        </p:nvSpPr>
        <p:spPr>
          <a:xfrm>
            <a:off x="1046238" y="5217584"/>
            <a:ext cx="345281" cy="720574"/>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E0A45A"/>
                </a:solidFill>
                <a:latin typeface="JetBrains Mono" pitchFamily="49" charset="0"/>
                <a:ea typeface="JetBrains Mono" pitchFamily="49" charset="-122"/>
                <a:cs typeface="JetBrains Mono" pitchFamily="49" charset="-120"/>
              </a:rPr>
              <a:t>04</a:t>
            </a:r>
            <a:endParaRPr lang="en-US" sz="1700" dirty="0"/>
          </a:p>
        </p:txBody>
      </p:sp>
      <p:sp>
        <p:nvSpPr>
          <p:cNvPr id="18" name="Text 16"/>
          <p:cNvSpPr/>
          <p:nvPr/>
        </p:nvSpPr>
        <p:spPr>
          <a:xfrm>
            <a:off x="1531219" y="5217584"/>
            <a:ext cx="9902979" cy="362782"/>
          </a:xfrm>
          <a:prstGeom prst="rect">
            <a:avLst/>
          </a:prstGeom>
          <a:noFill/>
          <a:ln/>
        </p:spPr>
        <p:txBody>
          <a:bodyPr wrap="square" lIns="0" tIns="0" rIns="0" bIns="0" rtlCol="0" anchor="t">
            <a:normAutofit/>
          </a:bodyPr>
          <a:lstStyle/>
          <a:p>
            <a:pPr algn="l" indent="0" marL="0">
              <a:lnSpc>
                <a:spcPts val="2310"/>
              </a:lnSpc>
              <a:buNone/>
            </a:pPr>
            <a:r>
              <a:rPr lang="en-US" sz="1650" b="1" dirty="0">
                <a:solidFill>
                  <a:srgbClr val="EAEEF3"/>
                </a:solidFill>
                <a:latin typeface="IBM Plex Sans" pitchFamily="34" charset="0"/>
                <a:ea typeface="IBM Plex Sans" pitchFamily="34" charset="-122"/>
                <a:cs typeface="IBM Plex Sans" pitchFamily="34" charset="-120"/>
              </a:rPr>
              <a:t>A lesson more than an emulation target</a:t>
            </a:r>
            <a:endParaRPr lang="en-US" sz="1650" dirty="0"/>
          </a:p>
        </p:txBody>
      </p:sp>
      <p:sp>
        <p:nvSpPr>
          <p:cNvPr id="19" name="Text 17"/>
          <p:cNvSpPr/>
          <p:nvPr/>
        </p:nvSpPr>
        <p:spPr>
          <a:xfrm>
            <a:off x="1531219" y="5605765"/>
            <a:ext cx="9902979" cy="577472"/>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9B4C0"/>
                </a:solidFill>
                <a:latin typeface="IBM Plex Sans" pitchFamily="34" charset="0"/>
                <a:ea typeface="IBM Plex Sans" pitchFamily="34" charset="-122"/>
                <a:cs typeface="IBM Plex Sans" pitchFamily="34" charset="-120"/>
              </a:rPr>
              <a:t>The firmware implants aren’t lab-reproducible; the value is validating detection of what its leak unleashed.</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41B"/>
        </a:solidFill>
      </p:bgPr>
    </p:bg>
    <p:spTree>
      <p:nvGrpSpPr>
        <p:cNvPr id="1" name=""/>
        <p:cNvGrpSpPr/>
        <p:nvPr/>
      </p:nvGrpSpPr>
      <p:grpSpPr>
        <a:xfrm>
          <a:off x="0" y="0"/>
          <a:ext cx="0" cy="0"/>
          <a:chOff x="0" y="0"/>
          <a:chExt cx="0" cy="0"/>
        </a:xfrm>
      </p:grpSpPr>
      <p:sp>
        <p:nvSpPr>
          <p:cNvPr id="2" name="Text 0"/>
          <p:cNvSpPr/>
          <p:nvPr/>
        </p:nvSpPr>
        <p:spPr>
          <a:xfrm>
            <a:off x="812800" y="812800"/>
            <a:ext cx="10883392" cy="291193"/>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E0A45A"/>
                </a:solidFill>
                <a:latin typeface="JetBrains Mono" pitchFamily="49" charset="0"/>
                <a:ea typeface="JetBrains Mono" pitchFamily="49" charset="-122"/>
                <a:cs typeface="JetBrains Mono" pitchFamily="49" charset="-120"/>
              </a:rPr>
              <a:t>THE ADVERSARY</a:t>
            </a:r>
            <a:endParaRPr lang="en-US" sz="1300" dirty="0"/>
          </a:p>
        </p:txBody>
      </p:sp>
      <p:sp>
        <p:nvSpPr>
          <p:cNvPr id="3" name="Text 1"/>
          <p:cNvSpPr/>
          <p:nvPr>
            <p:ph type="title"/>
          </p:nvPr>
        </p:nvSpPr>
        <p:spPr>
          <a:xfrm>
            <a:off x="812800" y="1167493"/>
            <a:ext cx="10883392" cy="577434"/>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EAEEF3"/>
                </a:solidFill>
                <a:latin typeface="IBM Plex Sans" pitchFamily="34" charset="0"/>
                <a:ea typeface="IBM Plex Sans" pitchFamily="34" charset="-122"/>
                <a:cs typeface="IBM Plex Sans" pitchFamily="34" charset="-120"/>
              </a:rPr>
              <a:t>At a glance</a:t>
            </a:r>
            <a:endParaRPr lang="en-US" sz="3600" dirty="0"/>
          </a:p>
        </p:txBody>
      </p:sp>
      <p:sp>
        <p:nvSpPr>
          <p:cNvPr id="4" name="Shape 2"/>
          <p:cNvSpPr/>
          <p:nvPr/>
        </p:nvSpPr>
        <p:spPr>
          <a:xfrm>
            <a:off x="815975" y="2052903"/>
            <a:ext cx="3414183" cy="1041438"/>
          </a:xfrm>
          <a:prstGeom prst="roundRect">
            <a:avLst>
              <a:gd name="adj" fmla="val 9451"/>
            </a:avLst>
          </a:prstGeom>
          <a:solidFill>
            <a:srgbClr val="161D27"/>
          </a:solidFill>
          <a:ln w="6350">
            <a:solidFill>
              <a:srgbClr val="263142"/>
            </a:solidFill>
            <a:prstDash val="solid"/>
          </a:ln>
        </p:spPr>
      </p:sp>
      <p:sp>
        <p:nvSpPr>
          <p:cNvPr id="5" name="Text 3"/>
          <p:cNvSpPr/>
          <p:nvPr/>
        </p:nvSpPr>
        <p:spPr>
          <a:xfrm>
            <a:off x="1033538" y="2270466"/>
            <a:ext cx="3068429" cy="270744"/>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0A45A"/>
                </a:solidFill>
                <a:latin typeface="JetBrains Mono" pitchFamily="49" charset="0"/>
                <a:ea typeface="JetBrains Mono" pitchFamily="49" charset="-122"/>
                <a:cs typeface="JetBrains Mono" pitchFamily="49" charset="-120"/>
              </a:rPr>
              <a:t>ALIASES</a:t>
            </a:r>
            <a:endParaRPr lang="en-US" sz="1200" dirty="0"/>
          </a:p>
        </p:txBody>
      </p:sp>
      <p:sp>
        <p:nvSpPr>
          <p:cNvPr id="6" name="Text 4"/>
          <p:cNvSpPr/>
          <p:nvPr/>
        </p:nvSpPr>
        <p:spPr>
          <a:xfrm>
            <a:off x="1033538" y="2592009"/>
            <a:ext cx="3068429" cy="310167"/>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EAEEF3"/>
                </a:solidFill>
                <a:latin typeface="IBM Plex Sans" pitchFamily="34" charset="0"/>
                <a:ea typeface="IBM Plex Sans" pitchFamily="34" charset="-122"/>
                <a:cs typeface="IBM Plex Sans" pitchFamily="34" charset="-120"/>
              </a:rPr>
              <a:t>Equation Group, G0020</a:t>
            </a:r>
            <a:endParaRPr lang="en-US" sz="1500" dirty="0"/>
          </a:p>
        </p:txBody>
      </p:sp>
      <p:sp>
        <p:nvSpPr>
          <p:cNvPr id="7" name="Shape 5"/>
          <p:cNvSpPr/>
          <p:nvPr/>
        </p:nvSpPr>
        <p:spPr>
          <a:xfrm>
            <a:off x="4388908" y="2052903"/>
            <a:ext cx="3414183" cy="1041438"/>
          </a:xfrm>
          <a:prstGeom prst="roundRect">
            <a:avLst>
              <a:gd name="adj" fmla="val 9451"/>
            </a:avLst>
          </a:prstGeom>
          <a:solidFill>
            <a:srgbClr val="161D27"/>
          </a:solidFill>
          <a:ln w="6350">
            <a:solidFill>
              <a:srgbClr val="263142"/>
            </a:solidFill>
            <a:prstDash val="solid"/>
          </a:ln>
        </p:spPr>
      </p:sp>
      <p:sp>
        <p:nvSpPr>
          <p:cNvPr id="8" name="Text 6"/>
          <p:cNvSpPr/>
          <p:nvPr/>
        </p:nvSpPr>
        <p:spPr>
          <a:xfrm>
            <a:off x="4606472" y="2270466"/>
            <a:ext cx="3068429" cy="270744"/>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0A45A"/>
                </a:solidFill>
                <a:latin typeface="JetBrains Mono" pitchFamily="49" charset="0"/>
                <a:ea typeface="JetBrains Mono" pitchFamily="49" charset="-122"/>
                <a:cs typeface="JetBrains Mono" pitchFamily="49" charset="-120"/>
              </a:rPr>
              <a:t>DISCLOSED</a:t>
            </a:r>
            <a:endParaRPr lang="en-US" sz="1200" dirty="0"/>
          </a:p>
        </p:txBody>
      </p:sp>
      <p:sp>
        <p:nvSpPr>
          <p:cNvPr id="9" name="Text 7"/>
          <p:cNvSpPr/>
          <p:nvPr/>
        </p:nvSpPr>
        <p:spPr>
          <a:xfrm>
            <a:off x="4606472" y="2592009"/>
            <a:ext cx="3068429" cy="310167"/>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EAEEF3"/>
                </a:solidFill>
                <a:latin typeface="IBM Plex Sans" pitchFamily="34" charset="0"/>
                <a:ea typeface="IBM Plex Sans" pitchFamily="34" charset="-122"/>
                <a:cs typeface="IBM Plex Sans" pitchFamily="34" charset="-120"/>
              </a:rPr>
              <a:t>February 2015, Kaspersky</a:t>
            </a:r>
            <a:endParaRPr lang="en-US" sz="1500" dirty="0"/>
          </a:p>
        </p:txBody>
      </p:sp>
      <p:sp>
        <p:nvSpPr>
          <p:cNvPr id="10" name="Shape 8"/>
          <p:cNvSpPr/>
          <p:nvPr/>
        </p:nvSpPr>
        <p:spPr>
          <a:xfrm>
            <a:off x="7961842" y="2052903"/>
            <a:ext cx="3414183" cy="1041438"/>
          </a:xfrm>
          <a:prstGeom prst="roundRect">
            <a:avLst>
              <a:gd name="adj" fmla="val 9451"/>
            </a:avLst>
          </a:prstGeom>
          <a:solidFill>
            <a:srgbClr val="161D27"/>
          </a:solidFill>
          <a:ln w="6350">
            <a:solidFill>
              <a:srgbClr val="263142"/>
            </a:solidFill>
            <a:prstDash val="solid"/>
          </a:ln>
        </p:spPr>
      </p:sp>
      <p:sp>
        <p:nvSpPr>
          <p:cNvPr id="11" name="Text 9"/>
          <p:cNvSpPr/>
          <p:nvPr/>
        </p:nvSpPr>
        <p:spPr>
          <a:xfrm>
            <a:off x="8179405" y="2270466"/>
            <a:ext cx="3068429" cy="270744"/>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0A45A"/>
                </a:solidFill>
                <a:latin typeface="JetBrains Mono" pitchFamily="49" charset="0"/>
                <a:ea typeface="JetBrains Mono" pitchFamily="49" charset="-122"/>
                <a:cs typeface="JetBrains Mono" pitchFamily="49" charset="-120"/>
              </a:rPr>
              <a:t>ACTIVE SINCE</a:t>
            </a:r>
            <a:endParaRPr lang="en-US" sz="1200" dirty="0"/>
          </a:p>
        </p:txBody>
      </p:sp>
      <p:sp>
        <p:nvSpPr>
          <p:cNvPr id="12" name="Text 10"/>
          <p:cNvSpPr/>
          <p:nvPr/>
        </p:nvSpPr>
        <p:spPr>
          <a:xfrm>
            <a:off x="8179405" y="2592009"/>
            <a:ext cx="3068429" cy="310167"/>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EAEEF3"/>
                </a:solidFill>
                <a:latin typeface="IBM Plex Sans" pitchFamily="34" charset="0"/>
                <a:ea typeface="IBM Plex Sans" pitchFamily="34" charset="-122"/>
                <a:cs typeface="IBM Plex Sans" pitchFamily="34" charset="-120"/>
              </a:rPr>
              <a:t>At least 2001</a:t>
            </a:r>
            <a:endParaRPr lang="en-US" sz="1500" dirty="0"/>
          </a:p>
        </p:txBody>
      </p:sp>
      <p:sp>
        <p:nvSpPr>
          <p:cNvPr id="13" name="Shape 11"/>
          <p:cNvSpPr/>
          <p:nvPr/>
        </p:nvSpPr>
        <p:spPr>
          <a:xfrm>
            <a:off x="815975" y="3253090"/>
            <a:ext cx="3414183" cy="1326205"/>
          </a:xfrm>
          <a:prstGeom prst="roundRect">
            <a:avLst>
              <a:gd name="adj" fmla="val 7422"/>
            </a:avLst>
          </a:prstGeom>
          <a:solidFill>
            <a:srgbClr val="161D27"/>
          </a:solidFill>
          <a:ln w="6350">
            <a:solidFill>
              <a:srgbClr val="263142"/>
            </a:solidFill>
            <a:prstDash val="solid"/>
          </a:ln>
        </p:spPr>
      </p:sp>
      <p:sp>
        <p:nvSpPr>
          <p:cNvPr id="14" name="Text 12"/>
          <p:cNvSpPr/>
          <p:nvPr/>
        </p:nvSpPr>
        <p:spPr>
          <a:xfrm>
            <a:off x="1033538" y="3470653"/>
            <a:ext cx="3068429" cy="270744"/>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0A45A"/>
                </a:solidFill>
                <a:latin typeface="JetBrains Mono" pitchFamily="49" charset="0"/>
                <a:ea typeface="JetBrains Mono" pitchFamily="49" charset="-122"/>
                <a:cs typeface="JetBrains Mono" pitchFamily="49" charset="-120"/>
              </a:rPr>
              <a:t>MOTIVATION</a:t>
            </a:r>
            <a:endParaRPr lang="en-US" sz="1200" dirty="0"/>
          </a:p>
        </p:txBody>
      </p:sp>
      <p:sp>
        <p:nvSpPr>
          <p:cNvPr id="15" name="Text 13"/>
          <p:cNvSpPr/>
          <p:nvPr/>
        </p:nvSpPr>
        <p:spPr>
          <a:xfrm>
            <a:off x="1033538" y="3792198"/>
            <a:ext cx="3068429" cy="310167"/>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EAEEF3"/>
                </a:solidFill>
                <a:latin typeface="IBM Plex Sans" pitchFamily="34" charset="0"/>
                <a:ea typeface="IBM Plex Sans" pitchFamily="34" charset="-122"/>
                <a:cs typeface="IBM Plex Sans" pitchFamily="34" charset="-120"/>
              </a:rPr>
              <a:t>Strategic espionage</a:t>
            </a:r>
            <a:endParaRPr lang="en-US" sz="1500" dirty="0"/>
          </a:p>
        </p:txBody>
      </p:sp>
      <p:sp>
        <p:nvSpPr>
          <p:cNvPr id="16" name="Shape 14"/>
          <p:cNvSpPr/>
          <p:nvPr/>
        </p:nvSpPr>
        <p:spPr>
          <a:xfrm>
            <a:off x="4388908" y="3253090"/>
            <a:ext cx="3414183" cy="1326205"/>
          </a:xfrm>
          <a:prstGeom prst="roundRect">
            <a:avLst>
              <a:gd name="adj" fmla="val 7422"/>
            </a:avLst>
          </a:prstGeom>
          <a:solidFill>
            <a:srgbClr val="161D27"/>
          </a:solidFill>
          <a:ln w="6350">
            <a:solidFill>
              <a:srgbClr val="263142"/>
            </a:solidFill>
            <a:prstDash val="solid"/>
          </a:ln>
        </p:spPr>
      </p:sp>
      <p:sp>
        <p:nvSpPr>
          <p:cNvPr id="17" name="Text 15"/>
          <p:cNvSpPr/>
          <p:nvPr/>
        </p:nvSpPr>
        <p:spPr>
          <a:xfrm>
            <a:off x="4606472" y="3470653"/>
            <a:ext cx="3068429" cy="270744"/>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0A45A"/>
                </a:solidFill>
                <a:latin typeface="JetBrains Mono" pitchFamily="49" charset="0"/>
                <a:ea typeface="JetBrains Mono" pitchFamily="49" charset="-122"/>
                <a:cs typeface="JetBrains Mono" pitchFamily="49" charset="-120"/>
              </a:rPr>
              <a:t>SUSPECTED SPONSOR</a:t>
            </a:r>
            <a:endParaRPr lang="en-US" sz="1200" dirty="0"/>
          </a:p>
        </p:txBody>
      </p:sp>
      <p:sp>
        <p:nvSpPr>
          <p:cNvPr id="18" name="Text 16"/>
          <p:cNvSpPr/>
          <p:nvPr/>
        </p:nvSpPr>
        <p:spPr>
          <a:xfrm>
            <a:off x="4606472" y="3792198"/>
            <a:ext cx="3068429" cy="310167"/>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EAEEF3"/>
                </a:solidFill>
                <a:latin typeface="IBM Plex Sans" pitchFamily="34" charset="0"/>
                <a:ea typeface="IBM Plex Sans" pitchFamily="34" charset="-122"/>
                <a:cs typeface="IBM Plex Sans" pitchFamily="34" charset="-120"/>
              </a:rPr>
              <a:t>NSA / TAO (not confirmed)</a:t>
            </a:r>
            <a:endParaRPr lang="en-US" sz="1500" dirty="0"/>
          </a:p>
        </p:txBody>
      </p:sp>
      <p:sp>
        <p:nvSpPr>
          <p:cNvPr id="19" name="Shape 17"/>
          <p:cNvSpPr/>
          <p:nvPr/>
        </p:nvSpPr>
        <p:spPr>
          <a:xfrm>
            <a:off x="7961842" y="3253090"/>
            <a:ext cx="3414183" cy="1326205"/>
          </a:xfrm>
          <a:prstGeom prst="roundRect">
            <a:avLst>
              <a:gd name="adj" fmla="val 7422"/>
            </a:avLst>
          </a:prstGeom>
          <a:solidFill>
            <a:srgbClr val="161D27"/>
          </a:solidFill>
          <a:ln w="6350">
            <a:solidFill>
              <a:srgbClr val="263142"/>
            </a:solidFill>
            <a:prstDash val="solid"/>
          </a:ln>
        </p:spPr>
      </p:sp>
      <p:sp>
        <p:nvSpPr>
          <p:cNvPr id="20" name="Text 18"/>
          <p:cNvSpPr/>
          <p:nvPr/>
        </p:nvSpPr>
        <p:spPr>
          <a:xfrm>
            <a:off x="8179405" y="3470653"/>
            <a:ext cx="3068429" cy="270744"/>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0A45A"/>
                </a:solidFill>
                <a:latin typeface="JetBrains Mono" pitchFamily="49" charset="0"/>
                <a:ea typeface="JetBrains Mono" pitchFamily="49" charset="-122"/>
                <a:cs typeface="JetBrains Mono" pitchFamily="49" charset="-120"/>
              </a:rPr>
              <a:t>SOPHISTICATION</a:t>
            </a:r>
            <a:endParaRPr lang="en-US" sz="1200" dirty="0"/>
          </a:p>
        </p:txBody>
      </p:sp>
      <p:sp>
        <p:nvSpPr>
          <p:cNvPr id="21" name="Text 19"/>
          <p:cNvSpPr/>
          <p:nvPr/>
        </p:nvSpPr>
        <p:spPr>
          <a:xfrm>
            <a:off x="8179405" y="3792198"/>
            <a:ext cx="3068429" cy="594935"/>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EAEEF3"/>
                </a:solidFill>
                <a:latin typeface="IBM Plex Sans" pitchFamily="34" charset="0"/>
                <a:ea typeface="IBM Plex Sans" pitchFamily="34" charset="-122"/>
                <a:cs typeface="IBM Plex Sans" pitchFamily="34" charset="-120"/>
              </a:rPr>
              <a:t>The public benchmark for state capability</a:t>
            </a:r>
            <a:endParaRPr lang="en-US" sz="1500" dirty="0"/>
          </a:p>
        </p:txBody>
      </p:sp>
      <p:sp>
        <p:nvSpPr>
          <p:cNvPr id="22" name="Text 20"/>
          <p:cNvSpPr/>
          <p:nvPr/>
        </p:nvSpPr>
        <p:spPr>
          <a:xfrm>
            <a:off x="812800" y="4912671"/>
            <a:ext cx="10883392" cy="55698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E9BAA"/>
                </a:solidFill>
                <a:latin typeface="IBM Plex Sans" pitchFamily="34" charset="0"/>
                <a:ea typeface="IBM Plex Sans" pitchFamily="34" charset="-122"/>
                <a:cs typeface="IBM Plex Sans" pitchFamily="34" charset="-120"/>
              </a:rPr>
              <a:t>Kaspersky never named a sponsor. The NSA linkage rests on codewords, build timestamps and the Der Spiegel TAO catalog — a strong consensus assessment, not an independently confirmed fact.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41B"/>
        </a:solidFill>
      </p:bgPr>
    </p:bg>
    <p:spTree>
      <p:nvGrpSpPr>
        <p:cNvPr id="1" name=""/>
        <p:cNvGrpSpPr/>
        <p:nvPr/>
      </p:nvGrpSpPr>
      <p:grpSpPr>
        <a:xfrm>
          <a:off x="0" y="0"/>
          <a:ext cx="0" cy="0"/>
          <a:chOff x="0" y="0"/>
          <a:chExt cx="0" cy="0"/>
        </a:xfrm>
      </p:grpSpPr>
      <p:sp>
        <p:nvSpPr>
          <p:cNvPr id="2" name="Text 0"/>
          <p:cNvSpPr/>
          <p:nvPr/>
        </p:nvSpPr>
        <p:spPr>
          <a:xfrm>
            <a:off x="812800" y="812800"/>
            <a:ext cx="10883392" cy="291193"/>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E0A45A"/>
                </a:solidFill>
                <a:latin typeface="JetBrains Mono" pitchFamily="49" charset="0"/>
                <a:ea typeface="JetBrains Mono" pitchFamily="49" charset="-122"/>
                <a:cs typeface="JetBrains Mono" pitchFamily="49" charset="-120"/>
              </a:rPr>
              <a:t>TARGETING</a:t>
            </a:r>
            <a:endParaRPr lang="en-US" sz="1300" dirty="0"/>
          </a:p>
        </p:txBody>
      </p:sp>
      <p:sp>
        <p:nvSpPr>
          <p:cNvPr id="3" name="Text 1"/>
          <p:cNvSpPr/>
          <p:nvPr>
            <p:ph type="title"/>
          </p:nvPr>
        </p:nvSpPr>
        <p:spPr>
          <a:xfrm>
            <a:off x="812800" y="1167493"/>
            <a:ext cx="10883392" cy="577434"/>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EAEEF3"/>
                </a:solidFill>
                <a:latin typeface="IBM Plex Sans" pitchFamily="34" charset="0"/>
                <a:ea typeface="IBM Plex Sans" pitchFamily="34" charset="-122"/>
                <a:cs typeface="IBM Plex Sans" pitchFamily="34" charset="-120"/>
              </a:rPr>
              <a:t>Stealth by design</a:t>
            </a:r>
            <a:endParaRPr lang="en-US" sz="3600" dirty="0"/>
          </a:p>
        </p:txBody>
      </p:sp>
      <p:sp>
        <p:nvSpPr>
          <p:cNvPr id="4" name="Shape 2"/>
          <p:cNvSpPr/>
          <p:nvPr/>
        </p:nvSpPr>
        <p:spPr>
          <a:xfrm>
            <a:off x="815975" y="2027503"/>
            <a:ext cx="3397250" cy="2029052"/>
          </a:xfrm>
          <a:prstGeom prst="roundRect">
            <a:avLst>
              <a:gd name="adj" fmla="val 4851"/>
            </a:avLst>
          </a:prstGeom>
          <a:solidFill>
            <a:srgbClr val="161D27"/>
          </a:solidFill>
          <a:ln w="6350">
            <a:solidFill>
              <a:srgbClr val="263142"/>
            </a:solidFill>
            <a:prstDash val="solid"/>
          </a:ln>
        </p:spPr>
      </p:sp>
      <p:sp>
        <p:nvSpPr>
          <p:cNvPr id="5" name="Text 3"/>
          <p:cNvSpPr/>
          <p:nvPr/>
        </p:nvSpPr>
        <p:spPr>
          <a:xfrm>
            <a:off x="1071638" y="2283166"/>
            <a:ext cx="2972502" cy="638818"/>
          </a:xfrm>
          <a:prstGeom prst="rect">
            <a:avLst/>
          </a:prstGeom>
          <a:noFill/>
          <a:ln/>
        </p:spPr>
        <p:txBody>
          <a:bodyPr wrap="square" lIns="0" tIns="0" rIns="0" bIns="0" rtlCol="0" anchor="t">
            <a:normAutofit/>
          </a:bodyPr>
          <a:lstStyle/>
          <a:p>
            <a:pPr algn="l" indent="0" marL="0">
              <a:lnSpc>
                <a:spcPts val="4200"/>
              </a:lnSpc>
              <a:buNone/>
            </a:pPr>
            <a:r>
              <a:rPr lang="en-US" sz="4200" b="1" dirty="0">
                <a:solidFill>
                  <a:srgbClr val="E0A45A"/>
                </a:solidFill>
                <a:latin typeface="IBM Plex Sans" pitchFamily="34" charset="0"/>
                <a:ea typeface="IBM Plex Sans" pitchFamily="34" charset="-122"/>
                <a:cs typeface="IBM Plex Sans" pitchFamily="34" charset="-120"/>
              </a:rPr>
              <a:t>~500</a:t>
            </a:r>
            <a:endParaRPr lang="en-US" sz="4200" dirty="0"/>
          </a:p>
        </p:txBody>
      </p:sp>
      <p:sp>
        <p:nvSpPr>
          <p:cNvPr id="6" name="Text 4"/>
          <p:cNvSpPr/>
          <p:nvPr/>
        </p:nvSpPr>
        <p:spPr>
          <a:xfrm>
            <a:off x="1071638" y="2972783"/>
            <a:ext cx="2972502" cy="853508"/>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C7D0DB"/>
                </a:solidFill>
                <a:latin typeface="IBM Plex Sans" pitchFamily="34" charset="0"/>
                <a:ea typeface="IBM Plex Sans" pitchFamily="34" charset="-122"/>
                <a:cs typeface="IBM Plex Sans" pitchFamily="34" charset="-120"/>
              </a:rPr>
              <a:t>documented infections — but self-termination hides the true scale</a:t>
            </a:r>
            <a:endParaRPr lang="en-US" sz="1400" dirty="0"/>
          </a:p>
        </p:txBody>
      </p:sp>
      <p:sp>
        <p:nvSpPr>
          <p:cNvPr id="7" name="Shape 5"/>
          <p:cNvSpPr/>
          <p:nvPr/>
        </p:nvSpPr>
        <p:spPr>
          <a:xfrm>
            <a:off x="4397375" y="2027503"/>
            <a:ext cx="3397250" cy="2029052"/>
          </a:xfrm>
          <a:prstGeom prst="roundRect">
            <a:avLst>
              <a:gd name="adj" fmla="val 4851"/>
            </a:avLst>
          </a:prstGeom>
          <a:solidFill>
            <a:srgbClr val="161D27"/>
          </a:solidFill>
          <a:ln w="6350">
            <a:solidFill>
              <a:srgbClr val="263142"/>
            </a:solidFill>
            <a:prstDash val="solid"/>
          </a:ln>
        </p:spPr>
      </p:sp>
      <p:sp>
        <p:nvSpPr>
          <p:cNvPr id="8" name="Text 6"/>
          <p:cNvSpPr/>
          <p:nvPr/>
        </p:nvSpPr>
        <p:spPr>
          <a:xfrm>
            <a:off x="4653038" y="2283166"/>
            <a:ext cx="2972502" cy="638818"/>
          </a:xfrm>
          <a:prstGeom prst="rect">
            <a:avLst/>
          </a:prstGeom>
          <a:noFill/>
          <a:ln/>
        </p:spPr>
        <p:txBody>
          <a:bodyPr wrap="square" lIns="0" tIns="0" rIns="0" bIns="0" rtlCol="0" anchor="t">
            <a:normAutofit/>
          </a:bodyPr>
          <a:lstStyle/>
          <a:p>
            <a:pPr algn="l" indent="0" marL="0">
              <a:lnSpc>
                <a:spcPts val="4200"/>
              </a:lnSpc>
              <a:buNone/>
            </a:pPr>
            <a:r>
              <a:rPr lang="en-US" sz="4200" b="1" dirty="0">
                <a:solidFill>
                  <a:srgbClr val="E0A45A"/>
                </a:solidFill>
                <a:latin typeface="IBM Plex Sans" pitchFamily="34" charset="0"/>
                <a:ea typeface="IBM Plex Sans" pitchFamily="34" charset="-122"/>
                <a:cs typeface="IBM Plex Sans" pitchFamily="34" charset="-120"/>
              </a:rPr>
              <a:t>42+</a:t>
            </a:r>
            <a:endParaRPr lang="en-US" sz="4200" dirty="0"/>
          </a:p>
        </p:txBody>
      </p:sp>
      <p:sp>
        <p:nvSpPr>
          <p:cNvPr id="9" name="Text 7"/>
          <p:cNvSpPr/>
          <p:nvPr/>
        </p:nvSpPr>
        <p:spPr>
          <a:xfrm>
            <a:off x="4653038" y="2972783"/>
            <a:ext cx="2972502" cy="577472"/>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C7D0DB"/>
                </a:solidFill>
                <a:latin typeface="IBM Plex Sans" pitchFamily="34" charset="0"/>
                <a:ea typeface="IBM Plex Sans" pitchFamily="34" charset="-122"/>
                <a:cs typeface="IBM Plex Sans" pitchFamily="34" charset="-120"/>
              </a:rPr>
              <a:t>countries with confirmed victims by 2015</a:t>
            </a:r>
            <a:endParaRPr lang="en-US" sz="1400" dirty="0"/>
          </a:p>
        </p:txBody>
      </p:sp>
      <p:sp>
        <p:nvSpPr>
          <p:cNvPr id="10" name="Shape 8"/>
          <p:cNvSpPr/>
          <p:nvPr/>
        </p:nvSpPr>
        <p:spPr>
          <a:xfrm>
            <a:off x="7978775" y="2027503"/>
            <a:ext cx="3397250" cy="2029052"/>
          </a:xfrm>
          <a:prstGeom prst="roundRect">
            <a:avLst>
              <a:gd name="adj" fmla="val 4851"/>
            </a:avLst>
          </a:prstGeom>
          <a:solidFill>
            <a:srgbClr val="161D27"/>
          </a:solidFill>
          <a:ln w="6350">
            <a:solidFill>
              <a:srgbClr val="263142"/>
            </a:solidFill>
            <a:prstDash val="solid"/>
          </a:ln>
        </p:spPr>
      </p:sp>
      <p:sp>
        <p:nvSpPr>
          <p:cNvPr id="11" name="Text 9"/>
          <p:cNvSpPr/>
          <p:nvPr/>
        </p:nvSpPr>
        <p:spPr>
          <a:xfrm>
            <a:off x="8234438" y="2283166"/>
            <a:ext cx="2972502" cy="638818"/>
          </a:xfrm>
          <a:prstGeom prst="rect">
            <a:avLst/>
          </a:prstGeom>
          <a:noFill/>
          <a:ln/>
        </p:spPr>
        <p:txBody>
          <a:bodyPr wrap="square" lIns="0" tIns="0" rIns="0" bIns="0" rtlCol="0" anchor="t">
            <a:normAutofit/>
          </a:bodyPr>
          <a:lstStyle/>
          <a:p>
            <a:pPr algn="l" indent="0" marL="0">
              <a:lnSpc>
                <a:spcPts val="4200"/>
              </a:lnSpc>
              <a:buNone/>
            </a:pPr>
            <a:r>
              <a:rPr lang="en-US" sz="4200" b="1" dirty="0">
                <a:solidFill>
                  <a:srgbClr val="E0A45A"/>
                </a:solidFill>
                <a:latin typeface="IBM Plex Sans" pitchFamily="34" charset="0"/>
                <a:ea typeface="IBM Plex Sans" pitchFamily="34" charset="-122"/>
                <a:cs typeface="IBM Plex Sans" pitchFamily="34" charset="-120"/>
              </a:rPr>
              <a:t>IP</a:t>
            </a:r>
            <a:endParaRPr lang="en-US" sz="4200" dirty="0"/>
          </a:p>
        </p:txBody>
      </p:sp>
      <p:sp>
        <p:nvSpPr>
          <p:cNvPr id="12" name="Text 10"/>
          <p:cNvSpPr/>
          <p:nvPr/>
        </p:nvSpPr>
        <p:spPr>
          <a:xfrm>
            <a:off x="8234438" y="2972783"/>
            <a:ext cx="2972502" cy="577472"/>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C7D0DB"/>
                </a:solidFill>
                <a:latin typeface="IBM Plex Sans" pitchFamily="34" charset="0"/>
                <a:ea typeface="IBM Plex Sans" pitchFamily="34" charset="-122"/>
                <a:cs typeface="IBM Plex Sans" pitchFamily="34" charset="-120"/>
              </a:rPr>
              <a:t>geofencing + username selection to skip non-targets</a:t>
            </a:r>
            <a:endParaRPr lang="en-US" sz="1400" dirty="0"/>
          </a:p>
        </p:txBody>
      </p:sp>
      <p:sp>
        <p:nvSpPr>
          <p:cNvPr id="13" name="Text 11"/>
          <p:cNvSpPr/>
          <p:nvPr/>
        </p:nvSpPr>
        <p:spPr>
          <a:xfrm>
            <a:off x="812800" y="4364529"/>
            <a:ext cx="10883392" cy="270744"/>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E9BAA"/>
                </a:solidFill>
                <a:latin typeface="JetBrains Mono" pitchFamily="49" charset="0"/>
                <a:ea typeface="JetBrains Mono" pitchFamily="49" charset="-122"/>
                <a:cs typeface="JetBrains Mono" pitchFamily="49" charset="-120"/>
              </a:rPr>
              <a:t>HEAVIEST VICTIM GEOGRAPHY</a:t>
            </a:r>
            <a:endParaRPr lang="en-US" sz="1200" dirty="0"/>
          </a:p>
        </p:txBody>
      </p:sp>
      <p:sp>
        <p:nvSpPr>
          <p:cNvPr id="14" name="Text 12"/>
          <p:cNvSpPr/>
          <p:nvPr/>
        </p:nvSpPr>
        <p:spPr>
          <a:xfrm>
            <a:off x="815975" y="4740049"/>
            <a:ext cx="740229" cy="467405"/>
          </a:xfrm>
          <a:prstGeom prst="roundRect">
            <a:avLst>
              <a:gd name="adj" fmla="val 50000"/>
            </a:avLst>
          </a:prstGeom>
          <a:solidFill>
            <a:srgbClr val="1B2430"/>
          </a:solidFill>
          <a:ln w="6350">
            <a:solidFill>
              <a:srgbClr val="2E4256"/>
            </a:solidFill>
            <a:prstDash val="solid"/>
          </a:ln>
        </p:spPr>
        <p:txBody>
          <a:bodyPr wrap="none" lIns="0" tIns="22114" rIns="0" bIns="0" rtlCol="0" anchor="t">
            <a:normAutofit/>
          </a:bodyPr>
          <a:lstStyle/>
          <a:p>
            <a:pPr algn="ctr" indent="0" marL="0">
              <a:lnSpc>
                <a:spcPts val="1960"/>
              </a:lnSpc>
              <a:buNone/>
            </a:pPr>
            <a:r>
              <a:rPr lang="en-US" sz="1400" dirty="0">
                <a:solidFill>
                  <a:srgbClr val="EAEEF3"/>
                </a:solidFill>
                <a:latin typeface="IBM Plex Sans" pitchFamily="34" charset="0"/>
                <a:ea typeface="IBM Plex Sans" pitchFamily="34" charset="-122"/>
                <a:cs typeface="IBM Plex Sans" pitchFamily="34" charset="-120"/>
              </a:rPr>
              <a:t>Iran</a:t>
            </a:r>
            <a:endParaRPr lang="en-US" sz="1400" dirty="0"/>
          </a:p>
        </p:txBody>
      </p:sp>
      <p:sp>
        <p:nvSpPr>
          <p:cNvPr id="15" name="Text 13"/>
          <p:cNvSpPr/>
          <p:nvPr/>
        </p:nvSpPr>
        <p:spPr>
          <a:xfrm>
            <a:off x="1664154" y="4740049"/>
            <a:ext cx="964104" cy="467405"/>
          </a:xfrm>
          <a:prstGeom prst="roundRect">
            <a:avLst>
              <a:gd name="adj" fmla="val 50000"/>
            </a:avLst>
          </a:prstGeom>
          <a:solidFill>
            <a:srgbClr val="1B2430"/>
          </a:solidFill>
          <a:ln w="6350">
            <a:solidFill>
              <a:srgbClr val="2E4256"/>
            </a:solidFill>
            <a:prstDash val="solid"/>
          </a:ln>
        </p:spPr>
        <p:txBody>
          <a:bodyPr wrap="none" lIns="0" tIns="22114" rIns="0" bIns="0" rtlCol="0" anchor="t">
            <a:normAutofit/>
          </a:bodyPr>
          <a:lstStyle/>
          <a:p>
            <a:pPr algn="ctr" indent="0" marL="0">
              <a:lnSpc>
                <a:spcPts val="1960"/>
              </a:lnSpc>
              <a:buNone/>
            </a:pPr>
            <a:r>
              <a:rPr lang="en-US" sz="1400" dirty="0">
                <a:solidFill>
                  <a:srgbClr val="EAEEF3"/>
                </a:solidFill>
                <a:latin typeface="IBM Plex Sans" pitchFamily="34" charset="0"/>
                <a:ea typeface="IBM Plex Sans" pitchFamily="34" charset="-122"/>
                <a:cs typeface="IBM Plex Sans" pitchFamily="34" charset="-120"/>
              </a:rPr>
              <a:t>Russia</a:t>
            </a:r>
            <a:endParaRPr lang="en-US" sz="1400" dirty="0"/>
          </a:p>
        </p:txBody>
      </p:sp>
      <p:sp>
        <p:nvSpPr>
          <p:cNvPr id="16" name="Text 14"/>
          <p:cNvSpPr/>
          <p:nvPr/>
        </p:nvSpPr>
        <p:spPr>
          <a:xfrm>
            <a:off x="2736207" y="4740049"/>
            <a:ext cx="1144021" cy="467405"/>
          </a:xfrm>
          <a:prstGeom prst="roundRect">
            <a:avLst>
              <a:gd name="adj" fmla="val 50000"/>
            </a:avLst>
          </a:prstGeom>
          <a:solidFill>
            <a:srgbClr val="1B2430"/>
          </a:solidFill>
          <a:ln w="6350">
            <a:solidFill>
              <a:srgbClr val="2E4256"/>
            </a:solidFill>
            <a:prstDash val="solid"/>
          </a:ln>
        </p:spPr>
        <p:txBody>
          <a:bodyPr wrap="none" lIns="0" tIns="22114" rIns="0" bIns="0" rtlCol="0" anchor="t">
            <a:normAutofit/>
          </a:bodyPr>
          <a:lstStyle/>
          <a:p>
            <a:pPr algn="ctr" indent="0" marL="0">
              <a:lnSpc>
                <a:spcPts val="1960"/>
              </a:lnSpc>
              <a:buNone/>
            </a:pPr>
            <a:r>
              <a:rPr lang="en-US" sz="1400" dirty="0">
                <a:solidFill>
                  <a:srgbClr val="EAEEF3"/>
                </a:solidFill>
                <a:latin typeface="IBM Plex Sans" pitchFamily="34" charset="0"/>
                <a:ea typeface="IBM Plex Sans" pitchFamily="34" charset="-122"/>
                <a:cs typeface="IBM Plex Sans" pitchFamily="34" charset="-120"/>
              </a:rPr>
              <a:t>Pakistan</a:t>
            </a:r>
            <a:endParaRPr lang="en-US" sz="1400" dirty="0"/>
          </a:p>
        </p:txBody>
      </p:sp>
      <p:sp>
        <p:nvSpPr>
          <p:cNvPr id="17" name="Text 15"/>
          <p:cNvSpPr/>
          <p:nvPr/>
        </p:nvSpPr>
        <p:spPr>
          <a:xfrm>
            <a:off x="3988178" y="4740049"/>
            <a:ext cx="1450899" cy="467405"/>
          </a:xfrm>
          <a:prstGeom prst="roundRect">
            <a:avLst>
              <a:gd name="adj" fmla="val 50000"/>
            </a:avLst>
          </a:prstGeom>
          <a:solidFill>
            <a:srgbClr val="1B2430"/>
          </a:solidFill>
          <a:ln w="6350">
            <a:solidFill>
              <a:srgbClr val="2E4256"/>
            </a:solidFill>
            <a:prstDash val="solid"/>
          </a:ln>
        </p:spPr>
        <p:txBody>
          <a:bodyPr wrap="none" lIns="0" tIns="22114" rIns="0" bIns="0" rtlCol="0" anchor="t">
            <a:normAutofit/>
          </a:bodyPr>
          <a:lstStyle/>
          <a:p>
            <a:pPr algn="ctr" indent="0" marL="0">
              <a:lnSpc>
                <a:spcPts val="1960"/>
              </a:lnSpc>
              <a:buNone/>
            </a:pPr>
            <a:r>
              <a:rPr lang="en-US" sz="1400" dirty="0">
                <a:solidFill>
                  <a:srgbClr val="EAEEF3"/>
                </a:solidFill>
                <a:latin typeface="IBM Plex Sans" pitchFamily="34" charset="0"/>
                <a:ea typeface="IBM Plex Sans" pitchFamily="34" charset="-122"/>
                <a:cs typeface="IBM Plex Sans" pitchFamily="34" charset="-120"/>
              </a:rPr>
              <a:t>Afghanistan</a:t>
            </a:r>
            <a:endParaRPr lang="en-US" sz="1400" dirty="0"/>
          </a:p>
        </p:txBody>
      </p:sp>
      <p:sp>
        <p:nvSpPr>
          <p:cNvPr id="18" name="Text 16"/>
          <p:cNvSpPr/>
          <p:nvPr/>
        </p:nvSpPr>
        <p:spPr>
          <a:xfrm>
            <a:off x="5547027" y="4740049"/>
            <a:ext cx="835705" cy="467405"/>
          </a:xfrm>
          <a:prstGeom prst="roundRect">
            <a:avLst>
              <a:gd name="adj" fmla="val 50000"/>
            </a:avLst>
          </a:prstGeom>
          <a:solidFill>
            <a:srgbClr val="1B2430"/>
          </a:solidFill>
          <a:ln w="6350">
            <a:solidFill>
              <a:srgbClr val="2E4256"/>
            </a:solidFill>
            <a:prstDash val="solid"/>
          </a:ln>
        </p:spPr>
        <p:txBody>
          <a:bodyPr wrap="none" lIns="0" tIns="22114" rIns="0" bIns="0" rtlCol="0" anchor="t">
            <a:normAutofit/>
          </a:bodyPr>
          <a:lstStyle/>
          <a:p>
            <a:pPr algn="ctr" indent="0" marL="0">
              <a:lnSpc>
                <a:spcPts val="1960"/>
              </a:lnSpc>
              <a:buNone/>
            </a:pPr>
            <a:r>
              <a:rPr lang="en-US" sz="1400" dirty="0">
                <a:solidFill>
                  <a:srgbClr val="EAEEF3"/>
                </a:solidFill>
                <a:latin typeface="IBM Plex Sans" pitchFamily="34" charset="0"/>
                <a:ea typeface="IBM Plex Sans" pitchFamily="34" charset="-122"/>
                <a:cs typeface="IBM Plex Sans" pitchFamily="34" charset="-120"/>
              </a:rPr>
              <a:t>India</a:t>
            </a:r>
            <a:endParaRPr lang="en-US" sz="1400" dirty="0"/>
          </a:p>
        </p:txBody>
      </p:sp>
      <p:sp>
        <p:nvSpPr>
          <p:cNvPr id="19" name="Text 17"/>
          <p:cNvSpPr/>
          <p:nvPr/>
        </p:nvSpPr>
        <p:spPr>
          <a:xfrm>
            <a:off x="6490683" y="4740049"/>
            <a:ext cx="815068" cy="467405"/>
          </a:xfrm>
          <a:prstGeom prst="roundRect">
            <a:avLst>
              <a:gd name="adj" fmla="val 50000"/>
            </a:avLst>
          </a:prstGeom>
          <a:solidFill>
            <a:srgbClr val="1B2430"/>
          </a:solidFill>
          <a:ln w="6350">
            <a:solidFill>
              <a:srgbClr val="2E4256"/>
            </a:solidFill>
            <a:prstDash val="solid"/>
          </a:ln>
        </p:spPr>
        <p:txBody>
          <a:bodyPr wrap="none" lIns="0" tIns="22114" rIns="0" bIns="0" rtlCol="0" anchor="t">
            <a:normAutofit/>
          </a:bodyPr>
          <a:lstStyle/>
          <a:p>
            <a:pPr algn="ctr" indent="0" marL="0">
              <a:lnSpc>
                <a:spcPts val="1960"/>
              </a:lnSpc>
              <a:buNone/>
            </a:pPr>
            <a:r>
              <a:rPr lang="en-US" sz="1400" dirty="0">
                <a:solidFill>
                  <a:srgbClr val="EAEEF3"/>
                </a:solidFill>
                <a:latin typeface="IBM Plex Sans" pitchFamily="34" charset="0"/>
                <a:ea typeface="IBM Plex Sans" pitchFamily="34" charset="-122"/>
                <a:cs typeface="IBM Plex Sans" pitchFamily="34" charset="-120"/>
              </a:rPr>
              <a:t>Syria</a:t>
            </a:r>
            <a:endParaRPr lang="en-US" sz="1400" dirty="0"/>
          </a:p>
        </p:txBody>
      </p:sp>
      <p:sp>
        <p:nvSpPr>
          <p:cNvPr id="20" name="Text 18"/>
          <p:cNvSpPr/>
          <p:nvPr/>
        </p:nvSpPr>
        <p:spPr>
          <a:xfrm>
            <a:off x="7413701" y="4740049"/>
            <a:ext cx="740871" cy="467405"/>
          </a:xfrm>
          <a:prstGeom prst="roundRect">
            <a:avLst>
              <a:gd name="adj" fmla="val 50000"/>
            </a:avLst>
          </a:prstGeom>
          <a:solidFill>
            <a:srgbClr val="1B2430"/>
          </a:solidFill>
          <a:ln w="6350">
            <a:solidFill>
              <a:srgbClr val="2E4256"/>
            </a:solidFill>
            <a:prstDash val="solid"/>
          </a:ln>
        </p:spPr>
        <p:txBody>
          <a:bodyPr wrap="none" lIns="0" tIns="22114" rIns="0" bIns="0" rtlCol="0" anchor="t">
            <a:normAutofit/>
          </a:bodyPr>
          <a:lstStyle/>
          <a:p>
            <a:pPr algn="ctr" indent="0" marL="0">
              <a:lnSpc>
                <a:spcPts val="1960"/>
              </a:lnSpc>
              <a:buNone/>
            </a:pPr>
            <a:r>
              <a:rPr lang="en-US" sz="1400" dirty="0">
                <a:solidFill>
                  <a:srgbClr val="EAEEF3"/>
                </a:solidFill>
                <a:latin typeface="IBM Plex Sans" pitchFamily="34" charset="0"/>
                <a:ea typeface="IBM Plex Sans" pitchFamily="34" charset="-122"/>
                <a:cs typeface="IBM Plex Sans" pitchFamily="34" charset="-120"/>
              </a:rPr>
              <a:t>Mali</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41B"/>
        </a:solidFill>
      </p:bgPr>
    </p:bg>
    <p:spTree>
      <p:nvGrpSpPr>
        <p:cNvPr id="1" name=""/>
        <p:cNvGrpSpPr/>
        <p:nvPr/>
      </p:nvGrpSpPr>
      <p:grpSpPr>
        <a:xfrm>
          <a:off x="0" y="0"/>
          <a:ext cx="0" cy="0"/>
          <a:chOff x="0" y="0"/>
          <a:chExt cx="0" cy="0"/>
        </a:xfrm>
      </p:grpSpPr>
      <p:sp>
        <p:nvSpPr>
          <p:cNvPr id="2" name="Text 0"/>
          <p:cNvSpPr/>
          <p:nvPr/>
        </p:nvSpPr>
        <p:spPr>
          <a:xfrm>
            <a:off x="812800" y="812800"/>
            <a:ext cx="10883392" cy="287715"/>
          </a:xfrm>
          <a:prstGeom prst="rect">
            <a:avLst/>
          </a:prstGeom>
          <a:noFill/>
          <a:ln/>
        </p:spPr>
        <p:txBody>
          <a:bodyPr wrap="square" lIns="0" tIns="0" rIns="0" bIns="0" rtlCol="0" anchor="t">
            <a:normAutofit/>
          </a:bodyPr>
          <a:lstStyle/>
          <a:p>
            <a:pPr algn="l" indent="0" marL="0">
              <a:lnSpc>
                <a:spcPts val="1803"/>
              </a:lnSpc>
              <a:buNone/>
            </a:pPr>
            <a:r>
              <a:rPr lang="en-US" sz="1288" spc="150" kern="0" dirty="0">
                <a:solidFill>
                  <a:srgbClr val="E0A45A"/>
                </a:solidFill>
                <a:latin typeface="JetBrains Mono" pitchFamily="49" charset="0"/>
                <a:ea typeface="JetBrains Mono" pitchFamily="49" charset="-122"/>
                <a:cs typeface="JetBrains Mono" pitchFamily="49" charset="-120"/>
              </a:rPr>
              <a:t>SIGNATURE CAPABILITIES</a:t>
            </a:r>
            <a:endParaRPr lang="en-US" sz="1288" dirty="0"/>
          </a:p>
        </p:txBody>
      </p:sp>
      <p:sp>
        <p:nvSpPr>
          <p:cNvPr id="3" name="Text 1"/>
          <p:cNvSpPr/>
          <p:nvPr>
            <p:ph type="title"/>
          </p:nvPr>
        </p:nvSpPr>
        <p:spPr>
          <a:xfrm>
            <a:off x="812800" y="1164016"/>
            <a:ext cx="10883392" cy="570290"/>
          </a:xfrm>
          <a:prstGeom prst="rect">
            <a:avLst/>
          </a:prstGeom>
          <a:noFill/>
          <a:ln/>
        </p:spPr>
        <p:txBody>
          <a:bodyPr wrap="square" lIns="0" tIns="0" rIns="0" bIns="0" rtlCol="0" anchor="t">
            <a:normAutofit/>
          </a:bodyPr>
          <a:lstStyle/>
          <a:p>
            <a:pPr algn="l" indent="0" marL="0">
              <a:lnSpc>
                <a:spcPts val="3756"/>
              </a:lnSpc>
              <a:buNone/>
            </a:pPr>
            <a:r>
              <a:rPr lang="en-US" sz="3578" b="1" i="0" dirty="0">
                <a:solidFill>
                  <a:srgbClr val="EAEEF3"/>
                </a:solidFill>
                <a:latin typeface="IBM Plex Sans" pitchFamily="34" charset="0"/>
                <a:ea typeface="IBM Plex Sans" pitchFamily="34" charset="-122"/>
                <a:cs typeface="IBM Plex Sans" pitchFamily="34" charset="-120"/>
              </a:rPr>
              <a:t>Years ahead of the field</a:t>
            </a:r>
            <a:endParaRPr lang="en-US" sz="3578" dirty="0"/>
          </a:p>
        </p:txBody>
      </p:sp>
      <p:sp>
        <p:nvSpPr>
          <p:cNvPr id="4" name="Shape 2"/>
          <p:cNvSpPr/>
          <p:nvPr/>
        </p:nvSpPr>
        <p:spPr>
          <a:xfrm>
            <a:off x="815975" y="2016882"/>
            <a:ext cx="5200650" cy="1632328"/>
          </a:xfrm>
          <a:prstGeom prst="roundRect">
            <a:avLst>
              <a:gd name="adj" fmla="val 6030"/>
            </a:avLst>
          </a:prstGeom>
          <a:solidFill>
            <a:srgbClr val="161D27"/>
          </a:solidFill>
          <a:ln w="6350">
            <a:solidFill>
              <a:srgbClr val="263142"/>
            </a:solidFill>
            <a:prstDash val="solid"/>
          </a:ln>
        </p:spPr>
      </p:sp>
      <p:sp>
        <p:nvSpPr>
          <p:cNvPr id="5" name="Text 3"/>
          <p:cNvSpPr/>
          <p:nvPr/>
        </p:nvSpPr>
        <p:spPr>
          <a:xfrm>
            <a:off x="1046238" y="2247143"/>
            <a:ext cx="4882328" cy="361572"/>
          </a:xfrm>
          <a:prstGeom prst="rect">
            <a:avLst/>
          </a:prstGeom>
          <a:noFill/>
          <a:ln/>
        </p:spPr>
        <p:txBody>
          <a:bodyPr wrap="square" lIns="0" tIns="0" rIns="0" bIns="0" rtlCol="0" anchor="t">
            <a:normAutofit/>
          </a:bodyPr>
          <a:lstStyle/>
          <a:p>
            <a:pPr algn="l" indent="0" marL="0">
              <a:lnSpc>
                <a:spcPts val="2321"/>
              </a:lnSpc>
              <a:buNone/>
            </a:pPr>
            <a:r>
              <a:rPr lang="en-US" sz="1658" b="1" dirty="0">
                <a:solidFill>
                  <a:srgbClr val="EAEEF3"/>
                </a:solidFill>
                <a:latin typeface="IBM Plex Sans" pitchFamily="34" charset="0"/>
                <a:ea typeface="IBM Plex Sans" pitchFamily="34" charset="-122"/>
                <a:cs typeface="IBM Plex Sans" pitchFamily="34" charset="-120"/>
              </a:rPr>
              <a:t>Hard-drive firmware implants</a:t>
            </a:r>
            <a:endParaRPr lang="en-US" sz="1658" dirty="0"/>
          </a:p>
        </p:txBody>
      </p:sp>
      <p:sp>
        <p:nvSpPr>
          <p:cNvPr id="6" name="Text 4"/>
          <p:cNvSpPr/>
          <p:nvPr/>
        </p:nvSpPr>
        <p:spPr>
          <a:xfrm>
            <a:off x="1046238" y="2646815"/>
            <a:ext cx="4882328" cy="797530"/>
          </a:xfrm>
          <a:prstGeom prst="rect">
            <a:avLst/>
          </a:prstGeom>
          <a:noFill/>
          <a:ln/>
        </p:spPr>
        <p:txBody>
          <a:bodyPr wrap="square" lIns="0" tIns="0" rIns="0" bIns="0" rtlCol="0" anchor="t">
            <a:normAutofit/>
          </a:bodyPr>
          <a:lstStyle/>
          <a:p>
            <a:pPr algn="l" indent="0" marL="0">
              <a:lnSpc>
                <a:spcPts val="1771"/>
              </a:lnSpc>
              <a:buNone/>
            </a:pPr>
            <a:r>
              <a:rPr lang="en-US" sz="1312" dirty="0">
                <a:solidFill>
                  <a:srgbClr val="A9B4C0"/>
                </a:solidFill>
                <a:latin typeface="IBM Plex Sans" pitchFamily="34" charset="0"/>
                <a:ea typeface="IBM Plex Sans" pitchFamily="34" charset="-122"/>
                <a:cs typeface="IBM Plex Sans" pitchFamily="34" charset="-120"/>
              </a:rPr>
              <a:t>Reflashes firmware across many vendors; survives reformat and OS reinstall. Defeats the standard IR assumption.</a:t>
            </a:r>
            <a:endParaRPr lang="en-US" sz="1312" dirty="0"/>
          </a:p>
        </p:txBody>
      </p:sp>
      <p:sp>
        <p:nvSpPr>
          <p:cNvPr id="7" name="Shape 5"/>
          <p:cNvSpPr/>
          <p:nvPr/>
        </p:nvSpPr>
        <p:spPr>
          <a:xfrm>
            <a:off x="6175375" y="2016882"/>
            <a:ext cx="5200650" cy="1632328"/>
          </a:xfrm>
          <a:prstGeom prst="roundRect">
            <a:avLst>
              <a:gd name="adj" fmla="val 6030"/>
            </a:avLst>
          </a:prstGeom>
          <a:solidFill>
            <a:srgbClr val="161D27"/>
          </a:solidFill>
          <a:ln w="6350">
            <a:solidFill>
              <a:srgbClr val="263142"/>
            </a:solidFill>
            <a:prstDash val="solid"/>
          </a:ln>
        </p:spPr>
      </p:sp>
      <p:sp>
        <p:nvSpPr>
          <p:cNvPr id="8" name="Text 6"/>
          <p:cNvSpPr/>
          <p:nvPr/>
        </p:nvSpPr>
        <p:spPr>
          <a:xfrm>
            <a:off x="6405638" y="2247143"/>
            <a:ext cx="4882328" cy="372987"/>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EAEEF3"/>
                </a:solidFill>
                <a:latin typeface="IBM Plex Sans" pitchFamily="34" charset="0"/>
                <a:ea typeface="IBM Plex Sans" pitchFamily="34" charset="-122"/>
                <a:cs typeface="IBM Plex Sans" pitchFamily="34" charset="-120"/>
              </a:rPr>
              <a:t>Air-gap bridging</a:t>
            </a:r>
            <a:endParaRPr lang="en-US" sz="1700" dirty="0"/>
          </a:p>
        </p:txBody>
      </p:sp>
      <p:sp>
        <p:nvSpPr>
          <p:cNvPr id="9" name="Text 7"/>
          <p:cNvSpPr/>
          <p:nvPr/>
        </p:nvSpPr>
        <p:spPr>
          <a:xfrm>
            <a:off x="6405638" y="2658232"/>
            <a:ext cx="4882328" cy="557666"/>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A9B4C0"/>
                </a:solidFill>
                <a:latin typeface="IBM Plex Sans" pitchFamily="34" charset="0"/>
                <a:ea typeface="IBM Plex Sans" pitchFamily="34" charset="-122"/>
                <a:cs typeface="IBM Plex Sans" pitchFamily="34" charset="-120"/>
              </a:rPr>
              <a:t>The FANNY worm ferried commands and results across air gaps via hidden storage on USB drives.</a:t>
            </a:r>
            <a:endParaRPr lang="en-US" sz="1350" dirty="0"/>
          </a:p>
        </p:txBody>
      </p:sp>
      <p:sp>
        <p:nvSpPr>
          <p:cNvPr id="10" name="Shape 8"/>
          <p:cNvSpPr/>
          <p:nvPr/>
        </p:nvSpPr>
        <p:spPr>
          <a:xfrm>
            <a:off x="815975" y="3807960"/>
            <a:ext cx="5200650" cy="1403879"/>
          </a:xfrm>
          <a:prstGeom prst="roundRect">
            <a:avLst>
              <a:gd name="adj" fmla="val 7011"/>
            </a:avLst>
          </a:prstGeom>
          <a:solidFill>
            <a:srgbClr val="161D27"/>
          </a:solidFill>
          <a:ln w="6350">
            <a:solidFill>
              <a:srgbClr val="263142"/>
            </a:solidFill>
            <a:prstDash val="solid"/>
          </a:ln>
        </p:spPr>
      </p:sp>
      <p:sp>
        <p:nvSpPr>
          <p:cNvPr id="11" name="Text 9"/>
          <p:cNvSpPr/>
          <p:nvPr/>
        </p:nvSpPr>
        <p:spPr>
          <a:xfrm>
            <a:off x="1046238" y="4038222"/>
            <a:ext cx="4882328" cy="372987"/>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EAEEF3"/>
                </a:solidFill>
                <a:latin typeface="IBM Plex Sans" pitchFamily="34" charset="0"/>
                <a:ea typeface="IBM Plex Sans" pitchFamily="34" charset="-122"/>
                <a:cs typeface="IBM Plex Sans" pitchFamily="34" charset="-120"/>
              </a:rPr>
              <a:t>Supply-chain interdiction</a:t>
            </a:r>
            <a:endParaRPr lang="en-US" sz="1700" dirty="0"/>
          </a:p>
        </p:txBody>
      </p:sp>
      <p:sp>
        <p:nvSpPr>
          <p:cNvPr id="12" name="Text 10"/>
          <p:cNvSpPr/>
          <p:nvPr/>
        </p:nvSpPr>
        <p:spPr>
          <a:xfrm>
            <a:off x="1046238" y="4449310"/>
            <a:ext cx="4882328" cy="557666"/>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A9B4C0"/>
                </a:solidFill>
                <a:latin typeface="IBM Plex Sans" pitchFamily="34" charset="0"/>
                <a:ea typeface="IBM Plex Sans" pitchFamily="34" charset="-122"/>
                <a:cs typeface="IBM Plex Sans" pitchFamily="34" charset="-120"/>
              </a:rPr>
              <a:t>Intercepted conference CD-ROMs in the mail and replaced them with trojanized copies.</a:t>
            </a:r>
            <a:endParaRPr lang="en-US" sz="1350" dirty="0"/>
          </a:p>
        </p:txBody>
      </p:sp>
      <p:sp>
        <p:nvSpPr>
          <p:cNvPr id="13" name="Shape 11"/>
          <p:cNvSpPr/>
          <p:nvPr/>
        </p:nvSpPr>
        <p:spPr>
          <a:xfrm>
            <a:off x="6175375" y="3807960"/>
            <a:ext cx="5200650" cy="1403879"/>
          </a:xfrm>
          <a:prstGeom prst="roundRect">
            <a:avLst>
              <a:gd name="adj" fmla="val 7011"/>
            </a:avLst>
          </a:prstGeom>
          <a:solidFill>
            <a:srgbClr val="161D27"/>
          </a:solidFill>
          <a:ln w="6350">
            <a:solidFill>
              <a:srgbClr val="263142"/>
            </a:solidFill>
            <a:prstDash val="solid"/>
          </a:ln>
        </p:spPr>
      </p:sp>
      <p:sp>
        <p:nvSpPr>
          <p:cNvPr id="14" name="Text 12"/>
          <p:cNvSpPr/>
          <p:nvPr/>
        </p:nvSpPr>
        <p:spPr>
          <a:xfrm>
            <a:off x="6405638" y="4038222"/>
            <a:ext cx="4882328" cy="372987"/>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EAEEF3"/>
                </a:solidFill>
                <a:latin typeface="IBM Plex Sans" pitchFamily="34" charset="0"/>
                <a:ea typeface="IBM Plex Sans" pitchFamily="34" charset="-122"/>
                <a:cs typeface="IBM Plex Sans" pitchFamily="34" charset="-120"/>
              </a:rPr>
              <a:t>Hidden encrypted storage</a:t>
            </a:r>
            <a:endParaRPr lang="en-US" sz="1700" dirty="0"/>
          </a:p>
        </p:txBody>
      </p:sp>
      <p:sp>
        <p:nvSpPr>
          <p:cNvPr id="15" name="Text 13"/>
          <p:cNvSpPr/>
          <p:nvPr/>
        </p:nvSpPr>
        <p:spPr>
          <a:xfrm>
            <a:off x="6405638" y="4449310"/>
            <a:ext cx="4882328" cy="557666"/>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A9B4C0"/>
                </a:solidFill>
                <a:latin typeface="IBM Plex Sans" pitchFamily="34" charset="0"/>
                <a:ea typeface="IBM Plex Sans" pitchFamily="34" charset="-122"/>
                <a:cs typeface="IBM Plex Sans" pitchFamily="34" charset="-120"/>
              </a:rPr>
              <a:t>Virtual filesystems and hidden disk sectors stage tools and data outside normal forensic view.</a:t>
            </a:r>
            <a:endParaRPr lang="en-US" sz="1350" dirty="0"/>
          </a:p>
        </p:txBody>
      </p:sp>
      <p:sp>
        <p:nvSpPr>
          <p:cNvPr id="16" name="Text 14"/>
          <p:cNvSpPr/>
          <p:nvPr/>
        </p:nvSpPr>
        <p:spPr>
          <a:xfrm>
            <a:off x="812800" y="5519815"/>
            <a:ext cx="10883392" cy="550787"/>
          </a:xfrm>
          <a:prstGeom prst="rect">
            <a:avLst/>
          </a:prstGeom>
          <a:noFill/>
          <a:ln/>
        </p:spPr>
        <p:txBody>
          <a:bodyPr wrap="square" lIns="0" tIns="0" rIns="0" bIns="0" rtlCol="0" anchor="t">
            <a:normAutofit/>
          </a:bodyPr>
          <a:lstStyle/>
          <a:p>
            <a:pPr algn="l" indent="0" marL="0">
              <a:lnSpc>
                <a:spcPts val="1814"/>
              </a:lnSpc>
              <a:buNone/>
            </a:pPr>
            <a:r>
              <a:rPr lang="en-US" sz="1296" dirty="0">
                <a:solidFill>
                  <a:srgbClr val="8E9BAA"/>
                </a:solidFill>
                <a:latin typeface="IBM Plex Sans" pitchFamily="34" charset="0"/>
                <a:ea typeface="IBM Plex Sans" pitchFamily="34" charset="-122"/>
                <a:cs typeface="IBM Plex Sans" pitchFamily="34" charset="-120"/>
              </a:rPr>
              <a:t>The group also shared two zero-days and the FANNY LNK exploit with Stuxnet — Kaspersky assessed the developers were “the same or working closely together.”</a:t>
            </a:r>
            <a:endParaRPr lang="en-US" sz="1296"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41B"/>
        </a:solidFill>
      </p:bgPr>
    </p:bg>
    <p:spTree>
      <p:nvGrpSpPr>
        <p:cNvPr id="1" name=""/>
        <p:cNvGrpSpPr/>
        <p:nvPr/>
      </p:nvGrpSpPr>
      <p:grpSpPr>
        <a:xfrm>
          <a:off x="0" y="0"/>
          <a:ext cx="0" cy="0"/>
          <a:chOff x="0" y="0"/>
          <a:chExt cx="0" cy="0"/>
        </a:xfrm>
      </p:grpSpPr>
      <p:sp>
        <p:nvSpPr>
          <p:cNvPr id="2" name="Text 0"/>
          <p:cNvSpPr/>
          <p:nvPr/>
        </p:nvSpPr>
        <p:spPr>
          <a:xfrm>
            <a:off x="812800" y="812800"/>
            <a:ext cx="10883392" cy="250938"/>
          </a:xfrm>
          <a:prstGeom prst="rect">
            <a:avLst/>
          </a:prstGeom>
          <a:noFill/>
          <a:ln/>
        </p:spPr>
        <p:txBody>
          <a:bodyPr wrap="square" lIns="0" tIns="0" rIns="0" bIns="0" rtlCol="0" anchor="t">
            <a:normAutofit/>
          </a:bodyPr>
          <a:lstStyle/>
          <a:p>
            <a:pPr algn="l" indent="0" marL="0">
              <a:lnSpc>
                <a:spcPts val="1581"/>
              </a:lnSpc>
              <a:buNone/>
            </a:pPr>
            <a:r>
              <a:rPr lang="en-US" sz="1129" spc="150" kern="0" dirty="0">
                <a:solidFill>
                  <a:srgbClr val="E0A45A"/>
                </a:solidFill>
                <a:latin typeface="JetBrains Mono" pitchFamily="49" charset="0"/>
                <a:ea typeface="JetBrains Mono" pitchFamily="49" charset="-122"/>
                <a:cs typeface="JetBrains Mono" pitchFamily="49" charset="-120"/>
              </a:rPr>
              <a:t>ARSENAL</a:t>
            </a:r>
            <a:endParaRPr lang="en-US" sz="1129" dirty="0"/>
          </a:p>
        </p:txBody>
      </p:sp>
      <p:sp>
        <p:nvSpPr>
          <p:cNvPr id="3" name="Text 1"/>
          <p:cNvSpPr/>
          <p:nvPr>
            <p:ph type="title"/>
          </p:nvPr>
        </p:nvSpPr>
        <p:spPr>
          <a:xfrm>
            <a:off x="812800" y="1127240"/>
            <a:ext cx="10883392" cy="493864"/>
          </a:xfrm>
          <a:prstGeom prst="rect">
            <a:avLst/>
          </a:prstGeom>
          <a:noFill/>
          <a:ln/>
        </p:spPr>
        <p:txBody>
          <a:bodyPr wrap="square" lIns="0" tIns="0" rIns="0" bIns="0" rtlCol="0" anchor="t">
            <a:normAutofit/>
          </a:bodyPr>
          <a:lstStyle/>
          <a:p>
            <a:pPr algn="l" indent="0" marL="0">
              <a:lnSpc>
                <a:spcPts val="3237"/>
              </a:lnSpc>
              <a:buNone/>
            </a:pPr>
            <a:r>
              <a:rPr lang="en-US" sz="3083" b="1" i="0" dirty="0">
                <a:solidFill>
                  <a:srgbClr val="EAEEF3"/>
                </a:solidFill>
                <a:latin typeface="IBM Plex Sans" pitchFamily="34" charset="0"/>
                <a:ea typeface="IBM Plex Sans" pitchFamily="34" charset="-122"/>
                <a:cs typeface="IBM Plex Sans" pitchFamily="34" charset="-120"/>
              </a:rPr>
              <a:t>Staged, modular platforms</a:t>
            </a:r>
            <a:endParaRPr lang="en-US" sz="3083"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895" y="1887199"/>
          <a:ext cx="10554305" cy="3419589"/>
        </p:xfrm>
        <a:graphic>
          <a:graphicData uri="http://schemas.openxmlformats.org/drawingml/2006/table">
            <a:tbl>
              <a:tblPr/>
              <a:tblGrid>
                <a:gridCol w="2955205"/>
                <a:gridCol w="3166291"/>
                <a:gridCol w="4432808"/>
              </a:tblGrid>
              <a:tr h="481277">
                <a:tc>
                  <a:txBody>
                    <a:bodyPr/>
                    <a:lstStyle/>
                    <a:p>
                      <a:pPr indent="0" marL="0">
                        <a:lnSpc>
                          <a:spcPts val="1821"/>
                        </a:lnSpc>
                        <a:buNone/>
                      </a:pPr>
                      <a:r>
                        <a:rPr lang="en-US" sz="1300" b="1" dirty="0">
                          <a:solidFill>
                            <a:srgbClr val="E0A45A"/>
                          </a:solidFill>
                          <a:latin typeface="IBM Plex Sans" pitchFamily="34" charset="0"/>
                          <a:ea typeface="IBM Plex Sans" pitchFamily="34" charset="-122"/>
                          <a:cs typeface="IBM Plex Sans" pitchFamily="34" charset="-120"/>
                        </a:rPr>
                        <a:t>Component</a:t>
                      </a:r>
                      <a:endParaRPr lang="en-US" sz="1300"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C535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C535B"/>
                      </a:solidFill>
                      <a:prstDash val="solid"/>
                      <a:round/>
                      <a:headEnd type="none" w="med" len="med"/>
                      <a:tailEnd type="none" w="med" len="med"/>
                    </a:lnB>
                    <a:solidFill>
                      <a:srgbClr val="1B2430"/>
                    </a:solidFill>
                  </a:tcPr>
                </a:tc>
                <a:tc>
                  <a:txBody>
                    <a:bodyPr/>
                    <a:lstStyle/>
                    <a:p>
                      <a:pPr indent="0" marL="0">
                        <a:lnSpc>
                          <a:spcPts val="1821"/>
                        </a:lnSpc>
                        <a:buNone/>
                      </a:pPr>
                      <a:r>
                        <a:rPr lang="en-US" sz="1300" b="1" dirty="0">
                          <a:solidFill>
                            <a:srgbClr val="E0A45A"/>
                          </a:solidFill>
                          <a:latin typeface="IBM Plex Sans" pitchFamily="34" charset="0"/>
                          <a:ea typeface="IBM Plex Sans" pitchFamily="34" charset="-122"/>
                          <a:cs typeface="IBM Plex Sans" pitchFamily="34" charset="-120"/>
                        </a:rPr>
                        <a:t>Type</a:t>
                      </a:r>
                      <a:endParaRPr lang="en-US" sz="1300" dirty="0">
                        <a:latin typeface="IBM Plex Sans" charset="0"/>
                        <a:ea typeface="IBM Plex Sans" charset="0"/>
                        <a:cs typeface="IBM Plex Sans" charset="0"/>
                      </a:endParaRPr>
                    </a:p>
                  </a:txBody>
                  <a:tcPr marL="152400" marR="152400" marT="101600" marB="101600" anchor="t">
                    <a:lnL w="12700" cap="flat" cmpd="sng" algn="ctr">
                      <a:solidFill>
                        <a:srgbClr val="4C535B"/>
                      </a:solidFill>
                      <a:prstDash val="solid"/>
                      <a:round/>
                      <a:headEnd type="none" w="med" len="med"/>
                      <a:tailEnd type="none" w="med" len="med"/>
                    </a:lnL>
                    <a:lnR w="12700" cap="flat" cmpd="sng" algn="ctr">
                      <a:solidFill>
                        <a:srgbClr val="4C535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C535B"/>
                      </a:solidFill>
                      <a:prstDash val="solid"/>
                      <a:round/>
                      <a:headEnd type="none" w="med" len="med"/>
                      <a:tailEnd type="none" w="med" len="med"/>
                    </a:lnB>
                    <a:solidFill>
                      <a:srgbClr val="1B2430"/>
                    </a:solidFill>
                  </a:tcPr>
                </a:tc>
                <a:tc>
                  <a:txBody>
                    <a:bodyPr/>
                    <a:lstStyle/>
                    <a:p>
                      <a:pPr indent="0" marL="0">
                        <a:lnSpc>
                          <a:spcPts val="1821"/>
                        </a:lnSpc>
                        <a:buNone/>
                      </a:pPr>
                      <a:r>
                        <a:rPr lang="en-US" sz="1300" b="1" dirty="0">
                          <a:solidFill>
                            <a:srgbClr val="E0A45A"/>
                          </a:solidFill>
                          <a:latin typeface="IBM Plex Sans" pitchFamily="34" charset="0"/>
                          <a:ea typeface="IBM Plex Sans" pitchFamily="34" charset="-122"/>
                          <a:cs typeface="IBM Plex Sans" pitchFamily="34" charset="-120"/>
                        </a:rPr>
                        <a:t>Role</a:t>
                      </a:r>
                      <a:endParaRPr lang="en-US" sz="1300" dirty="0">
                        <a:latin typeface="IBM Plex Sans" charset="0"/>
                        <a:ea typeface="IBM Plex Sans" charset="0"/>
                        <a:cs typeface="IBM Plex Sans" charset="0"/>
                      </a:endParaRPr>
                    </a:p>
                  </a:txBody>
                  <a:tcPr marL="152400" marR="152400" marT="101600" marB="101600" anchor="t">
                    <a:lnL w="12700" cap="flat" cmpd="sng" algn="ctr">
                      <a:solidFill>
                        <a:srgbClr val="4C535B"/>
                      </a:solidFill>
                      <a:prstDash val="solid"/>
                      <a:round/>
                      <a:headEnd type="none" w="med" len="med"/>
                      <a:tailEnd type="none" w="med" len="med"/>
                    </a:lnL>
                    <a:lnR w="12700" cap="flat" cmpd="sng" algn="ctr">
                      <a:solidFill>
                        <a:srgbClr val="4C535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C535B"/>
                      </a:solidFill>
                      <a:prstDash val="solid"/>
                      <a:round/>
                      <a:headEnd type="none" w="med" len="med"/>
                      <a:tailEnd type="none" w="med" len="med"/>
                    </a:lnB>
                    <a:solidFill>
                      <a:srgbClr val="1B2430"/>
                    </a:solidFill>
                  </a:tcPr>
                </a:tc>
              </a:tr>
              <a:tr h="481277">
                <a:tc>
                  <a:txBody>
                    <a:bodyPr/>
                    <a:lstStyle/>
                    <a:p>
                      <a:pPr indent="0" marL="0">
                        <a:lnSpc>
                          <a:spcPts val="1821"/>
                        </a:lnSpc>
                        <a:buNone/>
                      </a:pPr>
                      <a:r>
                        <a:rPr lang="en-US" sz="1300" dirty="0">
                          <a:solidFill>
                            <a:srgbClr val="EAEEF3"/>
                          </a:solidFill>
                          <a:latin typeface="IBM Plex Sans" pitchFamily="34" charset="0"/>
                          <a:ea typeface="IBM Plex Sans" pitchFamily="34" charset="-122"/>
                          <a:cs typeface="IBM Plex Sans" pitchFamily="34" charset="-120"/>
                        </a:rPr>
                        <a:t>DOUBLEFANTASY</a:t>
                      </a:r>
                      <a:endParaRPr lang="en-US" sz="1300"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C535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c>
                  <a:txBody>
                    <a:bodyPr/>
                    <a:lstStyle/>
                    <a:p>
                      <a:pPr indent="0" marL="0">
                        <a:lnSpc>
                          <a:spcPts val="1821"/>
                        </a:lnSpc>
                        <a:buNone/>
                      </a:pPr>
                      <a:r>
                        <a:rPr lang="en-US" sz="1300" dirty="0">
                          <a:solidFill>
                            <a:srgbClr val="A9B4C0"/>
                          </a:solidFill>
                          <a:latin typeface="IBM Plex Sans" pitchFamily="34" charset="0"/>
                          <a:ea typeface="IBM Plex Sans" pitchFamily="34" charset="-122"/>
                          <a:cs typeface="IBM Plex Sans" pitchFamily="34" charset="-120"/>
                        </a:rPr>
                        <a:t>Validator / recon</a:t>
                      </a:r>
                      <a:endParaRPr lang="en-US" sz="1300"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C535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c>
                  <a:txBody>
                    <a:bodyPr/>
                    <a:lstStyle/>
                    <a:p>
                      <a:pPr indent="0" marL="0">
                        <a:lnSpc>
                          <a:spcPts val="1821"/>
                        </a:lnSpc>
                        <a:buNone/>
                      </a:pPr>
                      <a:r>
                        <a:rPr lang="en-US" sz="1300" dirty="0">
                          <a:solidFill>
                            <a:srgbClr val="A9B4C0"/>
                          </a:solidFill>
                          <a:latin typeface="IBM Plex Sans" pitchFamily="34" charset="0"/>
                          <a:ea typeface="IBM Plex Sans" pitchFamily="34" charset="-122"/>
                          <a:cs typeface="IBM Plex Sans" pitchFamily="34" charset="-120"/>
                        </a:rPr>
                        <a:t>Confirms a real target before escalation</a:t>
                      </a:r>
                      <a:endParaRPr lang="en-US" sz="1300"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C535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r>
              <a:tr h="481277">
                <a:tc>
                  <a:txBody>
                    <a:bodyPr/>
                    <a:lstStyle/>
                    <a:p>
                      <a:pPr indent="0" marL="0">
                        <a:lnSpc>
                          <a:spcPts val="1821"/>
                        </a:lnSpc>
                        <a:buNone/>
                      </a:pPr>
                      <a:r>
                        <a:rPr lang="en-US" sz="1300" dirty="0">
                          <a:solidFill>
                            <a:srgbClr val="EAEEF3"/>
                          </a:solidFill>
                          <a:latin typeface="IBM Plex Sans" pitchFamily="34" charset="0"/>
                          <a:ea typeface="IBM Plex Sans" pitchFamily="34" charset="-122"/>
                          <a:cs typeface="IBM Plex Sans" pitchFamily="34" charset="-120"/>
                        </a:rPr>
                        <a:t>EQUATIONDRUG</a:t>
                      </a:r>
                      <a:endParaRPr lang="en-US" sz="1300"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c>
                  <a:txBody>
                    <a:bodyPr/>
                    <a:lstStyle/>
                    <a:p>
                      <a:pPr indent="0" marL="0">
                        <a:lnSpc>
                          <a:spcPts val="1821"/>
                        </a:lnSpc>
                        <a:buNone/>
                      </a:pPr>
                      <a:r>
                        <a:rPr lang="en-US" sz="1300" dirty="0">
                          <a:solidFill>
                            <a:srgbClr val="A9B4C0"/>
                          </a:solidFill>
                          <a:latin typeface="IBM Plex Sans" pitchFamily="34" charset="0"/>
                          <a:ea typeface="IBM Plex Sans" pitchFamily="34" charset="-122"/>
                          <a:cs typeface="IBM Plex Sans" pitchFamily="34" charset="-120"/>
                        </a:rPr>
                        <a:t>Espionage platform</a:t>
                      </a:r>
                      <a:endParaRPr lang="en-US" sz="1300"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c>
                  <a:txBody>
                    <a:bodyPr/>
                    <a:lstStyle/>
                    <a:p>
                      <a:pPr indent="0" marL="0">
                        <a:lnSpc>
                          <a:spcPts val="1821"/>
                        </a:lnSpc>
                        <a:buNone/>
                      </a:pPr>
                      <a:r>
                        <a:rPr lang="en-US" sz="1300" dirty="0">
                          <a:solidFill>
                            <a:srgbClr val="A9B4C0"/>
                          </a:solidFill>
                          <a:latin typeface="IBM Plex Sans" pitchFamily="34" charset="0"/>
                          <a:ea typeface="IBM Plex Sans" pitchFamily="34" charset="-122"/>
                          <a:cs typeface="IBM Plex Sans" pitchFamily="34" charset="-120"/>
                        </a:rPr>
                        <a:t>Modular, plugin-based long-dwell collection</a:t>
                      </a:r>
                      <a:endParaRPr lang="en-US" sz="1300"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r>
              <a:tr h="747221">
                <a:tc>
                  <a:txBody>
                    <a:bodyPr/>
                    <a:lstStyle/>
                    <a:p>
                      <a:pPr indent="0" marL="0">
                        <a:lnSpc>
                          <a:spcPts val="1821"/>
                        </a:lnSpc>
                        <a:buNone/>
                      </a:pPr>
                      <a:r>
                        <a:rPr lang="en-US" sz="1300" dirty="0">
                          <a:solidFill>
                            <a:srgbClr val="EAEEF3"/>
                          </a:solidFill>
                          <a:latin typeface="IBM Plex Sans" pitchFamily="34" charset="0"/>
                          <a:ea typeface="IBM Plex Sans" pitchFamily="34" charset="-122"/>
                          <a:cs typeface="IBM Plex Sans" pitchFamily="34" charset="-120"/>
                        </a:rPr>
                        <a:t>GRAYFISH</a:t>
                      </a:r>
                      <a:endParaRPr lang="en-US" sz="1300"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c>
                  <a:txBody>
                    <a:bodyPr/>
                    <a:lstStyle/>
                    <a:p>
                      <a:pPr indent="0" marL="0">
                        <a:lnSpc>
                          <a:spcPts val="1821"/>
                        </a:lnSpc>
                        <a:buNone/>
                      </a:pPr>
                      <a:r>
                        <a:rPr lang="en-US" sz="1300" dirty="0">
                          <a:solidFill>
                            <a:srgbClr val="A9B4C0"/>
                          </a:solidFill>
                          <a:latin typeface="IBM Plex Sans" pitchFamily="34" charset="0"/>
                          <a:ea typeface="IBM Plex Sans" pitchFamily="34" charset="-122"/>
                          <a:cs typeface="IBM Plex Sans" pitchFamily="34" charset="-120"/>
                        </a:rPr>
                        <a:t>Loader / platform</a:t>
                      </a:r>
                      <a:endParaRPr lang="en-US" sz="1300"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c>
                  <a:txBody>
                    <a:bodyPr/>
                    <a:lstStyle/>
                    <a:p>
                      <a:pPr indent="0" marL="0">
                        <a:lnSpc>
                          <a:spcPts val="1821"/>
                        </a:lnSpc>
                        <a:buNone/>
                      </a:pPr>
                      <a:r>
                        <a:rPr lang="en-US" sz="1300" dirty="0">
                          <a:solidFill>
                            <a:srgbClr val="A9B4C0"/>
                          </a:solidFill>
                          <a:latin typeface="IBM Plex Sans" pitchFamily="34" charset="0"/>
                          <a:ea typeface="IBM Plex Sans" pitchFamily="34" charset="-122"/>
                          <a:cs typeface="IBM Plex Sans" pitchFamily="34" charset="-120"/>
                        </a:rPr>
                        <a:t>Most advanced; boot-level, runs from the registry</a:t>
                      </a:r>
                      <a:endParaRPr lang="en-US" sz="1300"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r>
              <a:tr h="481315">
                <a:tc>
                  <a:txBody>
                    <a:bodyPr/>
                    <a:lstStyle/>
                    <a:p>
                      <a:pPr indent="0" marL="0">
                        <a:lnSpc>
                          <a:spcPts val="1821"/>
                        </a:lnSpc>
                        <a:buNone/>
                      </a:pPr>
                      <a:r>
                        <a:rPr lang="en-US" sz="1300" dirty="0">
                          <a:solidFill>
                            <a:srgbClr val="EAEEF3"/>
                          </a:solidFill>
                          <a:latin typeface="IBM Plex Sans" pitchFamily="34" charset="0"/>
                          <a:ea typeface="IBM Plex Sans" pitchFamily="34" charset="-122"/>
                          <a:cs typeface="IBM Plex Sans" pitchFamily="34" charset="-120"/>
                        </a:rPr>
                        <a:t>FANNY</a:t>
                      </a:r>
                      <a:endParaRPr lang="en-US" sz="1300"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c>
                  <a:txBody>
                    <a:bodyPr/>
                    <a:lstStyle/>
                    <a:p>
                      <a:pPr indent="0" marL="0">
                        <a:lnSpc>
                          <a:spcPts val="1821"/>
                        </a:lnSpc>
                        <a:buNone/>
                      </a:pPr>
                      <a:r>
                        <a:rPr lang="en-US" sz="1300" dirty="0">
                          <a:solidFill>
                            <a:srgbClr val="A9B4C0"/>
                          </a:solidFill>
                          <a:latin typeface="IBM Plex Sans" pitchFamily="34" charset="0"/>
                          <a:ea typeface="IBM Plex Sans" pitchFamily="34" charset="-122"/>
                          <a:cs typeface="IBM Plex Sans" pitchFamily="34" charset="-120"/>
                        </a:rPr>
                        <a:t>Worm</a:t>
                      </a:r>
                      <a:endParaRPr lang="en-US" sz="1300"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c>
                  <a:txBody>
                    <a:bodyPr/>
                    <a:lstStyle/>
                    <a:p>
                      <a:pPr indent="0" marL="0">
                        <a:lnSpc>
                          <a:spcPts val="1821"/>
                        </a:lnSpc>
                        <a:buNone/>
                      </a:pPr>
                      <a:r>
                        <a:rPr lang="en-US" sz="1300" dirty="0">
                          <a:solidFill>
                            <a:srgbClr val="A9B4C0"/>
                          </a:solidFill>
                          <a:latin typeface="IBM Plex Sans" pitchFamily="34" charset="0"/>
                          <a:ea typeface="IBM Plex Sans" pitchFamily="34" charset="-122"/>
                          <a:cs typeface="IBM Plex Sans" pitchFamily="34" charset="-120"/>
                        </a:rPr>
                        <a:t>USB + network spread; bridges air gaps</a:t>
                      </a:r>
                      <a:endParaRPr lang="en-US" sz="1300"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r>
              <a:tr h="747221">
                <a:tc>
                  <a:txBody>
                    <a:bodyPr/>
                    <a:lstStyle/>
                    <a:p>
                      <a:pPr indent="0" marL="0">
                        <a:lnSpc>
                          <a:spcPts val="1821"/>
                        </a:lnSpc>
                        <a:buNone/>
                      </a:pPr>
                      <a:r>
                        <a:rPr lang="en-US" sz="1300" dirty="0">
                          <a:solidFill>
                            <a:srgbClr val="EAEEF3"/>
                          </a:solidFill>
                          <a:latin typeface="IBM Plex Sans" pitchFamily="34" charset="0"/>
                          <a:ea typeface="IBM Plex Sans" pitchFamily="34" charset="-122"/>
                          <a:cs typeface="IBM Plex Sans" pitchFamily="34" charset="-120"/>
                        </a:rPr>
                        <a:t>IRATEMONK</a:t>
                      </a:r>
                      <a:endParaRPr lang="en-US" sz="1300"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c>
                  <a:txBody>
                    <a:bodyPr/>
                    <a:lstStyle/>
                    <a:p>
                      <a:pPr indent="0" marL="0">
                        <a:lnSpc>
                          <a:spcPts val="1821"/>
                        </a:lnSpc>
                        <a:buNone/>
                      </a:pPr>
                      <a:r>
                        <a:rPr lang="en-US" sz="1300" dirty="0">
                          <a:solidFill>
                            <a:srgbClr val="A9B4C0"/>
                          </a:solidFill>
                          <a:latin typeface="IBM Plex Sans" pitchFamily="34" charset="0"/>
                          <a:ea typeface="IBM Plex Sans" pitchFamily="34" charset="-122"/>
                          <a:cs typeface="IBM Plex Sans" pitchFamily="34" charset="-120"/>
                        </a:rPr>
                        <a:t>Firmware implant</a:t>
                      </a:r>
                      <a:endParaRPr lang="en-US" sz="1300"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c>
                  <a:txBody>
                    <a:bodyPr/>
                    <a:lstStyle/>
                    <a:p>
                      <a:pPr indent="0" marL="0">
                        <a:lnSpc>
                          <a:spcPts val="1821"/>
                        </a:lnSpc>
                        <a:buNone/>
                      </a:pPr>
                      <a:r>
                        <a:rPr lang="en-US" sz="1300" dirty="0">
                          <a:solidFill>
                            <a:srgbClr val="A9B4C0"/>
                          </a:solidFill>
                          <a:latin typeface="IBM Plex Sans" pitchFamily="34" charset="0"/>
                          <a:ea typeface="IBM Plex Sans" pitchFamily="34" charset="-122"/>
                          <a:cs typeface="IBM Plex Sans" pitchFamily="34" charset="-120"/>
                        </a:rPr>
                        <a:t>Reprograms disk firmware for sub-OS persistence</a:t>
                      </a:r>
                      <a:endParaRPr lang="en-US" sz="1300"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r>
            </a:tbl>
          </a:graphicData>
        </a:graphic>
      </p:graphicFrame>
      <p:sp>
        <p:nvSpPr>
          <p:cNvPr id="5" name="Text 2"/>
          <p:cNvSpPr/>
          <p:nvPr/>
        </p:nvSpPr>
        <p:spPr>
          <a:xfrm>
            <a:off x="812800" y="5586186"/>
            <a:ext cx="10883392" cy="484414"/>
          </a:xfrm>
          <a:prstGeom prst="rect">
            <a:avLst/>
          </a:prstGeom>
          <a:noFill/>
          <a:ln/>
        </p:spPr>
        <p:txBody>
          <a:bodyPr wrap="square" lIns="0" tIns="0" rIns="0" bIns="0" rtlCol="0" anchor="t">
            <a:normAutofit/>
          </a:bodyPr>
          <a:lstStyle/>
          <a:p>
            <a:pPr algn="l" indent="0" marL="0">
              <a:lnSpc>
                <a:spcPts val="1575"/>
              </a:lnSpc>
              <a:buNone/>
            </a:pPr>
            <a:r>
              <a:rPr lang="en-US" sz="1125" dirty="0">
                <a:solidFill>
                  <a:srgbClr val="8E9BAA"/>
                </a:solidFill>
                <a:latin typeface="IBM Plex Sans" pitchFamily="34" charset="0"/>
                <a:ea typeface="IBM Plex Sans" pitchFamily="34" charset="-122"/>
                <a:cs typeface="IBM Plex Sans" pitchFamily="34" charset="-120"/>
              </a:rPr>
              <a:t>Staged validation, modular plugins, encrypted hidden storage, and persistence below the OS — the design philosophy that kept the group hidden for years.</a:t>
            </a:r>
            <a:endParaRPr lang="en-US" sz="11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210"/>
        </a:solidFill>
      </p:bgPr>
    </p:bg>
    <p:spTree>
      <p:nvGrpSpPr>
        <p:cNvPr id="1" name=""/>
        <p:cNvGrpSpPr/>
        <p:nvPr/>
      </p:nvGrpSpPr>
      <p:grpSpPr>
        <a:xfrm>
          <a:off x="0" y="0"/>
          <a:ext cx="0" cy="0"/>
          <a:chOff x="0" y="0"/>
          <a:chExt cx="0" cy="0"/>
        </a:xfrm>
      </p:grpSpPr>
      <p:sp>
        <p:nvSpPr>
          <p:cNvPr id="2" name="Text 0"/>
          <p:cNvSpPr/>
          <p:nvPr/>
        </p:nvSpPr>
        <p:spPr>
          <a:xfrm>
            <a:off x="4022090" y="762000"/>
            <a:ext cx="4147820" cy="291193"/>
          </a:xfrm>
          <a:prstGeom prst="rect">
            <a:avLst/>
          </a:prstGeom>
          <a:noFill/>
          <a:ln/>
        </p:spPr>
        <p:txBody>
          <a:bodyPr wrap="square" lIns="0" tIns="0" rIns="0" bIns="0" rtlCol="0" anchor="t">
            <a:normAutofit/>
          </a:bodyPr>
          <a:lstStyle/>
          <a:p>
            <a:pPr algn="ctr" indent="0" marL="0">
              <a:lnSpc>
                <a:spcPts val="1820"/>
              </a:lnSpc>
              <a:buNone/>
            </a:pPr>
            <a:r>
              <a:rPr lang="en-US" sz="1300" spc="150" kern="0" dirty="0">
                <a:solidFill>
                  <a:srgbClr val="E0A45A"/>
                </a:solidFill>
                <a:latin typeface="JetBrains Mono" pitchFamily="49" charset="0"/>
                <a:ea typeface="JetBrains Mono" pitchFamily="49" charset="-122"/>
                <a:cs typeface="JetBrains Mono" pitchFamily="49" charset="-120"/>
              </a:rPr>
              <a:t>THE SHADOW BROKERS FALLOUT</a:t>
            </a:r>
            <a:endParaRPr lang="en-US" sz="1300" dirty="0"/>
          </a:p>
        </p:txBody>
      </p:sp>
      <p:sp>
        <p:nvSpPr>
          <p:cNvPr id="3" name="Text 1"/>
          <p:cNvSpPr/>
          <p:nvPr>
            <p:ph type="title"/>
          </p:nvPr>
        </p:nvSpPr>
        <p:spPr>
          <a:xfrm>
            <a:off x="964610" y="1103995"/>
            <a:ext cx="10262779" cy="485435"/>
          </a:xfrm>
          <a:prstGeom prst="rect">
            <a:avLst/>
          </a:prstGeom>
          <a:noFill/>
          <a:ln/>
        </p:spPr>
        <p:txBody>
          <a:bodyPr wrap="square" lIns="0" tIns="0" rIns="0" bIns="0" rtlCol="0" anchor="t">
            <a:normAutofit/>
          </a:bodyPr>
          <a:lstStyle/>
          <a:p>
            <a:pPr algn="ctr" indent="0" marL="0">
              <a:lnSpc>
                <a:spcPts val="3150"/>
              </a:lnSpc>
              <a:buNone/>
            </a:pPr>
            <a:r>
              <a:rPr lang="en-US" sz="3000" b="1" i="0" dirty="0">
                <a:solidFill>
                  <a:srgbClr val="EAEEF3"/>
                </a:solidFill>
                <a:latin typeface="IBM Plex Sans" pitchFamily="34" charset="0"/>
                <a:ea typeface="IBM Plex Sans" pitchFamily="34" charset="-122"/>
                <a:cs typeface="IBM Plex Sans" pitchFamily="34" charset="-120"/>
              </a:rPr>
              <a:t>When a state toolkit escaped containment</a:t>
            </a:r>
            <a:endParaRPr lang="en-US" sz="3000" dirty="0"/>
          </a:p>
        </p:txBody>
      </p:sp>
      <p:sp>
        <p:nvSpPr>
          <p:cNvPr id="4" name="Text 2"/>
          <p:cNvSpPr/>
          <p:nvPr/>
        </p:nvSpPr>
        <p:spPr>
          <a:xfrm>
            <a:off x="3664933" y="1757704"/>
            <a:ext cx="4862059" cy="589416"/>
          </a:xfrm>
          <a:prstGeom prst="roundRect">
            <a:avLst>
              <a:gd name="adj" fmla="val 14544"/>
            </a:avLst>
          </a:prstGeom>
          <a:solidFill>
            <a:srgbClr val="1D1813"/>
          </a:solidFill>
          <a:ln w="6350">
            <a:solidFill>
              <a:srgbClr val="3A2E20"/>
            </a:solidFill>
            <a:prstDash val="solid"/>
          </a:ln>
        </p:spPr>
        <p:txBody>
          <a:bodyPr wrap="none" lIns="0" tIns="116255" rIns="0" bIns="90855" rtlCol="0" anchor="t">
            <a:normAutofit/>
          </a:bodyPr>
          <a:lstStyle/>
          <a:p>
            <a:pPr algn="ctr" indent="0" marL="0">
              <a:lnSpc>
                <a:spcPts val="2100"/>
              </a:lnSpc>
              <a:buNone/>
            </a:pPr>
            <a:r>
              <a:rPr lang="en-US" sz="1500" b="1" dirty="0">
                <a:solidFill>
                  <a:srgbClr val="EAEEF3"/>
                </a:solidFill>
                <a:latin typeface="IBM Plex Sans" pitchFamily="34" charset="0"/>
                <a:ea typeface="IBM Plex Sans" pitchFamily="34" charset="-122"/>
                <a:cs typeface="IBM Plex Sans" pitchFamily="34" charset="-120"/>
              </a:rPr>
              <a:t>Equation Group SMB exploits + FuzzBunch</a:t>
            </a:r>
            <a:endParaRPr lang="en-US" sz="1500" dirty="0"/>
          </a:p>
        </p:txBody>
      </p:sp>
      <p:pic>
        <p:nvPicPr>
          <p:cNvPr id="5" name="Image 0" descr="arrow-down">    </p:cNvPr>
          <p:cNvPicPr>
            <a:picLocks noChangeAspect="1"/>
          </p:cNvPicPr>
          <p:nvPr/>
        </p:nvPicPr>
        <p:blipFill>
          <a:blip r:embed="rId1"/>
          <a:srcRect l="0" r="0" t="0" b="0"/>
          <a:stretch/>
        </p:blipFill>
        <p:spPr>
          <a:xfrm>
            <a:off x="5988012" y="2439194"/>
            <a:ext cx="215900" cy="254000"/>
          </a:xfrm>
          <a:prstGeom prst="rect">
            <a:avLst/>
          </a:prstGeom>
        </p:spPr>
      </p:pic>
      <p:sp>
        <p:nvSpPr>
          <p:cNvPr id="6" name="Text 3"/>
          <p:cNvSpPr/>
          <p:nvPr/>
        </p:nvSpPr>
        <p:spPr>
          <a:xfrm>
            <a:off x="3544963" y="2785269"/>
            <a:ext cx="5101998" cy="589416"/>
          </a:xfrm>
          <a:prstGeom prst="roundRect">
            <a:avLst>
              <a:gd name="adj" fmla="val 14544"/>
            </a:avLst>
          </a:prstGeom>
          <a:solidFill>
            <a:srgbClr val="1D1813"/>
          </a:solidFill>
          <a:ln w="6350">
            <a:solidFill>
              <a:srgbClr val="3A2E20"/>
            </a:solidFill>
            <a:prstDash val="solid"/>
          </a:ln>
        </p:spPr>
        <p:txBody>
          <a:bodyPr wrap="none" lIns="0" tIns="116255" rIns="0" bIns="90855" rtlCol="0" anchor="t">
            <a:normAutofit/>
          </a:bodyPr>
          <a:lstStyle/>
          <a:p>
            <a:pPr algn="ctr" indent="0" marL="0">
              <a:lnSpc>
                <a:spcPts val="2100"/>
              </a:lnSpc>
              <a:buNone/>
            </a:pPr>
            <a:r>
              <a:rPr lang="en-US" sz="1500" b="1" dirty="0">
                <a:solidFill>
                  <a:srgbClr val="EAEEF3"/>
                </a:solidFill>
                <a:latin typeface="IBM Plex Sans" pitchFamily="34" charset="0"/>
                <a:ea typeface="IBM Plex Sans" pitchFamily="34" charset="-122"/>
                <a:cs typeface="IBM Plex Sans" pitchFamily="34" charset="-120"/>
              </a:rPr>
              <a:t>Shadow Brokers leak  (Aug 2016 – Apr 2017)</a:t>
            </a:r>
            <a:endParaRPr lang="en-US" sz="1500" dirty="0"/>
          </a:p>
        </p:txBody>
      </p:sp>
      <p:pic>
        <p:nvPicPr>
          <p:cNvPr id="7" name="Image 1" descr="arrow-down">    </p:cNvPr>
          <p:cNvPicPr>
            <a:picLocks noChangeAspect="1"/>
          </p:cNvPicPr>
          <p:nvPr/>
        </p:nvPicPr>
        <p:blipFill>
          <a:blip r:embed="rId2"/>
          <a:srcRect l="0" r="0" t="0" b="0"/>
          <a:stretch/>
        </p:blipFill>
        <p:spPr>
          <a:xfrm>
            <a:off x="5988012" y="3466762"/>
            <a:ext cx="215900" cy="254000"/>
          </a:xfrm>
          <a:prstGeom prst="rect">
            <a:avLst/>
          </a:prstGeom>
        </p:spPr>
      </p:pic>
      <p:sp>
        <p:nvSpPr>
          <p:cNvPr id="8" name="Text 4"/>
          <p:cNvSpPr/>
          <p:nvPr/>
        </p:nvSpPr>
        <p:spPr>
          <a:xfrm>
            <a:off x="3650154" y="3809662"/>
            <a:ext cx="4891655" cy="606501"/>
          </a:xfrm>
          <a:prstGeom prst="roundRect">
            <a:avLst>
              <a:gd name="adj" fmla="val 14658"/>
            </a:avLst>
          </a:prstGeom>
          <a:solidFill>
            <a:srgbClr val="E0A45A"/>
          </a:solidFill>
          <a:ln/>
        </p:spPr>
        <p:txBody>
          <a:bodyPr wrap="none" lIns="0" tIns="113662" rIns="0" bIns="88262" rtlCol="0" anchor="t">
            <a:normAutofit/>
          </a:bodyPr>
          <a:lstStyle/>
          <a:p>
            <a:pPr algn="ctr" indent="0" marL="0">
              <a:lnSpc>
                <a:spcPts val="2240"/>
              </a:lnSpc>
              <a:buNone/>
            </a:pPr>
            <a:r>
              <a:rPr lang="en-US" sz="1600" b="1" dirty="0">
                <a:solidFill>
                  <a:srgbClr val="1A120C"/>
                </a:solidFill>
                <a:latin typeface="IBM Plex Sans" pitchFamily="34" charset="0"/>
                <a:ea typeface="IBM Plex Sans" pitchFamily="34" charset="-122"/>
                <a:cs typeface="IBM Plex Sans" pitchFamily="34" charset="-120"/>
              </a:rPr>
              <a:t>EternalBlue (MS17-010) + DoublePulsar</a:t>
            </a:r>
            <a:endParaRPr lang="en-US" sz="1600" dirty="0"/>
          </a:p>
        </p:txBody>
      </p:sp>
      <p:pic>
        <p:nvPicPr>
          <p:cNvPr id="9" name="Image 2" descr="arrow-down">    </p:cNvPr>
          <p:cNvPicPr>
            <a:picLocks noChangeAspect="1"/>
          </p:cNvPicPr>
          <p:nvPr/>
        </p:nvPicPr>
        <p:blipFill>
          <a:blip r:embed="rId3"/>
          <a:srcRect l="0" r="0" t="0" b="0"/>
          <a:stretch/>
        </p:blipFill>
        <p:spPr>
          <a:xfrm>
            <a:off x="5988012" y="4505061"/>
            <a:ext cx="215900" cy="254000"/>
          </a:xfrm>
          <a:prstGeom prst="rect">
            <a:avLst/>
          </a:prstGeom>
        </p:spPr>
      </p:pic>
      <p:sp>
        <p:nvSpPr>
          <p:cNvPr id="10" name="Shape 5"/>
          <p:cNvSpPr/>
          <p:nvPr/>
        </p:nvSpPr>
        <p:spPr>
          <a:xfrm>
            <a:off x="3132591" y="4851136"/>
            <a:ext cx="2951125" cy="918671"/>
          </a:xfrm>
          <a:prstGeom prst="roundRect">
            <a:avLst>
              <a:gd name="adj" fmla="val 9331"/>
            </a:avLst>
          </a:prstGeom>
          <a:solidFill>
            <a:srgbClr val="241312"/>
          </a:solidFill>
          <a:ln w="6350">
            <a:solidFill>
              <a:srgbClr val="5C2A28"/>
            </a:solidFill>
            <a:prstDash val="solid"/>
          </a:ln>
        </p:spPr>
      </p:sp>
      <p:sp>
        <p:nvSpPr>
          <p:cNvPr id="11" name="Text 6"/>
          <p:cNvSpPr/>
          <p:nvPr/>
        </p:nvSpPr>
        <p:spPr>
          <a:xfrm>
            <a:off x="3413654" y="5005198"/>
            <a:ext cx="2666887" cy="35250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0B4B0"/>
                </a:solidFill>
                <a:latin typeface="IBM Plex Sans" pitchFamily="34" charset="0"/>
                <a:ea typeface="IBM Plex Sans" pitchFamily="34" charset="-122"/>
                <a:cs typeface="IBM Plex Sans" pitchFamily="34" charset="-120"/>
              </a:rPr>
              <a:t>WannaCry (May 2017)</a:t>
            </a:r>
            <a:endParaRPr lang="en-US" sz="1600" dirty="0"/>
          </a:p>
        </p:txBody>
      </p:sp>
      <p:sp>
        <p:nvSpPr>
          <p:cNvPr id="12" name="Text 7"/>
          <p:cNvSpPr/>
          <p:nvPr/>
        </p:nvSpPr>
        <p:spPr>
          <a:xfrm>
            <a:off x="3249733" y="5370401"/>
            <a:ext cx="2716802" cy="270744"/>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C79A97"/>
                </a:solidFill>
                <a:latin typeface="IBM Plex Sans" pitchFamily="34" charset="0"/>
                <a:ea typeface="IBM Plex Sans" pitchFamily="34" charset="-122"/>
                <a:cs typeface="IBM Plex Sans" pitchFamily="34" charset="-120"/>
              </a:rPr>
              <a:t>150+ countries, ransomware</a:t>
            </a:r>
            <a:endParaRPr lang="en-US" sz="1200" dirty="0"/>
          </a:p>
        </p:txBody>
      </p:sp>
      <p:sp>
        <p:nvSpPr>
          <p:cNvPr id="13" name="Shape 8"/>
          <p:cNvSpPr/>
          <p:nvPr/>
        </p:nvSpPr>
        <p:spPr>
          <a:xfrm>
            <a:off x="6267866" y="4851136"/>
            <a:ext cx="2791505" cy="918671"/>
          </a:xfrm>
          <a:prstGeom prst="roundRect">
            <a:avLst>
              <a:gd name="adj" fmla="val 9331"/>
            </a:avLst>
          </a:prstGeom>
          <a:solidFill>
            <a:srgbClr val="241312"/>
          </a:solidFill>
          <a:ln w="6350">
            <a:solidFill>
              <a:srgbClr val="5C2A28"/>
            </a:solidFill>
            <a:prstDash val="solid"/>
          </a:ln>
        </p:spPr>
      </p:sp>
      <p:sp>
        <p:nvSpPr>
          <p:cNvPr id="14" name="Text 9"/>
          <p:cNvSpPr/>
          <p:nvPr/>
        </p:nvSpPr>
        <p:spPr>
          <a:xfrm>
            <a:off x="6548929" y="5005198"/>
            <a:ext cx="2507267" cy="35250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0B4B0"/>
                </a:solidFill>
                <a:latin typeface="IBM Plex Sans" pitchFamily="34" charset="0"/>
                <a:ea typeface="IBM Plex Sans" pitchFamily="34" charset="-122"/>
                <a:cs typeface="IBM Plex Sans" pitchFamily="34" charset="-120"/>
              </a:rPr>
              <a:t>NotPetya (Jun 2017)</a:t>
            </a:r>
            <a:endParaRPr lang="en-US" sz="1600" dirty="0"/>
          </a:p>
        </p:txBody>
      </p:sp>
      <p:sp>
        <p:nvSpPr>
          <p:cNvPr id="15" name="Text 10"/>
          <p:cNvSpPr/>
          <p:nvPr/>
        </p:nvSpPr>
        <p:spPr>
          <a:xfrm>
            <a:off x="6624717" y="5370401"/>
            <a:ext cx="2077766" cy="270744"/>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C79A97"/>
                </a:solidFill>
                <a:latin typeface="IBM Plex Sans" pitchFamily="34" charset="0"/>
                <a:ea typeface="IBM Plex Sans" pitchFamily="34" charset="-122"/>
                <a:cs typeface="IBM Plex Sans" pitchFamily="34" charset="-120"/>
              </a:rPr>
              <a:t>~$10B damage, wiper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41B"/>
        </a:solidFill>
      </p:bgPr>
    </p:bg>
    <p:spTree>
      <p:nvGrpSpPr>
        <p:cNvPr id="1" name=""/>
        <p:cNvGrpSpPr/>
        <p:nvPr/>
      </p:nvGrpSpPr>
      <p:grpSpPr>
        <a:xfrm>
          <a:off x="0" y="0"/>
          <a:ext cx="0" cy="0"/>
          <a:chOff x="0" y="0"/>
          <a:chExt cx="0" cy="0"/>
        </a:xfrm>
      </p:grpSpPr>
      <p:sp>
        <p:nvSpPr>
          <p:cNvPr id="2" name="Text 0"/>
          <p:cNvSpPr/>
          <p:nvPr/>
        </p:nvSpPr>
        <p:spPr>
          <a:xfrm>
            <a:off x="812800" y="812800"/>
            <a:ext cx="10883392" cy="291193"/>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E0A45A"/>
                </a:solidFill>
                <a:latin typeface="JetBrains Mono" pitchFamily="49" charset="0"/>
                <a:ea typeface="JetBrains Mono" pitchFamily="49" charset="-122"/>
                <a:cs typeface="JetBrains Mono" pitchFamily="49" charset="-120"/>
              </a:rPr>
              <a:t>RED &amp; PURPLE TEAM</a:t>
            </a:r>
            <a:endParaRPr lang="en-US" sz="1300" dirty="0"/>
          </a:p>
        </p:txBody>
      </p:sp>
      <p:sp>
        <p:nvSpPr>
          <p:cNvPr id="3" name="Text 1"/>
          <p:cNvSpPr/>
          <p:nvPr>
            <p:ph type="title"/>
          </p:nvPr>
        </p:nvSpPr>
        <p:spPr>
          <a:xfrm>
            <a:off x="812800" y="1167495"/>
            <a:ext cx="10883392" cy="546780"/>
          </a:xfrm>
          <a:prstGeom prst="rect">
            <a:avLst/>
          </a:prstGeom>
          <a:noFill/>
          <a:ln/>
        </p:spPr>
        <p:txBody>
          <a:bodyPr wrap="square" lIns="0" tIns="0" rIns="0" bIns="0" rtlCol="0" anchor="t">
            <a:normAutofit/>
          </a:bodyPr>
          <a:lstStyle/>
          <a:p>
            <a:pPr algn="l" indent="0" marL="0">
              <a:lnSpc>
                <a:spcPts val="3570"/>
              </a:lnSpc>
              <a:buNone/>
            </a:pPr>
            <a:r>
              <a:rPr lang="en-US" sz="3400" b="1" i="0" dirty="0">
                <a:solidFill>
                  <a:srgbClr val="EAEEF3"/>
                </a:solidFill>
                <a:latin typeface="IBM Plex Sans" pitchFamily="34" charset="0"/>
                <a:ea typeface="IBM Plex Sans" pitchFamily="34" charset="-122"/>
                <a:cs typeface="IBM Plex Sans" pitchFamily="34" charset="-120"/>
              </a:rPr>
              <a:t>Validate, don’t rebuild</a:t>
            </a:r>
            <a:endParaRPr lang="en-US" sz="3400" dirty="0"/>
          </a:p>
        </p:txBody>
      </p:sp>
      <p:sp>
        <p:nvSpPr>
          <p:cNvPr id="4" name="Text 2"/>
          <p:cNvSpPr/>
          <p:nvPr/>
        </p:nvSpPr>
        <p:spPr>
          <a:xfrm>
            <a:off x="812800" y="1942874"/>
            <a:ext cx="9810750" cy="94547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B4C0"/>
                </a:solidFill>
                <a:latin typeface="IBM Plex Sans" pitchFamily="34" charset="0"/>
                <a:ea typeface="IBM Plex Sans" pitchFamily="34" charset="-122"/>
                <a:cs typeface="IBM Plex Sans" pitchFamily="34" charset="-120"/>
              </a:rPr>
              <a:t>The firmware implants and interdiction aren’t lab-reproducible, and the live exploits are long patched. The useful exercise is confirming a modern stack catches the techniques the group pioneered — now commodity. Lab-only, benign stand-ins.</a:t>
            </a:r>
            <a:endParaRPr lang="en-US" sz="1500" dirty="0"/>
          </a:p>
        </p:txBody>
      </p:sp>
      <p:sp>
        <p:nvSpPr>
          <p:cNvPr id="5" name="Text 3"/>
          <p:cNvSpPr/>
          <p:nvPr/>
        </p:nvSpPr>
        <p:spPr>
          <a:xfrm>
            <a:off x="812800" y="3116945"/>
            <a:ext cx="304800" cy="31167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0A45A"/>
                </a:solidFill>
                <a:latin typeface="JetBrains Mono" pitchFamily="49" charset="0"/>
                <a:ea typeface="JetBrains Mono" pitchFamily="49" charset="-122"/>
                <a:cs typeface="JetBrains Mono" pitchFamily="49" charset="-120"/>
              </a:rPr>
              <a:t>1</a:t>
            </a:r>
            <a:endParaRPr lang="en-US" sz="1400" dirty="0"/>
          </a:p>
        </p:txBody>
      </p:sp>
      <p:sp>
        <p:nvSpPr>
          <p:cNvPr id="6" name="Text 4"/>
          <p:cNvSpPr/>
          <p:nvPr/>
        </p:nvSpPr>
        <p:spPr>
          <a:xfrm>
            <a:off x="1219200" y="3116945"/>
            <a:ext cx="4866132" cy="575960"/>
          </a:xfrm>
          <a:prstGeom prst="rect">
            <a:avLst/>
          </a:prstGeom>
          <a:noFill/>
          <a:ln/>
        </p:spPr>
        <p:txBody>
          <a:bodyPr wrap="square" lIns="0" tIns="0" rIns="0" bIns="0" rtlCol="0" anchor="t">
            <a:normAutofit/>
          </a:bodyPr>
          <a:lstStyle/>
          <a:p>
            <a:pPr algn="l" indent="0" marL="0">
              <a:lnSpc>
                <a:spcPts val="1885"/>
              </a:lnSpc>
              <a:buNone/>
            </a:pPr>
            <a:r>
              <a:rPr lang="en-US" sz="1450" dirty="0">
                <a:solidFill>
                  <a:srgbClr val="C7D0DB"/>
                </a:solidFill>
                <a:latin typeface="IBM Plex Sans" pitchFamily="34" charset="0"/>
                <a:ea typeface="IBM Plex Sans" pitchFamily="34" charset="-122"/>
                <a:cs typeface="IBM Plex Sans" pitchFamily="34" charset="-120"/>
              </a:rPr>
              <a:t>Validate SMBv1 exploitation detection with community rule sets </a:t>
            </a:r>
            <a:r>
              <a:rPr lang="en-US" sz="1450" dirty="0">
                <a:solidFill>
                  <a:srgbClr val="7E8B9A"/>
                </a:solidFill>
                <a:latin typeface="IBM Plex Sans" pitchFamily="34" charset="0"/>
                <a:ea typeface="IBM Plex Sans" pitchFamily="34" charset="-122"/>
                <a:cs typeface="IBM Plex Sans" pitchFamily="34" charset="-120"/>
              </a:rPr>
              <a:t>(T1210)</a:t>
            </a:r>
            <a:endParaRPr lang="en-US" sz="1450" dirty="0"/>
          </a:p>
        </p:txBody>
      </p:sp>
      <p:sp>
        <p:nvSpPr>
          <p:cNvPr id="7" name="Text 5"/>
          <p:cNvSpPr/>
          <p:nvPr/>
        </p:nvSpPr>
        <p:spPr>
          <a:xfrm>
            <a:off x="6248400" y="3116945"/>
            <a:ext cx="304800" cy="31167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0A45A"/>
                </a:solidFill>
                <a:latin typeface="JetBrains Mono" pitchFamily="49" charset="0"/>
                <a:ea typeface="JetBrains Mono" pitchFamily="49" charset="-122"/>
                <a:cs typeface="JetBrains Mono" pitchFamily="49" charset="-120"/>
              </a:rPr>
              <a:t>2</a:t>
            </a:r>
            <a:endParaRPr lang="en-US" sz="1400" dirty="0"/>
          </a:p>
        </p:txBody>
      </p:sp>
      <p:sp>
        <p:nvSpPr>
          <p:cNvPr id="8" name="Text 6"/>
          <p:cNvSpPr/>
          <p:nvPr/>
        </p:nvSpPr>
        <p:spPr>
          <a:xfrm>
            <a:off x="6654800" y="3116945"/>
            <a:ext cx="4866132" cy="575960"/>
          </a:xfrm>
          <a:prstGeom prst="rect">
            <a:avLst/>
          </a:prstGeom>
          <a:noFill/>
          <a:ln/>
        </p:spPr>
        <p:txBody>
          <a:bodyPr wrap="square" lIns="0" tIns="0" rIns="0" bIns="0" rtlCol="0" anchor="t">
            <a:normAutofit/>
          </a:bodyPr>
          <a:lstStyle/>
          <a:p>
            <a:pPr algn="l" indent="0" marL="0">
              <a:lnSpc>
                <a:spcPts val="1885"/>
              </a:lnSpc>
              <a:buNone/>
            </a:pPr>
            <a:r>
              <a:rPr lang="en-US" sz="1450" dirty="0">
                <a:solidFill>
                  <a:srgbClr val="C7D0DB"/>
                </a:solidFill>
                <a:latin typeface="IBM Plex Sans" pitchFamily="34" charset="0"/>
                <a:ea typeface="IBM Plex Sans" pitchFamily="34" charset="-122"/>
                <a:cs typeface="IBM Plex Sans" pitchFamily="34" charset="-120"/>
              </a:rPr>
              <a:t>Confirm your stack flags DoublePulsar-style implant behavior </a:t>
            </a:r>
            <a:r>
              <a:rPr lang="en-US" sz="1450" dirty="0">
                <a:solidFill>
                  <a:srgbClr val="7E8B9A"/>
                </a:solidFill>
                <a:latin typeface="IBM Plex Sans" pitchFamily="34" charset="0"/>
                <a:ea typeface="IBM Plex Sans" pitchFamily="34" charset="-122"/>
                <a:cs typeface="IBM Plex Sans" pitchFamily="34" charset="-120"/>
              </a:rPr>
              <a:t>(T1055)</a:t>
            </a:r>
            <a:endParaRPr lang="en-US" sz="1450" dirty="0"/>
          </a:p>
        </p:txBody>
      </p:sp>
      <p:sp>
        <p:nvSpPr>
          <p:cNvPr id="9" name="Text 7"/>
          <p:cNvSpPr/>
          <p:nvPr/>
        </p:nvSpPr>
        <p:spPr>
          <a:xfrm>
            <a:off x="812800" y="3794503"/>
            <a:ext cx="304800" cy="31167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0A45A"/>
                </a:solidFill>
                <a:latin typeface="JetBrains Mono" pitchFamily="49" charset="0"/>
                <a:ea typeface="JetBrains Mono" pitchFamily="49" charset="-122"/>
                <a:cs typeface="JetBrains Mono" pitchFamily="49" charset="-120"/>
              </a:rPr>
              <a:t>3</a:t>
            </a:r>
            <a:endParaRPr lang="en-US" sz="1400" dirty="0"/>
          </a:p>
        </p:txBody>
      </p:sp>
      <p:sp>
        <p:nvSpPr>
          <p:cNvPr id="10" name="Text 8"/>
          <p:cNvSpPr/>
          <p:nvPr/>
        </p:nvSpPr>
        <p:spPr>
          <a:xfrm>
            <a:off x="1219200" y="3794503"/>
            <a:ext cx="4866132" cy="575960"/>
          </a:xfrm>
          <a:prstGeom prst="rect">
            <a:avLst/>
          </a:prstGeom>
          <a:noFill/>
          <a:ln/>
        </p:spPr>
        <p:txBody>
          <a:bodyPr wrap="square" lIns="0" tIns="0" rIns="0" bIns="0" rtlCol="0" anchor="t">
            <a:normAutofit/>
          </a:bodyPr>
          <a:lstStyle/>
          <a:p>
            <a:pPr algn="l" indent="0" marL="0">
              <a:lnSpc>
                <a:spcPts val="1885"/>
              </a:lnSpc>
              <a:buNone/>
            </a:pPr>
            <a:r>
              <a:rPr lang="en-US" sz="1450" dirty="0">
                <a:solidFill>
                  <a:srgbClr val="C7D0DB"/>
                </a:solidFill>
                <a:latin typeface="IBM Plex Sans" pitchFamily="34" charset="0"/>
                <a:ea typeface="IBM Plex Sans" pitchFamily="34" charset="-122"/>
                <a:cs typeface="IBM Plex Sans" pitchFamily="34" charset="-120"/>
              </a:rPr>
              <a:t>Emulate FANNY with a benign USB marker (Atomic Red Team) </a:t>
            </a:r>
            <a:r>
              <a:rPr lang="en-US" sz="1450" dirty="0">
                <a:solidFill>
                  <a:srgbClr val="7E8B9A"/>
                </a:solidFill>
                <a:latin typeface="IBM Plex Sans" pitchFamily="34" charset="0"/>
                <a:ea typeface="IBM Plex Sans" pitchFamily="34" charset="-122"/>
                <a:cs typeface="IBM Plex Sans" pitchFamily="34" charset="-120"/>
              </a:rPr>
              <a:t>(T1091)</a:t>
            </a:r>
            <a:endParaRPr lang="en-US" sz="1450" dirty="0"/>
          </a:p>
        </p:txBody>
      </p:sp>
      <p:sp>
        <p:nvSpPr>
          <p:cNvPr id="11" name="Text 9"/>
          <p:cNvSpPr/>
          <p:nvPr/>
        </p:nvSpPr>
        <p:spPr>
          <a:xfrm>
            <a:off x="6248400" y="3794503"/>
            <a:ext cx="304800" cy="31167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0A45A"/>
                </a:solidFill>
                <a:latin typeface="JetBrains Mono" pitchFamily="49" charset="0"/>
                <a:ea typeface="JetBrains Mono" pitchFamily="49" charset="-122"/>
                <a:cs typeface="JetBrains Mono" pitchFamily="49" charset="-120"/>
              </a:rPr>
              <a:t>4</a:t>
            </a:r>
            <a:endParaRPr lang="en-US" sz="1400" dirty="0"/>
          </a:p>
        </p:txBody>
      </p:sp>
      <p:sp>
        <p:nvSpPr>
          <p:cNvPr id="12" name="Text 10"/>
          <p:cNvSpPr/>
          <p:nvPr/>
        </p:nvSpPr>
        <p:spPr>
          <a:xfrm>
            <a:off x="6654800" y="3794503"/>
            <a:ext cx="4866132" cy="575960"/>
          </a:xfrm>
          <a:prstGeom prst="rect">
            <a:avLst/>
          </a:prstGeom>
          <a:noFill/>
          <a:ln/>
        </p:spPr>
        <p:txBody>
          <a:bodyPr wrap="square" lIns="0" tIns="0" rIns="0" bIns="0" rtlCol="0" anchor="t">
            <a:normAutofit/>
          </a:bodyPr>
          <a:lstStyle/>
          <a:p>
            <a:pPr algn="l" indent="0" marL="0">
              <a:lnSpc>
                <a:spcPts val="1885"/>
              </a:lnSpc>
              <a:buNone/>
            </a:pPr>
            <a:r>
              <a:rPr lang="en-US" sz="1450" dirty="0">
                <a:solidFill>
                  <a:srgbClr val="C7D0DB"/>
                </a:solidFill>
                <a:latin typeface="IBM Plex Sans" pitchFamily="34" charset="0"/>
                <a:ea typeface="IBM Plex Sans" pitchFamily="34" charset="-122"/>
                <a:cs typeface="IBM Plex Sans" pitchFamily="34" charset="-120"/>
              </a:rPr>
              <a:t>Verify firmware / boot integrity controls are in place </a:t>
            </a:r>
            <a:r>
              <a:rPr lang="en-US" sz="1450" dirty="0">
                <a:solidFill>
                  <a:srgbClr val="7E8B9A"/>
                </a:solidFill>
                <a:latin typeface="IBM Plex Sans" pitchFamily="34" charset="0"/>
                <a:ea typeface="IBM Plex Sans" pitchFamily="34" charset="-122"/>
                <a:cs typeface="IBM Plex Sans" pitchFamily="34" charset="-120"/>
              </a:rPr>
              <a:t>(T1542)</a:t>
            </a:r>
            <a:endParaRPr lang="en-US" sz="1450" dirty="0"/>
          </a:p>
        </p:txBody>
      </p:sp>
      <p:sp>
        <p:nvSpPr>
          <p:cNvPr id="13" name="Text 11"/>
          <p:cNvSpPr/>
          <p:nvPr/>
        </p:nvSpPr>
        <p:spPr>
          <a:xfrm>
            <a:off x="812800" y="4472062"/>
            <a:ext cx="304800" cy="31167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0A45A"/>
                </a:solidFill>
                <a:latin typeface="JetBrains Mono" pitchFamily="49" charset="0"/>
                <a:ea typeface="JetBrains Mono" pitchFamily="49" charset="-122"/>
                <a:cs typeface="JetBrains Mono" pitchFamily="49" charset="-120"/>
              </a:rPr>
              <a:t>5</a:t>
            </a:r>
            <a:endParaRPr lang="en-US" sz="1400" dirty="0"/>
          </a:p>
        </p:txBody>
      </p:sp>
      <p:sp>
        <p:nvSpPr>
          <p:cNvPr id="14" name="Text 12"/>
          <p:cNvSpPr/>
          <p:nvPr/>
        </p:nvSpPr>
        <p:spPr>
          <a:xfrm>
            <a:off x="1219200" y="4472062"/>
            <a:ext cx="4866132" cy="575960"/>
          </a:xfrm>
          <a:prstGeom prst="rect">
            <a:avLst/>
          </a:prstGeom>
          <a:noFill/>
          <a:ln/>
        </p:spPr>
        <p:txBody>
          <a:bodyPr wrap="square" lIns="0" tIns="0" rIns="0" bIns="0" rtlCol="0" anchor="t">
            <a:normAutofit/>
          </a:bodyPr>
          <a:lstStyle/>
          <a:p>
            <a:pPr algn="l" indent="0" marL="0">
              <a:lnSpc>
                <a:spcPts val="1885"/>
              </a:lnSpc>
              <a:buNone/>
            </a:pPr>
            <a:r>
              <a:rPr lang="en-US" sz="1450" dirty="0">
                <a:solidFill>
                  <a:srgbClr val="C7D0DB"/>
                </a:solidFill>
                <a:latin typeface="IBM Plex Sans" pitchFamily="34" charset="0"/>
                <a:ea typeface="IBM Plex Sans" pitchFamily="34" charset="-122"/>
                <a:cs typeface="IBM Plex Sans" pitchFamily="34" charset="-120"/>
              </a:rPr>
              <a:t>Audit where SMBv1 and legacy protocols still run — the real exposure</a:t>
            </a:r>
            <a:endParaRPr lang="en-US" sz="1450" dirty="0"/>
          </a:p>
        </p:txBody>
      </p:sp>
      <p:sp>
        <p:nvSpPr>
          <p:cNvPr id="15" name="Text 13"/>
          <p:cNvSpPr/>
          <p:nvPr/>
        </p:nvSpPr>
        <p:spPr>
          <a:xfrm>
            <a:off x="6248400" y="4472062"/>
            <a:ext cx="304800" cy="31167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0A45A"/>
                </a:solidFill>
                <a:latin typeface="JetBrains Mono" pitchFamily="49" charset="0"/>
                <a:ea typeface="JetBrains Mono" pitchFamily="49" charset="-122"/>
                <a:cs typeface="JetBrains Mono" pitchFamily="49" charset="-120"/>
              </a:rPr>
              <a:t>6</a:t>
            </a:r>
            <a:endParaRPr lang="en-US" sz="1400" dirty="0"/>
          </a:p>
        </p:txBody>
      </p:sp>
      <p:sp>
        <p:nvSpPr>
          <p:cNvPr id="16" name="Text 14"/>
          <p:cNvSpPr/>
          <p:nvPr/>
        </p:nvSpPr>
        <p:spPr>
          <a:xfrm>
            <a:off x="6654800" y="4472062"/>
            <a:ext cx="4866132" cy="575960"/>
          </a:xfrm>
          <a:prstGeom prst="rect">
            <a:avLst/>
          </a:prstGeom>
          <a:noFill/>
          <a:ln/>
        </p:spPr>
        <p:txBody>
          <a:bodyPr wrap="square" lIns="0" tIns="0" rIns="0" bIns="0" rtlCol="0" anchor="t">
            <a:normAutofit/>
          </a:bodyPr>
          <a:lstStyle/>
          <a:p>
            <a:pPr algn="l" indent="0" marL="0">
              <a:lnSpc>
                <a:spcPts val="1885"/>
              </a:lnSpc>
              <a:buNone/>
            </a:pPr>
            <a:r>
              <a:rPr lang="en-US" sz="1450" dirty="0">
                <a:solidFill>
                  <a:srgbClr val="C7D0DB"/>
                </a:solidFill>
                <a:latin typeface="IBM Plex Sans" pitchFamily="34" charset="0"/>
                <a:ea typeface="IBM Plex Sans" pitchFamily="34" charset="-122"/>
                <a:cs typeface="IBM Plex Sans" pitchFamily="34" charset="-120"/>
              </a:rPr>
              <a:t>Treat tool hygiene as doctrine — the group’s worst day was a leak</a:t>
            </a:r>
            <a:endParaRPr lang="en-US" sz="1450" dirty="0"/>
          </a:p>
        </p:txBody>
      </p:sp>
      <p:sp>
        <p:nvSpPr>
          <p:cNvPr id="17" name="Text 15"/>
          <p:cNvSpPr/>
          <p:nvPr/>
        </p:nvSpPr>
        <p:spPr>
          <a:xfrm>
            <a:off x="812800" y="5869217"/>
            <a:ext cx="10883392" cy="55698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E9BAA"/>
                </a:solidFill>
                <a:latin typeface="IBM Plex Sans" pitchFamily="34" charset="0"/>
                <a:ea typeface="IBM Plex Sans" pitchFamily="34" charset="-122"/>
                <a:cs typeface="IBM Plex Sans" pitchFamily="34" charset="-120"/>
              </a:rPr>
              <a:t>Meta-lesson: nation-state techniques become everyone’s problem within months of disclosure. Patch cadence and legacy-protocol elimination are strategic.</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41B"/>
        </a:solidFill>
      </p:bgPr>
    </p:bg>
    <p:spTree>
      <p:nvGrpSpPr>
        <p:cNvPr id="1" name=""/>
        <p:cNvGrpSpPr/>
        <p:nvPr/>
      </p:nvGrpSpPr>
      <p:grpSpPr>
        <a:xfrm>
          <a:off x="0" y="0"/>
          <a:ext cx="0" cy="0"/>
          <a:chOff x="0" y="0"/>
          <a:chExt cx="0" cy="0"/>
        </a:xfrm>
      </p:grpSpPr>
      <p:sp>
        <p:nvSpPr>
          <p:cNvPr id="2" name="Text 0"/>
          <p:cNvSpPr/>
          <p:nvPr/>
        </p:nvSpPr>
        <p:spPr>
          <a:xfrm>
            <a:off x="812800" y="812800"/>
            <a:ext cx="10883392" cy="291193"/>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E0A45A"/>
                </a:solidFill>
                <a:latin typeface="JetBrains Mono" pitchFamily="49" charset="0"/>
                <a:ea typeface="JetBrains Mono" pitchFamily="49" charset="-122"/>
                <a:cs typeface="JetBrains Mono" pitchFamily="49" charset="-120"/>
              </a:rPr>
              <a:t>DETECTION &amp; HUNTING</a:t>
            </a:r>
            <a:endParaRPr lang="en-US" sz="1300" dirty="0"/>
          </a:p>
        </p:txBody>
      </p:sp>
      <p:sp>
        <p:nvSpPr>
          <p:cNvPr id="3" name="Text 1"/>
          <p:cNvSpPr/>
          <p:nvPr>
            <p:ph type="title"/>
          </p:nvPr>
        </p:nvSpPr>
        <p:spPr>
          <a:xfrm>
            <a:off x="812800" y="1167495"/>
            <a:ext cx="10883392" cy="546780"/>
          </a:xfrm>
          <a:prstGeom prst="rect">
            <a:avLst/>
          </a:prstGeom>
          <a:noFill/>
          <a:ln/>
        </p:spPr>
        <p:txBody>
          <a:bodyPr wrap="square" lIns="0" tIns="0" rIns="0" bIns="0" rtlCol="0" anchor="t">
            <a:normAutofit/>
          </a:bodyPr>
          <a:lstStyle/>
          <a:p>
            <a:pPr algn="l" indent="0" marL="0">
              <a:lnSpc>
                <a:spcPts val="3570"/>
              </a:lnSpc>
              <a:buNone/>
            </a:pPr>
            <a:r>
              <a:rPr lang="en-US" sz="3400" b="1" i="0" dirty="0">
                <a:solidFill>
                  <a:srgbClr val="EAEEF3"/>
                </a:solidFill>
                <a:latin typeface="IBM Plex Sans" pitchFamily="34" charset="0"/>
                <a:ea typeface="IBM Plex Sans" pitchFamily="34" charset="-122"/>
                <a:cs typeface="IBM Plex Sans" pitchFamily="34" charset="-120"/>
              </a:rPr>
              <a:t>The highest-value action is inventory</a:t>
            </a:r>
            <a:endParaRPr lang="en-US" sz="3400" dirty="0"/>
          </a:p>
        </p:txBody>
      </p:sp>
      <p:sp>
        <p:nvSpPr>
          <p:cNvPr id="4" name="Shape 2"/>
          <p:cNvSpPr/>
          <p:nvPr/>
        </p:nvSpPr>
        <p:spPr>
          <a:xfrm>
            <a:off x="815975" y="1946052"/>
            <a:ext cx="4946650" cy="869837"/>
          </a:xfrm>
          <a:prstGeom prst="roundRect">
            <a:avLst>
              <a:gd name="adj" fmla="val 9855"/>
            </a:avLst>
          </a:prstGeom>
          <a:solidFill>
            <a:srgbClr val="161D27"/>
          </a:solidFill>
          <a:ln w="6350">
            <a:solidFill>
              <a:srgbClr val="263142"/>
            </a:solidFill>
            <a:prstDash val="solid"/>
          </a:ln>
        </p:spPr>
      </p:sp>
      <p:sp>
        <p:nvSpPr>
          <p:cNvPr id="5" name="Text 3"/>
          <p:cNvSpPr/>
          <p:nvPr/>
        </p:nvSpPr>
        <p:spPr>
          <a:xfrm>
            <a:off x="995438" y="2100114"/>
            <a:ext cx="4725356" cy="31167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AEEF3"/>
                </a:solidFill>
                <a:latin typeface="IBM Plex Sans" pitchFamily="34" charset="0"/>
                <a:ea typeface="IBM Plex Sans" pitchFamily="34" charset="-122"/>
                <a:cs typeface="IBM Plex Sans" pitchFamily="34" charset="-120"/>
              </a:rPr>
              <a:t>SMBv1 exposure</a:t>
            </a:r>
            <a:endParaRPr lang="en-US" sz="1400" dirty="0"/>
          </a:p>
        </p:txBody>
      </p:sp>
      <p:sp>
        <p:nvSpPr>
          <p:cNvPr id="6" name="Text 4"/>
          <p:cNvSpPr/>
          <p:nvPr/>
        </p:nvSpPr>
        <p:spPr>
          <a:xfrm>
            <a:off x="995438" y="2424491"/>
            <a:ext cx="4725356" cy="262731"/>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A9B4C0"/>
                </a:solidFill>
                <a:latin typeface="IBM Plex Sans" pitchFamily="34" charset="0"/>
                <a:ea typeface="IBM Plex Sans" pitchFamily="34" charset="-122"/>
                <a:cs typeface="IBM Plex Sans" pitchFamily="34" charset="-120"/>
              </a:rPr>
              <a:t>Its mere presence is the finding — find and eliminate it</a:t>
            </a:r>
            <a:endParaRPr lang="en-US" sz="1250" dirty="0"/>
          </a:p>
        </p:txBody>
      </p:sp>
      <p:sp>
        <p:nvSpPr>
          <p:cNvPr id="7" name="Shape 5"/>
          <p:cNvSpPr/>
          <p:nvPr/>
        </p:nvSpPr>
        <p:spPr>
          <a:xfrm>
            <a:off x="815975" y="2936534"/>
            <a:ext cx="4946650" cy="869837"/>
          </a:xfrm>
          <a:prstGeom prst="roundRect">
            <a:avLst>
              <a:gd name="adj" fmla="val 9855"/>
            </a:avLst>
          </a:prstGeom>
          <a:solidFill>
            <a:srgbClr val="161D27"/>
          </a:solidFill>
          <a:ln w="6350">
            <a:solidFill>
              <a:srgbClr val="263142"/>
            </a:solidFill>
            <a:prstDash val="solid"/>
          </a:ln>
        </p:spPr>
      </p:sp>
      <p:sp>
        <p:nvSpPr>
          <p:cNvPr id="8" name="Text 6"/>
          <p:cNvSpPr/>
          <p:nvPr/>
        </p:nvSpPr>
        <p:spPr>
          <a:xfrm>
            <a:off x="995438" y="3090602"/>
            <a:ext cx="4725356" cy="31167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AEEF3"/>
                </a:solidFill>
                <a:latin typeface="IBM Plex Sans" pitchFamily="34" charset="0"/>
                <a:ea typeface="IBM Plex Sans" pitchFamily="34" charset="-122"/>
                <a:cs typeface="IBM Plex Sans" pitchFamily="34" charset="-120"/>
              </a:rPr>
              <a:t>DoublePulsar behavior</a:t>
            </a:r>
            <a:endParaRPr lang="en-US" sz="1400" dirty="0"/>
          </a:p>
        </p:txBody>
      </p:sp>
      <p:sp>
        <p:nvSpPr>
          <p:cNvPr id="9" name="Text 7"/>
          <p:cNvSpPr/>
          <p:nvPr/>
        </p:nvSpPr>
        <p:spPr>
          <a:xfrm>
            <a:off x="995438" y="3414979"/>
            <a:ext cx="4725356" cy="262731"/>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A9B4C0"/>
                </a:solidFill>
                <a:latin typeface="IBM Plex Sans" pitchFamily="34" charset="0"/>
                <a:ea typeface="IBM Plex Sans" pitchFamily="34" charset="-122"/>
                <a:cs typeface="IBM Plex Sans" pitchFamily="34" charset="-120"/>
              </a:rPr>
              <a:t>Known kernel-implant ping/response on SMB</a:t>
            </a:r>
            <a:endParaRPr lang="en-US" sz="1250" dirty="0"/>
          </a:p>
        </p:txBody>
      </p:sp>
      <p:sp>
        <p:nvSpPr>
          <p:cNvPr id="10" name="Shape 8"/>
          <p:cNvSpPr/>
          <p:nvPr/>
        </p:nvSpPr>
        <p:spPr>
          <a:xfrm>
            <a:off x="815975" y="3927022"/>
            <a:ext cx="4946650" cy="869837"/>
          </a:xfrm>
          <a:prstGeom prst="roundRect">
            <a:avLst>
              <a:gd name="adj" fmla="val 9855"/>
            </a:avLst>
          </a:prstGeom>
          <a:solidFill>
            <a:srgbClr val="161D27"/>
          </a:solidFill>
          <a:ln w="6350">
            <a:solidFill>
              <a:srgbClr val="263142"/>
            </a:solidFill>
            <a:prstDash val="solid"/>
          </a:ln>
        </p:spPr>
      </p:sp>
      <p:sp>
        <p:nvSpPr>
          <p:cNvPr id="11" name="Text 9"/>
          <p:cNvSpPr/>
          <p:nvPr/>
        </p:nvSpPr>
        <p:spPr>
          <a:xfrm>
            <a:off x="995438" y="4081084"/>
            <a:ext cx="4725356" cy="31167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AEEF3"/>
                </a:solidFill>
                <a:latin typeface="IBM Plex Sans" pitchFamily="34" charset="0"/>
                <a:ea typeface="IBM Plex Sans" pitchFamily="34" charset="-122"/>
                <a:cs typeface="IBM Plex Sans" pitchFamily="34" charset="-120"/>
              </a:rPr>
              <a:t>Firmware drift</a:t>
            </a:r>
            <a:endParaRPr lang="en-US" sz="1400" dirty="0"/>
          </a:p>
        </p:txBody>
      </p:sp>
      <p:sp>
        <p:nvSpPr>
          <p:cNvPr id="12" name="Text 10"/>
          <p:cNvSpPr/>
          <p:nvPr/>
        </p:nvSpPr>
        <p:spPr>
          <a:xfrm>
            <a:off x="995438" y="4405468"/>
            <a:ext cx="4725356" cy="262731"/>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A9B4C0"/>
                </a:solidFill>
                <a:latin typeface="IBM Plex Sans" pitchFamily="34" charset="0"/>
                <a:ea typeface="IBM Plex Sans" pitchFamily="34" charset="-122"/>
                <a:cs typeface="IBM Plex Sans" pitchFamily="34" charset="-120"/>
              </a:rPr>
              <a:t>Disk firmware diverging from a known-good baseline</a:t>
            </a:r>
            <a:endParaRPr lang="en-US" sz="1250" dirty="0"/>
          </a:p>
        </p:txBody>
      </p:sp>
      <p:sp>
        <p:nvSpPr>
          <p:cNvPr id="13" name="Shape 11"/>
          <p:cNvSpPr/>
          <p:nvPr/>
        </p:nvSpPr>
        <p:spPr>
          <a:xfrm>
            <a:off x="815975" y="4917511"/>
            <a:ext cx="4946650" cy="869837"/>
          </a:xfrm>
          <a:prstGeom prst="roundRect">
            <a:avLst>
              <a:gd name="adj" fmla="val 9855"/>
            </a:avLst>
          </a:prstGeom>
          <a:solidFill>
            <a:srgbClr val="161D27"/>
          </a:solidFill>
          <a:ln w="6350">
            <a:solidFill>
              <a:srgbClr val="263142"/>
            </a:solidFill>
            <a:prstDash val="solid"/>
          </a:ln>
        </p:spPr>
      </p:sp>
      <p:sp>
        <p:nvSpPr>
          <p:cNvPr id="14" name="Text 12"/>
          <p:cNvSpPr/>
          <p:nvPr/>
        </p:nvSpPr>
        <p:spPr>
          <a:xfrm>
            <a:off x="995438" y="5071573"/>
            <a:ext cx="4725356" cy="31167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AEEF3"/>
                </a:solidFill>
                <a:latin typeface="IBM Plex Sans" pitchFamily="34" charset="0"/>
                <a:ea typeface="IBM Plex Sans" pitchFamily="34" charset="-122"/>
                <a:cs typeface="IBM Plex Sans" pitchFamily="34" charset="-120"/>
              </a:rPr>
              <a:t>Removable-media staging</a:t>
            </a:r>
            <a:endParaRPr lang="en-US" sz="1400" dirty="0"/>
          </a:p>
        </p:txBody>
      </p:sp>
      <p:sp>
        <p:nvSpPr>
          <p:cNvPr id="15" name="Text 13"/>
          <p:cNvSpPr/>
          <p:nvPr/>
        </p:nvSpPr>
        <p:spPr>
          <a:xfrm>
            <a:off x="995438" y="5395950"/>
            <a:ext cx="4725356" cy="262731"/>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A9B4C0"/>
                </a:solidFill>
                <a:latin typeface="IBM Plex Sans" pitchFamily="34" charset="0"/>
                <a:ea typeface="IBM Plex Sans" pitchFamily="34" charset="-122"/>
                <a:cs typeface="IBM Plex Sans" pitchFamily="34" charset="-120"/>
              </a:rPr>
              <a:t>Autorun or hidden-area execution from USB</a:t>
            </a:r>
            <a:endParaRPr lang="en-US" sz="1250" dirty="0"/>
          </a:p>
        </p:txBody>
      </p:sp>
      <p:sp>
        <p:nvSpPr>
          <p:cNvPr id="16" name="Shape 14"/>
          <p:cNvSpPr/>
          <p:nvPr/>
        </p:nvSpPr>
        <p:spPr>
          <a:xfrm>
            <a:off x="6022975" y="1946052"/>
            <a:ext cx="5353050" cy="3841297"/>
          </a:xfrm>
          <a:prstGeom prst="roundRect">
            <a:avLst>
              <a:gd name="adj" fmla="val 2562"/>
            </a:avLst>
          </a:prstGeom>
          <a:solidFill>
            <a:srgbClr val="0A0E13"/>
          </a:solidFill>
          <a:ln w="6350">
            <a:solidFill>
              <a:srgbClr val="2E4256"/>
            </a:solidFill>
            <a:prstDash val="solid"/>
          </a:ln>
        </p:spPr>
      </p:sp>
      <p:sp>
        <p:nvSpPr>
          <p:cNvPr id="17" name="Text 15"/>
          <p:cNvSpPr/>
          <p:nvPr/>
        </p:nvSpPr>
        <p:spPr>
          <a:xfrm>
            <a:off x="6240538" y="2150914"/>
            <a:ext cx="5065462" cy="288282"/>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0A45A"/>
                </a:solidFill>
                <a:latin typeface="JetBrains Mono" pitchFamily="49" charset="0"/>
                <a:ea typeface="JetBrains Mono" pitchFamily="49" charset="-122"/>
                <a:cs typeface="JetBrains Mono" pitchFamily="49" charset="-120"/>
              </a:rPr>
              <a:t>title: SMBv1 negotiation or</a:t>
            </a:r>
            <a:endParaRPr lang="en-US" sz="1200" dirty="0"/>
          </a:p>
        </p:txBody>
      </p:sp>
      <p:sp>
        <p:nvSpPr>
          <p:cNvPr id="18" name="Text 16"/>
          <p:cNvSpPr/>
          <p:nvPr/>
        </p:nvSpPr>
        <p:spPr>
          <a:xfrm>
            <a:off x="6240538" y="2413794"/>
            <a:ext cx="5065462" cy="288282"/>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0A45A"/>
                </a:solidFill>
                <a:latin typeface="JetBrains Mono" pitchFamily="49" charset="0"/>
                <a:ea typeface="JetBrains Mono" pitchFamily="49" charset="-122"/>
                <a:cs typeface="JetBrains Mono" pitchFamily="49" charset="-120"/>
              </a:rPr>
              <a:t>      exploitation indicators</a:t>
            </a:r>
            <a:endParaRPr lang="en-US" sz="1200" dirty="0"/>
          </a:p>
        </p:txBody>
      </p:sp>
      <p:sp>
        <p:nvSpPr>
          <p:cNvPr id="19" name="Text 17"/>
          <p:cNvSpPr/>
          <p:nvPr/>
        </p:nvSpPr>
        <p:spPr>
          <a:xfrm>
            <a:off x="6240538" y="2676680"/>
            <a:ext cx="5065462" cy="288282"/>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E9BAA"/>
                </a:solidFill>
                <a:latin typeface="JetBrains Mono" pitchFamily="49" charset="0"/>
                <a:ea typeface="JetBrains Mono" pitchFamily="49" charset="-122"/>
                <a:cs typeface="JetBrains Mono" pitchFamily="49" charset="-120"/>
              </a:rPr>
              <a:t>logsource:</a:t>
            </a:r>
            <a:endParaRPr lang="en-US" sz="1200" dirty="0"/>
          </a:p>
        </p:txBody>
      </p:sp>
      <p:sp>
        <p:nvSpPr>
          <p:cNvPr id="20" name="Text 18"/>
          <p:cNvSpPr/>
          <p:nvPr/>
        </p:nvSpPr>
        <p:spPr>
          <a:xfrm>
            <a:off x="6240538" y="2939560"/>
            <a:ext cx="5065462" cy="288282"/>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7D0DB"/>
                </a:solidFill>
                <a:latin typeface="JetBrains Mono" pitchFamily="49" charset="0"/>
                <a:ea typeface="JetBrains Mono" pitchFamily="49" charset="-122"/>
                <a:cs typeface="JetBrains Mono" pitchFamily="49" charset="-120"/>
              </a:rPr>
              <a:t>  category: network_connection</a:t>
            </a:r>
            <a:endParaRPr lang="en-US" sz="1200" dirty="0"/>
          </a:p>
        </p:txBody>
      </p:sp>
      <p:sp>
        <p:nvSpPr>
          <p:cNvPr id="21" name="Text 19"/>
          <p:cNvSpPr/>
          <p:nvPr/>
        </p:nvSpPr>
        <p:spPr>
          <a:xfrm>
            <a:off x="6240538" y="3202440"/>
            <a:ext cx="5065462" cy="288282"/>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E9BAA"/>
                </a:solidFill>
                <a:latin typeface="JetBrains Mono" pitchFamily="49" charset="0"/>
                <a:ea typeface="JetBrains Mono" pitchFamily="49" charset="-122"/>
                <a:cs typeface="JetBrains Mono" pitchFamily="49" charset="-120"/>
              </a:rPr>
              <a:t>detection:</a:t>
            </a:r>
            <a:endParaRPr lang="en-US" sz="1200" dirty="0"/>
          </a:p>
        </p:txBody>
      </p:sp>
      <p:sp>
        <p:nvSpPr>
          <p:cNvPr id="22" name="Text 20"/>
          <p:cNvSpPr/>
          <p:nvPr/>
        </p:nvSpPr>
        <p:spPr>
          <a:xfrm>
            <a:off x="6240538" y="3465326"/>
            <a:ext cx="5065462" cy="288282"/>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7D0DB"/>
                </a:solidFill>
                <a:latin typeface="JetBrains Mono" pitchFamily="49" charset="0"/>
                <a:ea typeface="JetBrains Mono" pitchFamily="49" charset="-122"/>
                <a:cs typeface="JetBrains Mono" pitchFamily="49" charset="-120"/>
              </a:rPr>
              <a:t>  smbv1_in_use:</a:t>
            </a:r>
            <a:endParaRPr lang="en-US" sz="1200" dirty="0"/>
          </a:p>
        </p:txBody>
      </p:sp>
      <p:sp>
        <p:nvSpPr>
          <p:cNvPr id="23" name="Text 21"/>
          <p:cNvSpPr/>
          <p:nvPr/>
        </p:nvSpPr>
        <p:spPr>
          <a:xfrm>
            <a:off x="6240538" y="3728207"/>
            <a:ext cx="5065462" cy="288282"/>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7D0DB"/>
                </a:solidFill>
                <a:latin typeface="JetBrains Mono" pitchFamily="49" charset="0"/>
                <a:ea typeface="JetBrains Mono" pitchFamily="49" charset="-122"/>
                <a:cs typeface="JetBrains Mono" pitchFamily="49" charset="-120"/>
              </a:rPr>
              <a:t>    DestinationPort: 445</a:t>
            </a:r>
            <a:endParaRPr lang="en-US" sz="1200" dirty="0"/>
          </a:p>
        </p:txBody>
      </p:sp>
      <p:sp>
        <p:nvSpPr>
          <p:cNvPr id="24" name="Text 22"/>
          <p:cNvSpPr/>
          <p:nvPr/>
        </p:nvSpPr>
        <p:spPr>
          <a:xfrm>
            <a:off x="6240538" y="3991087"/>
            <a:ext cx="5065462" cy="288282"/>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7D0DB"/>
                </a:solidFill>
                <a:latin typeface="JetBrains Mono" pitchFamily="49" charset="0"/>
                <a:ea typeface="JetBrains Mono" pitchFamily="49" charset="-122"/>
                <a:cs typeface="JetBrains Mono" pitchFamily="49" charset="-120"/>
              </a:rPr>
              <a:t>    Protocol: SMBv1</a:t>
            </a:r>
            <a:endParaRPr lang="en-US" sz="1200" dirty="0"/>
          </a:p>
        </p:txBody>
      </p:sp>
      <p:sp>
        <p:nvSpPr>
          <p:cNvPr id="25" name="Text 23"/>
          <p:cNvSpPr/>
          <p:nvPr/>
        </p:nvSpPr>
        <p:spPr>
          <a:xfrm>
            <a:off x="6240538" y="4253973"/>
            <a:ext cx="5065462" cy="288282"/>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7D0DB"/>
                </a:solidFill>
                <a:latin typeface="JetBrains Mono" pitchFamily="49" charset="0"/>
                <a:ea typeface="JetBrains Mono" pitchFamily="49" charset="-122"/>
                <a:cs typeface="JetBrains Mono" pitchFamily="49" charset="-120"/>
              </a:rPr>
              <a:t>  condition: smbv1_in_use</a:t>
            </a:r>
            <a:endParaRPr lang="en-US" sz="1200" dirty="0"/>
          </a:p>
        </p:txBody>
      </p:sp>
      <p:sp>
        <p:nvSpPr>
          <p:cNvPr id="26" name="Text 24"/>
          <p:cNvSpPr/>
          <p:nvPr/>
        </p:nvSpPr>
        <p:spPr>
          <a:xfrm>
            <a:off x="6240538" y="4516853"/>
            <a:ext cx="5065462" cy="288282"/>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0A45A"/>
                </a:solidFill>
                <a:latin typeface="JetBrains Mono" pitchFamily="49" charset="0"/>
                <a:ea typeface="JetBrains Mono" pitchFamily="49" charset="-122"/>
                <a:cs typeface="JetBrains Mono" pitchFamily="49" charset="-120"/>
              </a:rPr>
              <a:t>level: high</a:t>
            </a:r>
            <a:endParaRPr lang="en-US" sz="1200" dirty="0"/>
          </a:p>
        </p:txBody>
      </p:sp>
      <p:sp>
        <p:nvSpPr>
          <p:cNvPr id="27" name="Text 25"/>
          <p:cNvSpPr/>
          <p:nvPr/>
        </p:nvSpPr>
        <p:spPr>
          <a:xfrm>
            <a:off x="6240538" y="5020698"/>
            <a:ext cx="5065462" cy="266360"/>
          </a:xfrm>
          <a:prstGeom prst="rect">
            <a:avLst/>
          </a:prstGeom>
          <a:noFill/>
          <a:ln/>
        </p:spPr>
        <p:txBody>
          <a:bodyPr wrap="square" lIns="0" tIns="0" rIns="0" bIns="0" rtlCol="0" anchor="t">
            <a:normAutofit/>
          </a:bodyPr>
          <a:lstStyle/>
          <a:p>
            <a:pPr algn="l" indent="0" marL="0">
              <a:lnSpc>
                <a:spcPts val="1650"/>
              </a:lnSpc>
              <a:buNone/>
            </a:pPr>
            <a:r>
              <a:rPr lang="en-US" sz="1100" dirty="0">
                <a:solidFill>
                  <a:srgbClr val="7E8B9A"/>
                </a:solidFill>
                <a:latin typeface="JetBrains Mono" pitchFamily="49" charset="0"/>
                <a:ea typeface="JetBrains Mono" pitchFamily="49" charset="-122"/>
                <a:cs typeface="JetBrains Mono" pitchFamily="49" charset="-120"/>
              </a:rPr>
              <a:t># SMBv1 should not exist in a</a:t>
            </a:r>
            <a:endParaRPr lang="en-US" sz="1100" dirty="0"/>
          </a:p>
        </p:txBody>
      </p:sp>
      <p:sp>
        <p:nvSpPr>
          <p:cNvPr id="28" name="Text 26"/>
          <p:cNvSpPr/>
          <p:nvPr/>
        </p:nvSpPr>
        <p:spPr>
          <a:xfrm>
            <a:off x="6240538" y="5261657"/>
            <a:ext cx="5065462" cy="266360"/>
          </a:xfrm>
          <a:prstGeom prst="rect">
            <a:avLst/>
          </a:prstGeom>
          <a:noFill/>
          <a:ln/>
        </p:spPr>
        <p:txBody>
          <a:bodyPr wrap="square" lIns="0" tIns="0" rIns="0" bIns="0" rtlCol="0" anchor="t">
            <a:normAutofit/>
          </a:bodyPr>
          <a:lstStyle/>
          <a:p>
            <a:pPr algn="l" indent="0" marL="0">
              <a:lnSpc>
                <a:spcPts val="1650"/>
              </a:lnSpc>
              <a:buNone/>
            </a:pPr>
            <a:r>
              <a:rPr lang="en-US" sz="1100" dirty="0">
                <a:solidFill>
                  <a:srgbClr val="7E8B9A"/>
                </a:solidFill>
                <a:latin typeface="JetBrains Mono" pitchFamily="49" charset="0"/>
                <a:ea typeface="JetBrains Mono" pitchFamily="49" charset="-122"/>
                <a:cs typeface="JetBrains Mono" pitchFamily="49" charset="-120"/>
              </a:rPr>
              <a:t># modern environment.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41B"/>
        </a:solidFill>
      </p:bgPr>
    </p:bg>
    <p:spTree>
      <p:nvGrpSpPr>
        <p:cNvPr id="1" name=""/>
        <p:cNvGrpSpPr/>
        <p:nvPr/>
      </p:nvGrpSpPr>
      <p:grpSpPr>
        <a:xfrm>
          <a:off x="0" y="0"/>
          <a:ext cx="0" cy="0"/>
          <a:chOff x="0" y="0"/>
          <a:chExt cx="0" cy="0"/>
        </a:xfrm>
      </p:grpSpPr>
      <p:sp>
        <p:nvSpPr>
          <p:cNvPr id="2" name="Text 0"/>
          <p:cNvSpPr/>
          <p:nvPr/>
        </p:nvSpPr>
        <p:spPr>
          <a:xfrm>
            <a:off x="812800" y="812800"/>
            <a:ext cx="10883392" cy="231246"/>
          </a:xfrm>
          <a:prstGeom prst="rect">
            <a:avLst/>
          </a:prstGeom>
          <a:noFill/>
          <a:ln/>
        </p:spPr>
        <p:txBody>
          <a:bodyPr wrap="square" lIns="0" tIns="0" rIns="0" bIns="0" rtlCol="0" anchor="t">
            <a:normAutofit/>
          </a:bodyPr>
          <a:lstStyle/>
          <a:p>
            <a:pPr algn="l" indent="0" marL="0">
              <a:lnSpc>
                <a:spcPts val="1411"/>
              </a:lnSpc>
              <a:buNone/>
            </a:pPr>
            <a:r>
              <a:rPr lang="en-US" sz="1008" spc="150" kern="0" dirty="0">
                <a:solidFill>
                  <a:srgbClr val="E0A45A"/>
                </a:solidFill>
                <a:latin typeface="JetBrains Mono" pitchFamily="49" charset="0"/>
                <a:ea typeface="JetBrains Mono" pitchFamily="49" charset="-122"/>
                <a:cs typeface="JetBrains Mono" pitchFamily="49" charset="-120"/>
              </a:rPr>
              <a:t>MITRE ATT&amp;CK</a:t>
            </a:r>
            <a:endParaRPr lang="en-US" sz="1008" dirty="0"/>
          </a:p>
        </p:txBody>
      </p:sp>
      <p:sp>
        <p:nvSpPr>
          <p:cNvPr id="3" name="Text 1"/>
          <p:cNvSpPr/>
          <p:nvPr>
            <p:ph type="title"/>
          </p:nvPr>
        </p:nvSpPr>
        <p:spPr>
          <a:xfrm>
            <a:off x="812800" y="1107548"/>
            <a:ext cx="10883392" cy="452929"/>
          </a:xfrm>
          <a:prstGeom prst="rect">
            <a:avLst/>
          </a:prstGeom>
          <a:noFill/>
          <a:ln/>
        </p:spPr>
        <p:txBody>
          <a:bodyPr wrap="square" lIns="0" tIns="0" rIns="0" bIns="0" rtlCol="0" anchor="t">
            <a:normAutofit/>
          </a:bodyPr>
          <a:lstStyle/>
          <a:p>
            <a:pPr algn="l" indent="0" marL="0">
              <a:lnSpc>
                <a:spcPts val="2930"/>
              </a:lnSpc>
              <a:buNone/>
            </a:pPr>
            <a:r>
              <a:rPr lang="en-US" sz="2790" b="1" i="0" dirty="0">
                <a:solidFill>
                  <a:srgbClr val="EAEEF3"/>
                </a:solidFill>
                <a:latin typeface="IBM Plex Sans" pitchFamily="34" charset="0"/>
                <a:ea typeface="IBM Plex Sans" pitchFamily="34" charset="-122"/>
                <a:cs typeface="IBM Plex Sans" pitchFamily="34" charset="-120"/>
              </a:rPr>
              <a:t>Technique highlights</a:t>
            </a:r>
            <a:endParaRPr lang="en-US" sz="2790" dirty="0"/>
          </a:p>
        </p:txBody>
      </p:sp>
      <p:sp>
        <p:nvSpPr>
          <p:cNvPr id="4" name="Shape 2"/>
          <p:cNvSpPr/>
          <p:nvPr/>
        </p:nvSpPr>
        <p:spPr>
          <a:xfrm>
            <a:off x="815975" y="1817650"/>
            <a:ext cx="5207000" cy="728020"/>
          </a:xfrm>
          <a:prstGeom prst="roundRect">
            <a:avLst>
              <a:gd name="adj" fmla="val 11775"/>
            </a:avLst>
          </a:prstGeom>
          <a:solidFill>
            <a:srgbClr val="161D27"/>
          </a:solidFill>
          <a:ln w="6350">
            <a:solidFill>
              <a:srgbClr val="263142"/>
            </a:solidFill>
            <a:prstDash val="solid"/>
          </a:ln>
        </p:spPr>
      </p:sp>
      <p:sp>
        <p:nvSpPr>
          <p:cNvPr id="5" name="Text 3"/>
          <p:cNvSpPr/>
          <p:nvPr/>
        </p:nvSpPr>
        <p:spPr>
          <a:xfrm>
            <a:off x="1020838" y="1984412"/>
            <a:ext cx="4941192" cy="190878"/>
          </a:xfrm>
          <a:prstGeom prst="rect">
            <a:avLst/>
          </a:prstGeom>
          <a:noFill/>
          <a:ln/>
        </p:spPr>
        <p:txBody>
          <a:bodyPr wrap="square" lIns="0" tIns="0" rIns="0" bIns="0" rtlCol="0" anchor="t">
            <a:normAutofit/>
          </a:bodyPr>
          <a:lstStyle/>
          <a:p>
            <a:pPr algn="l" indent="0" marL="0">
              <a:lnSpc>
                <a:spcPts val="1149"/>
              </a:lnSpc>
              <a:buNone/>
            </a:pPr>
            <a:r>
              <a:rPr lang="en-US" sz="821" dirty="0">
                <a:solidFill>
                  <a:srgbClr val="E0A45A"/>
                </a:solidFill>
                <a:latin typeface="JetBrains Mono" pitchFamily="49" charset="0"/>
                <a:ea typeface="JetBrains Mono" pitchFamily="49" charset="-122"/>
                <a:cs typeface="JetBrains Mono" pitchFamily="49" charset="-120"/>
              </a:rPr>
              <a:t>T1195  ·  Initial Access</a:t>
            </a:r>
            <a:endParaRPr lang="en-US" sz="821" dirty="0"/>
          </a:p>
        </p:txBody>
      </p:sp>
      <p:sp>
        <p:nvSpPr>
          <p:cNvPr id="6" name="Text 4"/>
          <p:cNvSpPr/>
          <p:nvPr/>
        </p:nvSpPr>
        <p:spPr>
          <a:xfrm>
            <a:off x="1020838" y="2187990"/>
            <a:ext cx="4941192" cy="216316"/>
          </a:xfrm>
          <a:prstGeom prst="rect">
            <a:avLst/>
          </a:prstGeom>
          <a:noFill/>
          <a:ln/>
        </p:spPr>
        <p:txBody>
          <a:bodyPr wrap="square" lIns="0" tIns="0" rIns="0" bIns="0" rtlCol="0" anchor="t">
            <a:normAutofit/>
          </a:bodyPr>
          <a:lstStyle/>
          <a:p>
            <a:pPr algn="l" indent="0" marL="0">
              <a:lnSpc>
                <a:spcPts val="1326"/>
              </a:lnSpc>
              <a:buNone/>
            </a:pPr>
            <a:r>
              <a:rPr lang="en-US" sz="947" dirty="0">
                <a:solidFill>
                  <a:srgbClr val="EAEEF3"/>
                </a:solidFill>
                <a:latin typeface="IBM Plex Sans" pitchFamily="34" charset="0"/>
                <a:ea typeface="IBM Plex Sans" pitchFamily="34" charset="-122"/>
                <a:cs typeface="IBM Plex Sans" pitchFamily="34" charset="-120"/>
              </a:rPr>
              <a:t>Supply chain interdiction</a:t>
            </a:r>
            <a:endParaRPr lang="en-US" sz="947" dirty="0"/>
          </a:p>
        </p:txBody>
      </p:sp>
      <p:sp>
        <p:nvSpPr>
          <p:cNvPr id="7" name="Shape 5"/>
          <p:cNvSpPr/>
          <p:nvPr/>
        </p:nvSpPr>
        <p:spPr>
          <a:xfrm>
            <a:off x="6169025" y="1817650"/>
            <a:ext cx="5207000" cy="728020"/>
          </a:xfrm>
          <a:prstGeom prst="roundRect">
            <a:avLst>
              <a:gd name="adj" fmla="val 11775"/>
            </a:avLst>
          </a:prstGeom>
          <a:solidFill>
            <a:srgbClr val="161D27"/>
          </a:solidFill>
          <a:ln w="6350">
            <a:solidFill>
              <a:srgbClr val="263142"/>
            </a:solidFill>
            <a:prstDash val="solid"/>
          </a:ln>
        </p:spPr>
      </p:sp>
      <p:sp>
        <p:nvSpPr>
          <p:cNvPr id="8" name="Text 6"/>
          <p:cNvSpPr/>
          <p:nvPr/>
        </p:nvSpPr>
        <p:spPr>
          <a:xfrm>
            <a:off x="6373888" y="1984412"/>
            <a:ext cx="4941192" cy="190878"/>
          </a:xfrm>
          <a:prstGeom prst="rect">
            <a:avLst/>
          </a:prstGeom>
          <a:noFill/>
          <a:ln/>
        </p:spPr>
        <p:txBody>
          <a:bodyPr wrap="square" lIns="0" tIns="0" rIns="0" bIns="0" rtlCol="0" anchor="t">
            <a:normAutofit/>
          </a:bodyPr>
          <a:lstStyle/>
          <a:p>
            <a:pPr algn="l" indent="0" marL="0">
              <a:lnSpc>
                <a:spcPts val="1149"/>
              </a:lnSpc>
              <a:buNone/>
            </a:pPr>
            <a:r>
              <a:rPr lang="en-US" sz="821" dirty="0">
                <a:solidFill>
                  <a:srgbClr val="E0A45A"/>
                </a:solidFill>
                <a:latin typeface="JetBrains Mono" pitchFamily="49" charset="0"/>
                <a:ea typeface="JetBrains Mono" pitchFamily="49" charset="-122"/>
                <a:cs typeface="JetBrains Mono" pitchFamily="49" charset="-120"/>
              </a:rPr>
              <a:t>T1542.002  ·  Persistence</a:t>
            </a:r>
            <a:endParaRPr lang="en-US" sz="821" dirty="0"/>
          </a:p>
        </p:txBody>
      </p:sp>
      <p:sp>
        <p:nvSpPr>
          <p:cNvPr id="9" name="Text 7"/>
          <p:cNvSpPr/>
          <p:nvPr/>
        </p:nvSpPr>
        <p:spPr>
          <a:xfrm>
            <a:off x="6373888" y="2187990"/>
            <a:ext cx="4941192" cy="216316"/>
          </a:xfrm>
          <a:prstGeom prst="rect">
            <a:avLst/>
          </a:prstGeom>
          <a:noFill/>
          <a:ln/>
        </p:spPr>
        <p:txBody>
          <a:bodyPr wrap="square" lIns="0" tIns="0" rIns="0" bIns="0" rtlCol="0" anchor="t">
            <a:normAutofit/>
          </a:bodyPr>
          <a:lstStyle/>
          <a:p>
            <a:pPr algn="l" indent="0" marL="0">
              <a:lnSpc>
                <a:spcPts val="1326"/>
              </a:lnSpc>
              <a:buNone/>
            </a:pPr>
            <a:r>
              <a:rPr lang="en-US" sz="947" dirty="0">
                <a:solidFill>
                  <a:srgbClr val="EAEEF3"/>
                </a:solidFill>
                <a:latin typeface="IBM Plex Sans" pitchFamily="34" charset="0"/>
                <a:ea typeface="IBM Plex Sans" pitchFamily="34" charset="-122"/>
                <a:cs typeface="IBM Plex Sans" pitchFamily="34" charset="-120"/>
              </a:rPr>
              <a:t>Component firmware (IRATEMONK)</a:t>
            </a:r>
            <a:endParaRPr lang="en-US" sz="947" dirty="0"/>
          </a:p>
        </p:txBody>
      </p:sp>
      <p:sp>
        <p:nvSpPr>
          <p:cNvPr id="10" name="Shape 8"/>
          <p:cNvSpPr/>
          <p:nvPr/>
        </p:nvSpPr>
        <p:spPr>
          <a:xfrm>
            <a:off x="815975" y="2691718"/>
            <a:ext cx="5207000" cy="728020"/>
          </a:xfrm>
          <a:prstGeom prst="roundRect">
            <a:avLst>
              <a:gd name="adj" fmla="val 11775"/>
            </a:avLst>
          </a:prstGeom>
          <a:solidFill>
            <a:srgbClr val="161D27"/>
          </a:solidFill>
          <a:ln w="6350">
            <a:solidFill>
              <a:srgbClr val="263142"/>
            </a:solidFill>
            <a:prstDash val="solid"/>
          </a:ln>
        </p:spPr>
      </p:sp>
      <p:sp>
        <p:nvSpPr>
          <p:cNvPr id="11" name="Text 9"/>
          <p:cNvSpPr/>
          <p:nvPr/>
        </p:nvSpPr>
        <p:spPr>
          <a:xfrm>
            <a:off x="1020838" y="2858486"/>
            <a:ext cx="4941192" cy="190878"/>
          </a:xfrm>
          <a:prstGeom prst="rect">
            <a:avLst/>
          </a:prstGeom>
          <a:noFill/>
          <a:ln/>
        </p:spPr>
        <p:txBody>
          <a:bodyPr wrap="square" lIns="0" tIns="0" rIns="0" bIns="0" rtlCol="0" anchor="t">
            <a:normAutofit/>
          </a:bodyPr>
          <a:lstStyle/>
          <a:p>
            <a:pPr algn="l" indent="0" marL="0">
              <a:lnSpc>
                <a:spcPts val="1149"/>
              </a:lnSpc>
              <a:buNone/>
            </a:pPr>
            <a:r>
              <a:rPr lang="en-US" sz="821" dirty="0">
                <a:solidFill>
                  <a:srgbClr val="E0A45A"/>
                </a:solidFill>
                <a:latin typeface="JetBrains Mono" pitchFamily="49" charset="0"/>
                <a:ea typeface="JetBrains Mono" pitchFamily="49" charset="-122"/>
                <a:cs typeface="JetBrains Mono" pitchFamily="49" charset="-120"/>
              </a:rPr>
              <a:t>T1480  ·  Defense Evasion</a:t>
            </a:r>
            <a:endParaRPr lang="en-US" sz="821" dirty="0"/>
          </a:p>
        </p:txBody>
      </p:sp>
      <p:sp>
        <p:nvSpPr>
          <p:cNvPr id="12" name="Text 10"/>
          <p:cNvSpPr/>
          <p:nvPr/>
        </p:nvSpPr>
        <p:spPr>
          <a:xfrm>
            <a:off x="1020838" y="3062064"/>
            <a:ext cx="4941192" cy="216316"/>
          </a:xfrm>
          <a:prstGeom prst="rect">
            <a:avLst/>
          </a:prstGeom>
          <a:noFill/>
          <a:ln/>
        </p:spPr>
        <p:txBody>
          <a:bodyPr wrap="square" lIns="0" tIns="0" rIns="0" bIns="0" rtlCol="0" anchor="t">
            <a:normAutofit/>
          </a:bodyPr>
          <a:lstStyle/>
          <a:p>
            <a:pPr algn="l" indent="0" marL="0">
              <a:lnSpc>
                <a:spcPts val="1326"/>
              </a:lnSpc>
              <a:buNone/>
            </a:pPr>
            <a:r>
              <a:rPr lang="en-US" sz="947" dirty="0">
                <a:solidFill>
                  <a:srgbClr val="EAEEF3"/>
                </a:solidFill>
                <a:latin typeface="IBM Plex Sans" pitchFamily="34" charset="0"/>
                <a:ea typeface="IBM Plex Sans" pitchFamily="34" charset="-122"/>
                <a:cs typeface="IBM Plex Sans" pitchFamily="34" charset="-120"/>
              </a:rPr>
              <a:t>Execution guardrails / keying</a:t>
            </a:r>
            <a:endParaRPr lang="en-US" sz="947" dirty="0"/>
          </a:p>
        </p:txBody>
      </p:sp>
      <p:sp>
        <p:nvSpPr>
          <p:cNvPr id="13" name="Shape 11"/>
          <p:cNvSpPr/>
          <p:nvPr/>
        </p:nvSpPr>
        <p:spPr>
          <a:xfrm>
            <a:off x="6169025" y="2691718"/>
            <a:ext cx="5207000" cy="728020"/>
          </a:xfrm>
          <a:prstGeom prst="roundRect">
            <a:avLst>
              <a:gd name="adj" fmla="val 11775"/>
            </a:avLst>
          </a:prstGeom>
          <a:solidFill>
            <a:srgbClr val="161D27"/>
          </a:solidFill>
          <a:ln w="6350">
            <a:solidFill>
              <a:srgbClr val="263142"/>
            </a:solidFill>
            <a:prstDash val="solid"/>
          </a:ln>
        </p:spPr>
      </p:sp>
      <p:sp>
        <p:nvSpPr>
          <p:cNvPr id="14" name="Text 12"/>
          <p:cNvSpPr/>
          <p:nvPr/>
        </p:nvSpPr>
        <p:spPr>
          <a:xfrm>
            <a:off x="6373888" y="2858486"/>
            <a:ext cx="4941192" cy="190878"/>
          </a:xfrm>
          <a:prstGeom prst="rect">
            <a:avLst/>
          </a:prstGeom>
          <a:noFill/>
          <a:ln/>
        </p:spPr>
        <p:txBody>
          <a:bodyPr wrap="square" lIns="0" tIns="0" rIns="0" bIns="0" rtlCol="0" anchor="t">
            <a:normAutofit/>
          </a:bodyPr>
          <a:lstStyle/>
          <a:p>
            <a:pPr algn="l" indent="0" marL="0">
              <a:lnSpc>
                <a:spcPts val="1149"/>
              </a:lnSpc>
              <a:buNone/>
            </a:pPr>
            <a:r>
              <a:rPr lang="en-US" sz="821" dirty="0">
                <a:solidFill>
                  <a:srgbClr val="E0A45A"/>
                </a:solidFill>
                <a:latin typeface="JetBrains Mono" pitchFamily="49" charset="0"/>
                <a:ea typeface="JetBrains Mono" pitchFamily="49" charset="-122"/>
                <a:cs typeface="JetBrains Mono" pitchFamily="49" charset="-120"/>
              </a:rPr>
              <a:t>T1027  ·  Defense Evasion</a:t>
            </a:r>
            <a:endParaRPr lang="en-US" sz="821" dirty="0"/>
          </a:p>
        </p:txBody>
      </p:sp>
      <p:sp>
        <p:nvSpPr>
          <p:cNvPr id="15" name="Text 13"/>
          <p:cNvSpPr/>
          <p:nvPr/>
        </p:nvSpPr>
        <p:spPr>
          <a:xfrm>
            <a:off x="6373888" y="3062064"/>
            <a:ext cx="4941192" cy="216316"/>
          </a:xfrm>
          <a:prstGeom prst="rect">
            <a:avLst/>
          </a:prstGeom>
          <a:noFill/>
          <a:ln/>
        </p:spPr>
        <p:txBody>
          <a:bodyPr wrap="square" lIns="0" tIns="0" rIns="0" bIns="0" rtlCol="0" anchor="t">
            <a:normAutofit/>
          </a:bodyPr>
          <a:lstStyle/>
          <a:p>
            <a:pPr algn="l" indent="0" marL="0">
              <a:lnSpc>
                <a:spcPts val="1326"/>
              </a:lnSpc>
              <a:buNone/>
            </a:pPr>
            <a:r>
              <a:rPr lang="en-US" sz="947" dirty="0">
                <a:solidFill>
                  <a:srgbClr val="EAEEF3"/>
                </a:solidFill>
                <a:latin typeface="IBM Plex Sans" pitchFamily="34" charset="0"/>
                <a:ea typeface="IBM Plex Sans" pitchFamily="34" charset="-122"/>
                <a:cs typeface="IBM Plex Sans" pitchFamily="34" charset="-120"/>
              </a:rPr>
              <a:t>Obfuscation / heavy encryption</a:t>
            </a:r>
            <a:endParaRPr lang="en-US" sz="947" dirty="0"/>
          </a:p>
        </p:txBody>
      </p:sp>
      <p:sp>
        <p:nvSpPr>
          <p:cNvPr id="16" name="Shape 14"/>
          <p:cNvSpPr/>
          <p:nvPr/>
        </p:nvSpPr>
        <p:spPr>
          <a:xfrm>
            <a:off x="815975" y="3565792"/>
            <a:ext cx="5207000" cy="728020"/>
          </a:xfrm>
          <a:prstGeom prst="roundRect">
            <a:avLst>
              <a:gd name="adj" fmla="val 11775"/>
            </a:avLst>
          </a:prstGeom>
          <a:solidFill>
            <a:srgbClr val="161D27"/>
          </a:solidFill>
          <a:ln w="6350">
            <a:solidFill>
              <a:srgbClr val="263142"/>
            </a:solidFill>
            <a:prstDash val="solid"/>
          </a:ln>
        </p:spPr>
      </p:sp>
      <p:sp>
        <p:nvSpPr>
          <p:cNvPr id="17" name="Text 15"/>
          <p:cNvSpPr/>
          <p:nvPr/>
        </p:nvSpPr>
        <p:spPr>
          <a:xfrm>
            <a:off x="1020838" y="3732554"/>
            <a:ext cx="4941192" cy="190878"/>
          </a:xfrm>
          <a:prstGeom prst="rect">
            <a:avLst/>
          </a:prstGeom>
          <a:noFill/>
          <a:ln/>
        </p:spPr>
        <p:txBody>
          <a:bodyPr wrap="square" lIns="0" tIns="0" rIns="0" bIns="0" rtlCol="0" anchor="t">
            <a:normAutofit/>
          </a:bodyPr>
          <a:lstStyle/>
          <a:p>
            <a:pPr algn="l" indent="0" marL="0">
              <a:lnSpc>
                <a:spcPts val="1149"/>
              </a:lnSpc>
              <a:buNone/>
            </a:pPr>
            <a:r>
              <a:rPr lang="en-US" sz="821" dirty="0">
                <a:solidFill>
                  <a:srgbClr val="E0A45A"/>
                </a:solidFill>
                <a:latin typeface="JetBrains Mono" pitchFamily="49" charset="0"/>
                <a:ea typeface="JetBrains Mono" pitchFamily="49" charset="-122"/>
                <a:cs typeface="JetBrains Mono" pitchFamily="49" charset="-120"/>
              </a:rPr>
              <a:t>T1564  ·  Defense Evasion</a:t>
            </a:r>
            <a:endParaRPr lang="en-US" sz="821" dirty="0"/>
          </a:p>
        </p:txBody>
      </p:sp>
      <p:sp>
        <p:nvSpPr>
          <p:cNvPr id="18" name="Text 16"/>
          <p:cNvSpPr/>
          <p:nvPr/>
        </p:nvSpPr>
        <p:spPr>
          <a:xfrm>
            <a:off x="1020838" y="3936132"/>
            <a:ext cx="4941192" cy="216316"/>
          </a:xfrm>
          <a:prstGeom prst="rect">
            <a:avLst/>
          </a:prstGeom>
          <a:noFill/>
          <a:ln/>
        </p:spPr>
        <p:txBody>
          <a:bodyPr wrap="square" lIns="0" tIns="0" rIns="0" bIns="0" rtlCol="0" anchor="t">
            <a:normAutofit/>
          </a:bodyPr>
          <a:lstStyle/>
          <a:p>
            <a:pPr algn="l" indent="0" marL="0">
              <a:lnSpc>
                <a:spcPts val="1326"/>
              </a:lnSpc>
              <a:buNone/>
            </a:pPr>
            <a:r>
              <a:rPr lang="en-US" sz="947" dirty="0">
                <a:solidFill>
                  <a:srgbClr val="EAEEF3"/>
                </a:solidFill>
                <a:latin typeface="IBM Plex Sans" pitchFamily="34" charset="0"/>
                <a:ea typeface="IBM Plex Sans" pitchFamily="34" charset="-122"/>
                <a:cs typeface="IBM Plex Sans" pitchFamily="34" charset="-120"/>
              </a:rPr>
              <a:t>Hidden encrypted filesystems</a:t>
            </a:r>
            <a:endParaRPr lang="en-US" sz="947" dirty="0"/>
          </a:p>
        </p:txBody>
      </p:sp>
      <p:sp>
        <p:nvSpPr>
          <p:cNvPr id="19" name="Shape 17"/>
          <p:cNvSpPr/>
          <p:nvPr/>
        </p:nvSpPr>
        <p:spPr>
          <a:xfrm>
            <a:off x="6169025" y="3565792"/>
            <a:ext cx="5207000" cy="728020"/>
          </a:xfrm>
          <a:prstGeom prst="roundRect">
            <a:avLst>
              <a:gd name="adj" fmla="val 11775"/>
            </a:avLst>
          </a:prstGeom>
          <a:solidFill>
            <a:srgbClr val="161D27"/>
          </a:solidFill>
          <a:ln w="6350">
            <a:solidFill>
              <a:srgbClr val="263142"/>
            </a:solidFill>
            <a:prstDash val="solid"/>
          </a:ln>
        </p:spPr>
      </p:sp>
      <p:sp>
        <p:nvSpPr>
          <p:cNvPr id="20" name="Text 18"/>
          <p:cNvSpPr/>
          <p:nvPr/>
        </p:nvSpPr>
        <p:spPr>
          <a:xfrm>
            <a:off x="6373888" y="3732554"/>
            <a:ext cx="4941192" cy="190878"/>
          </a:xfrm>
          <a:prstGeom prst="rect">
            <a:avLst/>
          </a:prstGeom>
          <a:noFill/>
          <a:ln/>
        </p:spPr>
        <p:txBody>
          <a:bodyPr wrap="square" lIns="0" tIns="0" rIns="0" bIns="0" rtlCol="0" anchor="t">
            <a:normAutofit/>
          </a:bodyPr>
          <a:lstStyle/>
          <a:p>
            <a:pPr algn="l" indent="0" marL="0">
              <a:lnSpc>
                <a:spcPts val="1149"/>
              </a:lnSpc>
              <a:buNone/>
            </a:pPr>
            <a:r>
              <a:rPr lang="en-US" sz="821" dirty="0">
                <a:solidFill>
                  <a:srgbClr val="E0A45A"/>
                </a:solidFill>
                <a:latin typeface="JetBrains Mono" pitchFamily="49" charset="0"/>
                <a:ea typeface="JetBrains Mono" pitchFamily="49" charset="-122"/>
                <a:cs typeface="JetBrains Mono" pitchFamily="49" charset="-120"/>
              </a:rPr>
              <a:t>T1014  ·  Defense Evasion</a:t>
            </a:r>
            <a:endParaRPr lang="en-US" sz="821" dirty="0"/>
          </a:p>
        </p:txBody>
      </p:sp>
      <p:sp>
        <p:nvSpPr>
          <p:cNvPr id="21" name="Text 19"/>
          <p:cNvSpPr/>
          <p:nvPr/>
        </p:nvSpPr>
        <p:spPr>
          <a:xfrm>
            <a:off x="6373888" y="3936132"/>
            <a:ext cx="4941192" cy="216316"/>
          </a:xfrm>
          <a:prstGeom prst="rect">
            <a:avLst/>
          </a:prstGeom>
          <a:noFill/>
          <a:ln/>
        </p:spPr>
        <p:txBody>
          <a:bodyPr wrap="square" lIns="0" tIns="0" rIns="0" bIns="0" rtlCol="0" anchor="t">
            <a:normAutofit/>
          </a:bodyPr>
          <a:lstStyle/>
          <a:p>
            <a:pPr algn="l" indent="0" marL="0">
              <a:lnSpc>
                <a:spcPts val="1326"/>
              </a:lnSpc>
              <a:buNone/>
            </a:pPr>
            <a:r>
              <a:rPr lang="en-US" sz="947" dirty="0">
                <a:solidFill>
                  <a:srgbClr val="EAEEF3"/>
                </a:solidFill>
                <a:latin typeface="IBM Plex Sans" pitchFamily="34" charset="0"/>
                <a:ea typeface="IBM Plex Sans" pitchFamily="34" charset="-122"/>
                <a:cs typeface="IBM Plex Sans" pitchFamily="34" charset="-120"/>
              </a:rPr>
              <a:t>Rootkit / sub-OS concealment</a:t>
            </a:r>
            <a:endParaRPr lang="en-US" sz="947" dirty="0"/>
          </a:p>
        </p:txBody>
      </p:sp>
      <p:sp>
        <p:nvSpPr>
          <p:cNvPr id="22" name="Shape 20"/>
          <p:cNvSpPr/>
          <p:nvPr/>
        </p:nvSpPr>
        <p:spPr>
          <a:xfrm>
            <a:off x="815975" y="4439859"/>
            <a:ext cx="5207000" cy="728058"/>
          </a:xfrm>
          <a:prstGeom prst="roundRect">
            <a:avLst>
              <a:gd name="adj" fmla="val 11774"/>
            </a:avLst>
          </a:prstGeom>
          <a:solidFill>
            <a:srgbClr val="161D27"/>
          </a:solidFill>
          <a:ln w="6350">
            <a:solidFill>
              <a:srgbClr val="263142"/>
            </a:solidFill>
            <a:prstDash val="solid"/>
          </a:ln>
        </p:spPr>
      </p:sp>
      <p:sp>
        <p:nvSpPr>
          <p:cNvPr id="23" name="Text 21"/>
          <p:cNvSpPr/>
          <p:nvPr/>
        </p:nvSpPr>
        <p:spPr>
          <a:xfrm>
            <a:off x="1020838" y="4606621"/>
            <a:ext cx="4941192" cy="190878"/>
          </a:xfrm>
          <a:prstGeom prst="rect">
            <a:avLst/>
          </a:prstGeom>
          <a:noFill/>
          <a:ln/>
        </p:spPr>
        <p:txBody>
          <a:bodyPr wrap="square" lIns="0" tIns="0" rIns="0" bIns="0" rtlCol="0" anchor="t">
            <a:normAutofit/>
          </a:bodyPr>
          <a:lstStyle/>
          <a:p>
            <a:pPr algn="l" indent="0" marL="0">
              <a:lnSpc>
                <a:spcPts val="1149"/>
              </a:lnSpc>
              <a:buNone/>
            </a:pPr>
            <a:r>
              <a:rPr lang="en-US" sz="821" dirty="0">
                <a:solidFill>
                  <a:srgbClr val="E0A45A"/>
                </a:solidFill>
                <a:latin typeface="JetBrains Mono" pitchFamily="49" charset="0"/>
                <a:ea typeface="JetBrains Mono" pitchFamily="49" charset="-122"/>
                <a:cs typeface="JetBrains Mono" pitchFamily="49" charset="-120"/>
              </a:rPr>
              <a:t>T1091  ·  Lateral Movement</a:t>
            </a:r>
            <a:endParaRPr lang="en-US" sz="821" dirty="0"/>
          </a:p>
        </p:txBody>
      </p:sp>
      <p:sp>
        <p:nvSpPr>
          <p:cNvPr id="24" name="Text 22"/>
          <p:cNvSpPr/>
          <p:nvPr/>
        </p:nvSpPr>
        <p:spPr>
          <a:xfrm>
            <a:off x="1020838" y="4810199"/>
            <a:ext cx="4941192" cy="216354"/>
          </a:xfrm>
          <a:prstGeom prst="rect">
            <a:avLst/>
          </a:prstGeom>
          <a:noFill/>
          <a:ln/>
        </p:spPr>
        <p:txBody>
          <a:bodyPr wrap="square" lIns="0" tIns="0" rIns="0" bIns="0" rtlCol="0" anchor="t">
            <a:normAutofit/>
          </a:bodyPr>
          <a:lstStyle/>
          <a:p>
            <a:pPr algn="l" indent="0" marL="0">
              <a:lnSpc>
                <a:spcPts val="1326"/>
              </a:lnSpc>
              <a:buNone/>
            </a:pPr>
            <a:r>
              <a:rPr lang="en-US" sz="947" dirty="0">
                <a:solidFill>
                  <a:srgbClr val="EAEEF3"/>
                </a:solidFill>
                <a:latin typeface="IBM Plex Sans" pitchFamily="34" charset="0"/>
                <a:ea typeface="IBM Plex Sans" pitchFamily="34" charset="-122"/>
                <a:cs typeface="IBM Plex Sans" pitchFamily="34" charset="-120"/>
              </a:rPr>
              <a:t>Replication via removable media</a:t>
            </a:r>
            <a:endParaRPr lang="en-US" sz="947" dirty="0"/>
          </a:p>
        </p:txBody>
      </p:sp>
      <p:sp>
        <p:nvSpPr>
          <p:cNvPr id="25" name="Shape 23"/>
          <p:cNvSpPr/>
          <p:nvPr/>
        </p:nvSpPr>
        <p:spPr>
          <a:xfrm>
            <a:off x="6169025" y="4439859"/>
            <a:ext cx="5207000" cy="728058"/>
          </a:xfrm>
          <a:prstGeom prst="roundRect">
            <a:avLst>
              <a:gd name="adj" fmla="val 11774"/>
            </a:avLst>
          </a:prstGeom>
          <a:solidFill>
            <a:srgbClr val="161D27"/>
          </a:solidFill>
          <a:ln w="6350">
            <a:solidFill>
              <a:srgbClr val="263142"/>
            </a:solidFill>
            <a:prstDash val="solid"/>
          </a:ln>
        </p:spPr>
      </p:sp>
      <p:sp>
        <p:nvSpPr>
          <p:cNvPr id="26" name="Text 24"/>
          <p:cNvSpPr/>
          <p:nvPr/>
        </p:nvSpPr>
        <p:spPr>
          <a:xfrm>
            <a:off x="6373888" y="4606621"/>
            <a:ext cx="4941192" cy="190878"/>
          </a:xfrm>
          <a:prstGeom prst="rect">
            <a:avLst/>
          </a:prstGeom>
          <a:noFill/>
          <a:ln/>
        </p:spPr>
        <p:txBody>
          <a:bodyPr wrap="square" lIns="0" tIns="0" rIns="0" bIns="0" rtlCol="0" anchor="t">
            <a:normAutofit/>
          </a:bodyPr>
          <a:lstStyle/>
          <a:p>
            <a:pPr algn="l" indent="0" marL="0">
              <a:lnSpc>
                <a:spcPts val="1149"/>
              </a:lnSpc>
              <a:buNone/>
            </a:pPr>
            <a:r>
              <a:rPr lang="en-US" sz="821" dirty="0">
                <a:solidFill>
                  <a:srgbClr val="E0A45A"/>
                </a:solidFill>
                <a:latin typeface="JetBrains Mono" pitchFamily="49" charset="0"/>
                <a:ea typeface="JetBrains Mono" pitchFamily="49" charset="-122"/>
                <a:cs typeface="JetBrains Mono" pitchFamily="49" charset="-120"/>
              </a:rPr>
              <a:t>T1092  ·  Command &amp; Control</a:t>
            </a:r>
            <a:endParaRPr lang="en-US" sz="821" dirty="0"/>
          </a:p>
        </p:txBody>
      </p:sp>
      <p:sp>
        <p:nvSpPr>
          <p:cNvPr id="27" name="Text 25"/>
          <p:cNvSpPr/>
          <p:nvPr/>
        </p:nvSpPr>
        <p:spPr>
          <a:xfrm>
            <a:off x="6373888" y="4810199"/>
            <a:ext cx="4941192" cy="216354"/>
          </a:xfrm>
          <a:prstGeom prst="rect">
            <a:avLst/>
          </a:prstGeom>
          <a:noFill/>
          <a:ln/>
        </p:spPr>
        <p:txBody>
          <a:bodyPr wrap="square" lIns="0" tIns="0" rIns="0" bIns="0" rtlCol="0" anchor="t">
            <a:normAutofit/>
          </a:bodyPr>
          <a:lstStyle/>
          <a:p>
            <a:pPr algn="l" indent="0" marL="0">
              <a:lnSpc>
                <a:spcPts val="1326"/>
              </a:lnSpc>
              <a:buNone/>
            </a:pPr>
            <a:r>
              <a:rPr lang="en-US" sz="947" dirty="0">
                <a:solidFill>
                  <a:srgbClr val="EAEEF3"/>
                </a:solidFill>
                <a:latin typeface="IBM Plex Sans" pitchFamily="34" charset="0"/>
                <a:ea typeface="IBM Plex Sans" pitchFamily="34" charset="-122"/>
                <a:cs typeface="IBM Plex Sans" pitchFamily="34" charset="-120"/>
              </a:rPr>
              <a:t>Comms through removable media</a:t>
            </a:r>
            <a:endParaRPr lang="en-US" sz="947" dirty="0"/>
          </a:p>
        </p:txBody>
      </p:sp>
      <p:sp>
        <p:nvSpPr>
          <p:cNvPr id="28" name="Shape 26"/>
          <p:cNvSpPr/>
          <p:nvPr/>
        </p:nvSpPr>
        <p:spPr>
          <a:xfrm>
            <a:off x="815975" y="5313970"/>
            <a:ext cx="5207000" cy="728058"/>
          </a:xfrm>
          <a:prstGeom prst="roundRect">
            <a:avLst>
              <a:gd name="adj" fmla="val 11774"/>
            </a:avLst>
          </a:prstGeom>
          <a:solidFill>
            <a:srgbClr val="161D27"/>
          </a:solidFill>
          <a:ln w="6350">
            <a:solidFill>
              <a:srgbClr val="263142"/>
            </a:solidFill>
            <a:prstDash val="solid"/>
          </a:ln>
        </p:spPr>
      </p:sp>
      <p:sp>
        <p:nvSpPr>
          <p:cNvPr id="29" name="Text 27"/>
          <p:cNvSpPr/>
          <p:nvPr/>
        </p:nvSpPr>
        <p:spPr>
          <a:xfrm>
            <a:off x="1020838" y="5480732"/>
            <a:ext cx="4941192" cy="190878"/>
          </a:xfrm>
          <a:prstGeom prst="rect">
            <a:avLst/>
          </a:prstGeom>
          <a:noFill/>
          <a:ln/>
        </p:spPr>
        <p:txBody>
          <a:bodyPr wrap="square" lIns="0" tIns="0" rIns="0" bIns="0" rtlCol="0" anchor="t">
            <a:normAutofit/>
          </a:bodyPr>
          <a:lstStyle/>
          <a:p>
            <a:pPr algn="l" indent="0" marL="0">
              <a:lnSpc>
                <a:spcPts val="1149"/>
              </a:lnSpc>
              <a:buNone/>
            </a:pPr>
            <a:r>
              <a:rPr lang="en-US" sz="821" dirty="0">
                <a:solidFill>
                  <a:srgbClr val="E0A45A"/>
                </a:solidFill>
                <a:latin typeface="JetBrains Mono" pitchFamily="49" charset="0"/>
                <a:ea typeface="JetBrains Mono" pitchFamily="49" charset="-122"/>
                <a:cs typeface="JetBrains Mono" pitchFamily="49" charset="-120"/>
              </a:rPr>
              <a:t>T1210  ·  Lateral Movement</a:t>
            </a:r>
            <a:endParaRPr lang="en-US" sz="821" dirty="0"/>
          </a:p>
        </p:txBody>
      </p:sp>
      <p:sp>
        <p:nvSpPr>
          <p:cNvPr id="30" name="Text 28"/>
          <p:cNvSpPr/>
          <p:nvPr/>
        </p:nvSpPr>
        <p:spPr>
          <a:xfrm>
            <a:off x="1020838" y="5684310"/>
            <a:ext cx="4941192" cy="216354"/>
          </a:xfrm>
          <a:prstGeom prst="rect">
            <a:avLst/>
          </a:prstGeom>
          <a:noFill/>
          <a:ln/>
        </p:spPr>
        <p:txBody>
          <a:bodyPr wrap="square" lIns="0" tIns="0" rIns="0" bIns="0" rtlCol="0" anchor="t">
            <a:normAutofit/>
          </a:bodyPr>
          <a:lstStyle/>
          <a:p>
            <a:pPr algn="l" indent="0" marL="0">
              <a:lnSpc>
                <a:spcPts val="1326"/>
              </a:lnSpc>
              <a:buNone/>
            </a:pPr>
            <a:r>
              <a:rPr lang="en-US" sz="947" dirty="0">
                <a:solidFill>
                  <a:srgbClr val="EAEEF3"/>
                </a:solidFill>
                <a:latin typeface="IBM Plex Sans" pitchFamily="34" charset="0"/>
                <a:ea typeface="IBM Plex Sans" pitchFamily="34" charset="-122"/>
                <a:cs typeface="IBM Plex Sans" pitchFamily="34" charset="-120"/>
              </a:rPr>
              <a:t>Exploit of remote services (SMB)</a:t>
            </a:r>
            <a:endParaRPr lang="en-US" sz="947" dirty="0"/>
          </a:p>
        </p:txBody>
      </p:sp>
      <p:sp>
        <p:nvSpPr>
          <p:cNvPr id="31" name="Shape 29"/>
          <p:cNvSpPr/>
          <p:nvPr/>
        </p:nvSpPr>
        <p:spPr>
          <a:xfrm>
            <a:off x="6169025" y="5313970"/>
            <a:ext cx="5207000" cy="728058"/>
          </a:xfrm>
          <a:prstGeom prst="roundRect">
            <a:avLst>
              <a:gd name="adj" fmla="val 11774"/>
            </a:avLst>
          </a:prstGeom>
          <a:solidFill>
            <a:srgbClr val="161D27"/>
          </a:solidFill>
          <a:ln w="6350">
            <a:solidFill>
              <a:srgbClr val="263142"/>
            </a:solidFill>
            <a:prstDash val="solid"/>
          </a:ln>
        </p:spPr>
      </p:sp>
      <p:sp>
        <p:nvSpPr>
          <p:cNvPr id="32" name="Text 30"/>
          <p:cNvSpPr/>
          <p:nvPr/>
        </p:nvSpPr>
        <p:spPr>
          <a:xfrm>
            <a:off x="6373888" y="5480732"/>
            <a:ext cx="4941192" cy="190878"/>
          </a:xfrm>
          <a:prstGeom prst="rect">
            <a:avLst/>
          </a:prstGeom>
          <a:noFill/>
          <a:ln/>
        </p:spPr>
        <p:txBody>
          <a:bodyPr wrap="square" lIns="0" tIns="0" rIns="0" bIns="0" rtlCol="0" anchor="t">
            <a:normAutofit/>
          </a:bodyPr>
          <a:lstStyle/>
          <a:p>
            <a:pPr algn="l" indent="0" marL="0">
              <a:lnSpc>
                <a:spcPts val="1149"/>
              </a:lnSpc>
              <a:buNone/>
            </a:pPr>
            <a:r>
              <a:rPr lang="en-US" sz="821" dirty="0">
                <a:solidFill>
                  <a:srgbClr val="E0A45A"/>
                </a:solidFill>
                <a:latin typeface="JetBrains Mono" pitchFamily="49" charset="0"/>
                <a:ea typeface="JetBrains Mono" pitchFamily="49" charset="-122"/>
                <a:cs typeface="JetBrains Mono" pitchFamily="49" charset="-120"/>
              </a:rPr>
              <a:t>T1041  ·  Exfiltration</a:t>
            </a:r>
            <a:endParaRPr lang="en-US" sz="821" dirty="0"/>
          </a:p>
        </p:txBody>
      </p:sp>
      <p:sp>
        <p:nvSpPr>
          <p:cNvPr id="33" name="Text 31"/>
          <p:cNvSpPr/>
          <p:nvPr/>
        </p:nvSpPr>
        <p:spPr>
          <a:xfrm>
            <a:off x="6373888" y="5684310"/>
            <a:ext cx="4941192" cy="216354"/>
          </a:xfrm>
          <a:prstGeom prst="rect">
            <a:avLst/>
          </a:prstGeom>
          <a:noFill/>
          <a:ln/>
        </p:spPr>
        <p:txBody>
          <a:bodyPr wrap="square" lIns="0" tIns="0" rIns="0" bIns="0" rtlCol="0" anchor="t">
            <a:normAutofit/>
          </a:bodyPr>
          <a:lstStyle/>
          <a:p>
            <a:pPr algn="l" indent="0" marL="0">
              <a:lnSpc>
                <a:spcPts val="1326"/>
              </a:lnSpc>
              <a:buNone/>
            </a:pPr>
            <a:r>
              <a:rPr lang="en-US" sz="947" dirty="0">
                <a:solidFill>
                  <a:srgbClr val="EAEEF3"/>
                </a:solidFill>
                <a:latin typeface="IBM Plex Sans" pitchFamily="34" charset="0"/>
                <a:ea typeface="IBM Plex Sans" pitchFamily="34" charset="-122"/>
                <a:cs typeface="IBM Plex Sans" pitchFamily="34" charset="-120"/>
              </a:rPr>
              <a:t>Exfil over C2 + self-termination</a:t>
            </a:r>
            <a:endParaRPr lang="en-US" sz="947"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202A"/>
        </a:solidFill>
      </p:bgPr>
    </p:bg>
    <p:spTree>
      <p:nvGrpSpPr>
        <p:cNvPr id="1" name=""/>
        <p:cNvGrpSpPr/>
        <p:nvPr/>
      </p:nvGrpSpPr>
      <p:grpSpPr>
        <a:xfrm>
          <a:off x="0" y="0"/>
          <a:ext cx="0" cy="0"/>
          <a:chOff x="0" y="0"/>
          <a:chExt cx="0" cy="0"/>
        </a:xfrm>
      </p:grpSpPr>
      <p:sp>
        <p:nvSpPr>
          <p:cNvPr id="2" name="Text 0"/>
          <p:cNvSpPr/>
          <p:nvPr/>
        </p:nvSpPr>
        <p:spPr>
          <a:xfrm>
            <a:off x="812800" y="812800"/>
            <a:ext cx="10883392" cy="291193"/>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E0A45A"/>
                </a:solidFill>
                <a:latin typeface="JetBrains Mono" pitchFamily="49" charset="0"/>
                <a:ea typeface="JetBrains Mono" pitchFamily="49" charset="-122"/>
                <a:cs typeface="JetBrains Mono" pitchFamily="49" charset="-120"/>
              </a:rPr>
              <a:t>TAKEAWAYS</a:t>
            </a:r>
            <a:endParaRPr lang="en-US" sz="1300" dirty="0"/>
          </a:p>
        </p:txBody>
      </p:sp>
      <p:sp>
        <p:nvSpPr>
          <p:cNvPr id="3" name="Text 1"/>
          <p:cNvSpPr/>
          <p:nvPr>
            <p:ph type="title"/>
          </p:nvPr>
        </p:nvSpPr>
        <p:spPr>
          <a:xfrm>
            <a:off x="812800" y="1192895"/>
            <a:ext cx="9287510" cy="1224114"/>
          </a:xfrm>
          <a:prstGeom prst="rect">
            <a:avLst/>
          </a:prstGeom>
          <a:noFill/>
          <a:ln/>
        </p:spPr>
        <p:txBody>
          <a:bodyPr wrap="square" lIns="0" tIns="0" rIns="0" bIns="0" rtlCol="0" anchor="t">
            <a:normAutofit/>
          </a:bodyPr>
          <a:lstStyle/>
          <a:p>
            <a:pPr algn="l" indent="0" marL="0">
              <a:lnSpc>
                <a:spcPts val="4104"/>
              </a:lnSpc>
              <a:buNone/>
            </a:pPr>
            <a:r>
              <a:rPr lang="en-US" sz="3800" b="1" i="0" dirty="0">
                <a:solidFill>
                  <a:srgbClr val="EAEEF3"/>
                </a:solidFill>
                <a:latin typeface="IBM Plex Sans" pitchFamily="34" charset="0"/>
                <a:ea typeface="IBM Plex Sans" pitchFamily="34" charset="-122"/>
                <a:cs typeface="IBM Plex Sans" pitchFamily="34" charset="-120"/>
              </a:rPr>
              <a:t>A permanent benchmark, a lasting warning</a:t>
            </a:r>
            <a:endParaRPr lang="en-US" sz="3800" dirty="0"/>
          </a:p>
        </p:txBody>
      </p:sp>
      <p:pic>
        <p:nvPicPr>
          <p:cNvPr id="4" name="Image 0" descr="rect">    </p:cNvPr>
          <p:cNvPicPr>
            <a:picLocks noChangeAspect="1"/>
          </p:cNvPicPr>
          <p:nvPr/>
        </p:nvPicPr>
        <p:blipFill>
          <a:blip r:embed="rId1"/>
          <a:srcRect l="0" r="0" t="0" b="0"/>
          <a:stretch/>
        </p:blipFill>
        <p:spPr>
          <a:xfrm>
            <a:off x="812800" y="2851832"/>
            <a:ext cx="88900" cy="88900"/>
          </a:xfrm>
          <a:prstGeom prst="rect">
            <a:avLst/>
          </a:prstGeom>
        </p:spPr>
      </p:pic>
      <p:sp>
        <p:nvSpPr>
          <p:cNvPr id="5" name="Text 2"/>
          <p:cNvSpPr/>
          <p:nvPr/>
        </p:nvSpPr>
        <p:spPr>
          <a:xfrm>
            <a:off x="1054100" y="2696406"/>
            <a:ext cx="10634853" cy="34082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DCE3EA"/>
                </a:solidFill>
                <a:latin typeface="IBM Plex Sans" pitchFamily="34" charset="0"/>
                <a:ea typeface="IBM Plex Sans" pitchFamily="34" charset="-122"/>
                <a:cs typeface="IBM Plex Sans" pitchFamily="34" charset="-120"/>
              </a:rPr>
              <a:t>Eliminate SMBv1 and legacy protocols entirely — presence is the exposure</a:t>
            </a:r>
            <a:endParaRPr lang="en-US" sz="1600" dirty="0"/>
          </a:p>
        </p:txBody>
      </p:sp>
      <p:pic>
        <p:nvPicPr>
          <p:cNvPr id="6" name="Image 1" descr="rect">    </p:cNvPr>
          <p:cNvPicPr>
            <a:picLocks noChangeAspect="1"/>
          </p:cNvPicPr>
          <p:nvPr/>
        </p:nvPicPr>
        <p:blipFill>
          <a:blip r:embed="rId2"/>
          <a:srcRect l="0" r="0" t="0" b="0"/>
          <a:stretch/>
        </p:blipFill>
        <p:spPr>
          <a:xfrm>
            <a:off x="812800" y="3306955"/>
            <a:ext cx="88900" cy="88900"/>
          </a:xfrm>
          <a:prstGeom prst="rect">
            <a:avLst/>
          </a:prstGeom>
        </p:spPr>
      </p:pic>
      <p:sp>
        <p:nvSpPr>
          <p:cNvPr id="7" name="Text 3"/>
          <p:cNvSpPr/>
          <p:nvPr/>
        </p:nvSpPr>
        <p:spPr>
          <a:xfrm>
            <a:off x="1054100" y="3151529"/>
            <a:ext cx="10634853" cy="34082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DCE3EA"/>
                </a:solidFill>
                <a:latin typeface="IBM Plex Sans" pitchFamily="34" charset="0"/>
                <a:ea typeface="IBM Plex Sans" pitchFamily="34" charset="-122"/>
                <a:cs typeface="IBM Plex Sans" pitchFamily="34" charset="-120"/>
              </a:rPr>
              <a:t>Treat patch cadence as strategic — WannaCry struck two months after the fix</a:t>
            </a:r>
            <a:endParaRPr lang="en-US" sz="1600" dirty="0"/>
          </a:p>
        </p:txBody>
      </p:sp>
      <p:pic>
        <p:nvPicPr>
          <p:cNvPr id="8" name="Image 2" descr="rect">    </p:cNvPr>
          <p:cNvPicPr>
            <a:picLocks noChangeAspect="1"/>
          </p:cNvPicPr>
          <p:nvPr/>
        </p:nvPicPr>
        <p:blipFill>
          <a:blip r:embed="rId3"/>
          <a:srcRect l="0" r="0" t="0" b="0"/>
          <a:stretch/>
        </p:blipFill>
        <p:spPr>
          <a:xfrm>
            <a:off x="812800" y="3762071"/>
            <a:ext cx="88900" cy="88900"/>
          </a:xfrm>
          <a:prstGeom prst="rect">
            <a:avLst/>
          </a:prstGeom>
        </p:spPr>
      </p:pic>
      <p:sp>
        <p:nvSpPr>
          <p:cNvPr id="9" name="Text 4"/>
          <p:cNvSpPr/>
          <p:nvPr/>
        </p:nvSpPr>
        <p:spPr>
          <a:xfrm>
            <a:off x="1054100" y="3606651"/>
            <a:ext cx="10634853" cy="34082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DCE3EA"/>
                </a:solidFill>
                <a:latin typeface="IBM Plex Sans" pitchFamily="34" charset="0"/>
                <a:ea typeface="IBM Plex Sans" pitchFamily="34" charset="-122"/>
                <a:cs typeface="IBM Plex Sans" pitchFamily="34" charset="-120"/>
              </a:rPr>
              <a:t>Deploy firmware and boot-integrity controls; baseline known-good firmware</a:t>
            </a:r>
            <a:endParaRPr lang="en-US" sz="1600" dirty="0"/>
          </a:p>
        </p:txBody>
      </p:sp>
      <p:pic>
        <p:nvPicPr>
          <p:cNvPr id="10" name="Image 3" descr="rect">    </p:cNvPr>
          <p:cNvPicPr>
            <a:picLocks noChangeAspect="1"/>
          </p:cNvPicPr>
          <p:nvPr/>
        </p:nvPicPr>
        <p:blipFill>
          <a:blip r:embed="rId4"/>
          <a:srcRect l="0" r="0" t="0" b="0"/>
          <a:stretch/>
        </p:blipFill>
        <p:spPr>
          <a:xfrm>
            <a:off x="812800" y="4217194"/>
            <a:ext cx="88900" cy="88900"/>
          </a:xfrm>
          <a:prstGeom prst="rect">
            <a:avLst/>
          </a:prstGeom>
        </p:spPr>
      </p:pic>
      <p:sp>
        <p:nvSpPr>
          <p:cNvPr id="11" name="Text 5"/>
          <p:cNvSpPr/>
          <p:nvPr/>
        </p:nvSpPr>
        <p:spPr>
          <a:xfrm>
            <a:off x="1054100" y="4061774"/>
            <a:ext cx="10634853" cy="34082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DCE3EA"/>
                </a:solidFill>
                <a:latin typeface="IBM Plex Sans" pitchFamily="34" charset="0"/>
                <a:ea typeface="IBM Plex Sans" pitchFamily="34" charset="-122"/>
                <a:cs typeface="IBM Plex Sans" pitchFamily="34" charset="-120"/>
              </a:rPr>
              <a:t>Control removable media; restrict autorun and alert on USB staging</a:t>
            </a:r>
            <a:endParaRPr lang="en-US" sz="1600" dirty="0"/>
          </a:p>
        </p:txBody>
      </p:sp>
      <p:pic>
        <p:nvPicPr>
          <p:cNvPr id="12" name="Image 4" descr="rect">    </p:cNvPr>
          <p:cNvPicPr>
            <a:picLocks noChangeAspect="1"/>
          </p:cNvPicPr>
          <p:nvPr/>
        </p:nvPicPr>
        <p:blipFill>
          <a:blip r:embed="rId5"/>
          <a:srcRect l="0" r="0" t="0" b="0"/>
          <a:stretch/>
        </p:blipFill>
        <p:spPr>
          <a:xfrm>
            <a:off x="812800" y="4672316"/>
            <a:ext cx="88900" cy="88900"/>
          </a:xfrm>
          <a:prstGeom prst="rect">
            <a:avLst/>
          </a:prstGeom>
        </p:spPr>
      </p:pic>
      <p:sp>
        <p:nvSpPr>
          <p:cNvPr id="13" name="Text 6"/>
          <p:cNvSpPr/>
          <p:nvPr/>
        </p:nvSpPr>
        <p:spPr>
          <a:xfrm>
            <a:off x="1054100" y="4516890"/>
            <a:ext cx="10634853" cy="34082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DCE3EA"/>
                </a:solidFill>
                <a:latin typeface="IBM Plex Sans" pitchFamily="34" charset="0"/>
                <a:ea typeface="IBM Plex Sans" pitchFamily="34" charset="-122"/>
                <a:cs typeface="IBM Plex Sans" pitchFamily="34" charset="-120"/>
              </a:rPr>
              <a:t>Validate SMB-exploitation and implant detection with public, benign content</a:t>
            </a:r>
            <a:endParaRPr lang="en-US" sz="1600" dirty="0"/>
          </a:p>
        </p:txBody>
      </p:sp>
      <p:sp>
        <p:nvSpPr>
          <p:cNvPr id="14" name="Text 7"/>
          <p:cNvSpPr/>
          <p:nvPr/>
        </p:nvSpPr>
        <p:spPr>
          <a:xfrm>
            <a:off x="812800" y="5910114"/>
            <a:ext cx="10883392" cy="51608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E8B9A"/>
                </a:solidFill>
                <a:latin typeface="IBM Plex Sans" pitchFamily="34" charset="0"/>
                <a:ea typeface="IBM Plex Sans" pitchFamily="34" charset="-122"/>
                <a:cs typeface="IBM Plex Sans" pitchFamily="34" charset="-120"/>
              </a:rPr>
              <a:t>Sources: Kaspersky (2015) · Wikipedia · MITRE ATT&amp;CK G0020 · Check Point Research. NSA attribution is a consensus assessment, not confirmed. TLP:CLEAR.</a:t>
            </a:r>
            <a:endParaRPr lang="en-US" sz="1200" dirty="0"/>
          </a:p>
        </p:txBody>
      </p:sp>
    </p:spTree>
  </p:cSld>
  <p:clrMapOvr>
    <a:masterClrMapping/>
  </p:clrMapOvr>
</p:sld>
</file>

<file path=ppt/theme/theme1.xml><?xml version="1.0" encoding="utf-8"?>
<a:theme xmlns:a="http://schemas.openxmlformats.org/drawingml/2006/main" name="Equation Group (G0020) — Red/Purple Team Briefing">
  <a:themeElements>
    <a:clrScheme name="Equation Group (G0020) — Red/Purple Team Briefing">
      <a:dk1>
        <a:srgbClr val="0F141B"/>
      </a:dk1>
      <a:lt1>
        <a:srgbClr val="EAEEF3"/>
      </a:lt1>
      <a:dk2>
        <a:srgbClr val="252A31"/>
      </a:dk2>
      <a:lt2>
        <a:srgbClr val="B3B8BD"/>
      </a:lt2>
      <a:accent1>
        <a:srgbClr val="E0A45A"/>
      </a:accent1>
      <a:accent2>
        <a:srgbClr val="F0B4B0"/>
      </a:accent2>
      <a:accent3>
        <a:srgbClr val="C79A97"/>
      </a:accent3>
      <a:accent4>
        <a:srgbClr val="C7D0DB"/>
      </a:accent4>
      <a:accent5>
        <a:srgbClr val="A9B4C0"/>
      </a:accent5>
      <a:accent6>
        <a:srgbClr val="8E9BAA"/>
      </a:accent6>
      <a:hlink>
        <a:srgbClr val="0563C1"/>
      </a:hlink>
      <a:folHlink>
        <a:srgbClr val="954F72"/>
      </a:folHlink>
    </a:clrScheme>
    <a:fontScheme name="Equation Group (G0020) — Red/Purple Team Briefing">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Equation Group (G0020) — Red/Purple Team Briefing</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2026-10-26T21:34:50Z</dcterms:created>
  <dcterms:modified xsi:type="dcterms:W3CDTF">2026-10-26T21:34:50Z</dcterms:modified>
</cp:coreProperties>
</file>