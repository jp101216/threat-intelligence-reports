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2202"/>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88382"/>
            <a:ext cx="10566400" cy="4056818"/>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2202"/>
            <a:ext cx="10566400" cy="521380"/>
          </a:xfrm>
          <a:prstGeom prst="rect">
            <a:avLst/>
          </a:prstGeom>
          <a:noFill/>
          <a:ln/>
        </p:spPr>
        <p:txBody>
          <a:bodyPr wrap="square" lIns="0" tIns="0" rIns="0" bIns="0" rtlCol="0" anchor="t"/>
          <a:lstStyle>
            <a:lvl1pPr algn="l" indent="0" marL="0">
              <a:lnSpc>
                <a:spcPct val="115000"/>
              </a:lnSpc>
              <a:buNone/>
              <a:defRPr lang="en-US" sz="3400" dirty="0">
                <a:solidFill>
                  <a:srgbClr val="EAEEF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988382"/>
            <a:ext cx="10566400" cy="4056818"/>
          </a:xfrm>
          <a:prstGeom prst="rect">
            <a:avLst/>
          </a:prstGeom>
          <a:noFill/>
          <a:ln/>
        </p:spPr>
        <p:txBody>
          <a:bodyPr wrap="square" lIns="0" tIns="0" rIns="0" bIns="0" rtlCol="0" anchor="t"/>
          <a:lstStyle>
            <a:lvl1pPr algn="l" indent="0" marL="0">
              <a:lnSpc>
                <a:spcPct val="140000"/>
              </a:lnSpc>
              <a:buNone/>
              <a:defRPr lang="en-US" sz="1600" dirty="0">
                <a:solidFill>
                  <a:srgbClr val="EAEEF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B"/>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812800" y="936890"/>
            <a:ext cx="355600" cy="38100"/>
          </a:xfrm>
          <a:prstGeom prst="rect">
            <a:avLst/>
          </a:prstGeom>
        </p:spPr>
      </p:pic>
      <p:sp>
        <p:nvSpPr>
          <p:cNvPr id="3" name="Text 0"/>
          <p:cNvSpPr/>
          <p:nvPr/>
        </p:nvSpPr>
        <p:spPr>
          <a:xfrm>
            <a:off x="1295400" y="812800"/>
            <a:ext cx="6041208" cy="311679"/>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E0A45A"/>
                </a:solidFill>
                <a:latin typeface="JetBrains Mono" pitchFamily="49" charset="0"/>
                <a:ea typeface="JetBrains Mono" pitchFamily="49" charset="-122"/>
                <a:cs typeface="JetBrains Mono" pitchFamily="49" charset="-120"/>
              </a:rPr>
              <a:t>THREAT ACTOR PROFILE  ·  TLP:CLEAR</a:t>
            </a:r>
            <a:endParaRPr lang="en-US" sz="1400" dirty="0"/>
          </a:p>
        </p:txBody>
      </p:sp>
      <p:sp>
        <p:nvSpPr>
          <p:cNvPr id="4" name="Text 1"/>
          <p:cNvSpPr/>
          <p:nvPr>
            <p:ph type="title"/>
          </p:nvPr>
        </p:nvSpPr>
        <p:spPr>
          <a:xfrm>
            <a:off x="812800" y="1679878"/>
            <a:ext cx="10883392" cy="1218595"/>
          </a:xfrm>
          <a:prstGeom prst="rect">
            <a:avLst/>
          </a:prstGeom>
          <a:noFill/>
          <a:ln/>
        </p:spPr>
        <p:txBody>
          <a:bodyPr wrap="square" lIns="0" tIns="0" rIns="0" bIns="0" rtlCol="0" anchor="t">
            <a:normAutofit/>
          </a:bodyPr>
          <a:lstStyle/>
          <a:p>
            <a:pPr algn="l" indent="0" marL="0">
              <a:lnSpc>
                <a:spcPts val="8170"/>
              </a:lnSpc>
              <a:buNone/>
            </a:pPr>
            <a:r>
              <a:rPr lang="en-US" sz="8600" b="1" i="0" spc="-150" kern="0" dirty="0">
                <a:solidFill>
                  <a:srgbClr val="EAEEF3"/>
                </a:solidFill>
                <a:latin typeface="IBM Plex Sans" pitchFamily="34" charset="0"/>
                <a:ea typeface="IBM Plex Sans" pitchFamily="34" charset="-122"/>
                <a:cs typeface="IBM Plex Sans" pitchFamily="34" charset="-120"/>
              </a:rPr>
              <a:t>Blind Eagle</a:t>
            </a:r>
            <a:endParaRPr lang="en-US" sz="8600" dirty="0"/>
          </a:p>
        </p:txBody>
      </p:sp>
      <p:sp>
        <p:nvSpPr>
          <p:cNvPr id="5" name="Text 2"/>
          <p:cNvSpPr/>
          <p:nvPr/>
        </p:nvSpPr>
        <p:spPr>
          <a:xfrm>
            <a:off x="812800" y="3063573"/>
            <a:ext cx="10883392" cy="372987"/>
          </a:xfrm>
          <a:prstGeom prst="rect">
            <a:avLst/>
          </a:prstGeom>
          <a:noFill/>
          <a:ln/>
        </p:spPr>
        <p:txBody>
          <a:bodyPr wrap="square" lIns="0" tIns="0" rIns="0" bIns="0" rtlCol="0" anchor="t">
            <a:normAutofit/>
          </a:bodyPr>
          <a:lstStyle/>
          <a:p>
            <a:pPr algn="l" indent="0" marL="0">
              <a:lnSpc>
                <a:spcPts val="2380"/>
              </a:lnSpc>
              <a:buNone/>
            </a:pPr>
            <a:r>
              <a:rPr lang="en-US" sz="1700" spc="50" kern="0" dirty="0">
                <a:solidFill>
                  <a:srgbClr val="8E9BAA"/>
                </a:solidFill>
                <a:latin typeface="JetBrains Mono" pitchFamily="49" charset="0"/>
                <a:ea typeface="JetBrains Mono" pitchFamily="49" charset="-122"/>
                <a:cs typeface="JetBrains Mono" pitchFamily="49" charset="-120"/>
              </a:rPr>
              <a:t>APT-C-36  ·  AguilaCiega  ·  TAG-144  ·  APT-Q-98</a:t>
            </a:r>
            <a:endParaRPr lang="en-US" sz="1700" dirty="0"/>
          </a:p>
        </p:txBody>
      </p:sp>
      <p:sp>
        <p:nvSpPr>
          <p:cNvPr id="6" name="Text 3"/>
          <p:cNvSpPr/>
          <p:nvPr/>
        </p:nvSpPr>
        <p:spPr>
          <a:xfrm>
            <a:off x="812800" y="3601660"/>
            <a:ext cx="8764270" cy="1208314"/>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7D0DB"/>
                </a:solidFill>
                <a:latin typeface="IBM Plex Sans" pitchFamily="34" charset="0"/>
                <a:ea typeface="IBM Plex Sans" pitchFamily="34" charset="-122"/>
                <a:cs typeface="IBM Plex Sans" pitchFamily="34" charset="-120"/>
              </a:rPr>
              <a:t>A commodity-RAT adversary built for emulation: government and bank phishing, geofenced delivery, and a modular kill chain that maps cleanly to MITRE ATT&amp;CK.</a:t>
            </a:r>
            <a:endParaRPr lang="en-US" sz="2000" dirty="0"/>
          </a:p>
        </p:txBody>
      </p:sp>
      <p:sp>
        <p:nvSpPr>
          <p:cNvPr id="7" name="Shape 4"/>
          <p:cNvSpPr/>
          <p:nvPr/>
        </p:nvSpPr>
        <p:spPr>
          <a:xfrm>
            <a:off x="812800" y="5368547"/>
            <a:ext cx="10566400" cy="0"/>
          </a:xfrm>
          <a:prstGeom prst="line">
            <a:avLst/>
          </a:prstGeom>
          <a:noFill/>
          <a:ln w="6350">
            <a:solidFill>
              <a:srgbClr val="263142"/>
            </a:solidFill>
            <a:prstDash val="solid"/>
          </a:ln>
        </p:spPr>
      </p:sp>
      <p:sp>
        <p:nvSpPr>
          <p:cNvPr id="8" name="Text 5"/>
          <p:cNvSpPr/>
          <p:nvPr/>
        </p:nvSpPr>
        <p:spPr>
          <a:xfrm>
            <a:off x="812800" y="5598810"/>
            <a:ext cx="3159397"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Red &amp; purple team briefing</a:t>
            </a:r>
            <a:endParaRPr lang="en-US" sz="1500" dirty="0"/>
          </a:p>
        </p:txBody>
      </p:sp>
      <p:sp>
        <p:nvSpPr>
          <p:cNvPr id="9" name="Text 6"/>
          <p:cNvSpPr/>
          <p:nvPr/>
        </p:nvSpPr>
        <p:spPr>
          <a:xfrm>
            <a:off x="7829459" y="5598810"/>
            <a:ext cx="3549741" cy="33209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8E9BAA"/>
                </a:solidFill>
                <a:latin typeface="IBM Plex Sans" pitchFamily="34" charset="0"/>
                <a:ea typeface="IBM Plex Sans" pitchFamily="34" charset="-122"/>
                <a:cs typeface="IBM Plex Sans" pitchFamily="34" charset="-120"/>
              </a:rPr>
              <a:t>Jessie Parker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12498"/>
          </a:xfrm>
          <a:prstGeom prst="rect">
            <a:avLst/>
          </a:prstGeom>
          <a:noFill/>
          <a:ln/>
        </p:spPr>
        <p:txBody>
          <a:bodyPr wrap="square" lIns="0" tIns="0" rIns="0" bIns="0" rtlCol="0" anchor="t">
            <a:normAutofit/>
          </a:bodyPr>
          <a:lstStyle/>
          <a:p>
            <a:pPr algn="l" indent="0" marL="0">
              <a:lnSpc>
                <a:spcPts val="1280"/>
              </a:lnSpc>
              <a:buNone/>
            </a:pPr>
            <a:r>
              <a:rPr lang="en-US" sz="914" spc="150" kern="0" dirty="0">
                <a:solidFill>
                  <a:srgbClr val="E0A45A"/>
                </a:solidFill>
                <a:latin typeface="JetBrains Mono" pitchFamily="49" charset="0"/>
                <a:ea typeface="JetBrains Mono" pitchFamily="49" charset="-122"/>
                <a:cs typeface="JetBrains Mono" pitchFamily="49" charset="-120"/>
              </a:rPr>
              <a:t>BOTTOM LINE UP FRONT</a:t>
            </a:r>
            <a:endParaRPr lang="en-US" sz="914" dirty="0"/>
          </a:p>
        </p:txBody>
      </p:sp>
      <p:sp>
        <p:nvSpPr>
          <p:cNvPr id="3" name="Text 1"/>
          <p:cNvSpPr/>
          <p:nvPr>
            <p:ph type="title"/>
          </p:nvPr>
        </p:nvSpPr>
        <p:spPr>
          <a:xfrm>
            <a:off x="812800" y="1088799"/>
            <a:ext cx="10883392" cy="413997"/>
          </a:xfrm>
          <a:prstGeom prst="rect">
            <a:avLst/>
          </a:prstGeom>
          <a:noFill/>
          <a:ln/>
        </p:spPr>
        <p:txBody>
          <a:bodyPr wrap="square" lIns="0" tIns="0" rIns="0" bIns="0" rtlCol="0" anchor="t">
            <a:normAutofit/>
          </a:bodyPr>
          <a:lstStyle/>
          <a:p>
            <a:pPr algn="l" indent="0" marL="0">
              <a:lnSpc>
                <a:spcPts val="2670"/>
              </a:lnSpc>
              <a:buNone/>
            </a:pPr>
            <a:r>
              <a:rPr lang="en-US" sz="2542" b="1" i="0" dirty="0">
                <a:solidFill>
                  <a:srgbClr val="EAEEF3"/>
                </a:solidFill>
                <a:latin typeface="IBM Plex Sans" pitchFamily="34" charset="0"/>
                <a:ea typeface="IBM Plex Sans" pitchFamily="34" charset="-122"/>
                <a:cs typeface="IBM Plex Sans" pitchFamily="34" charset="-120"/>
              </a:rPr>
              <a:t>A simple playbook, run at scale</a:t>
            </a:r>
            <a:endParaRPr lang="en-US" sz="2542" dirty="0"/>
          </a:p>
        </p:txBody>
      </p:sp>
      <p:sp>
        <p:nvSpPr>
          <p:cNvPr id="4" name="Shape 2"/>
          <p:cNvSpPr/>
          <p:nvPr/>
        </p:nvSpPr>
        <p:spPr>
          <a:xfrm>
            <a:off x="815975" y="1810771"/>
            <a:ext cx="10560050" cy="938780"/>
          </a:xfrm>
          <a:prstGeom prst="roundRect">
            <a:avLst>
              <a:gd name="adj" fmla="val 10484"/>
            </a:avLst>
          </a:prstGeom>
          <a:solidFill>
            <a:srgbClr val="161D27"/>
          </a:solidFill>
          <a:ln w="6350">
            <a:solidFill>
              <a:srgbClr val="263142"/>
            </a:solidFill>
            <a:prstDash val="solid"/>
          </a:ln>
        </p:spPr>
      </p:sp>
      <p:sp>
        <p:nvSpPr>
          <p:cNvPr id="5" name="Text 3"/>
          <p:cNvSpPr/>
          <p:nvPr/>
        </p:nvSpPr>
        <p:spPr>
          <a:xfrm>
            <a:off x="1046238" y="2002934"/>
            <a:ext cx="341161"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01</a:t>
            </a:r>
            <a:endParaRPr lang="en-US" sz="1700" dirty="0"/>
          </a:p>
        </p:txBody>
      </p:sp>
      <p:sp>
        <p:nvSpPr>
          <p:cNvPr id="6" name="Text 4"/>
          <p:cNvSpPr/>
          <p:nvPr/>
        </p:nvSpPr>
        <p:spPr>
          <a:xfrm>
            <a:off x="1527099" y="2002934"/>
            <a:ext cx="9907222"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Dual-motivated and persistent since 2018</a:t>
            </a:r>
            <a:endParaRPr lang="en-US" sz="1650" dirty="0"/>
          </a:p>
        </p:txBody>
      </p:sp>
      <p:sp>
        <p:nvSpPr>
          <p:cNvPr id="7" name="Text 5"/>
          <p:cNvSpPr/>
          <p:nvPr/>
        </p:nvSpPr>
        <p:spPr>
          <a:xfrm>
            <a:off x="1527099" y="2391115"/>
            <a:ext cx="990722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Spanish-speaking, South American (UTC-5). The same group steals banking credentials and runs espionage.</a:t>
            </a:r>
            <a:endParaRPr lang="en-US" sz="1400" dirty="0"/>
          </a:p>
        </p:txBody>
      </p:sp>
      <p:sp>
        <p:nvSpPr>
          <p:cNvPr id="8" name="Shape 6"/>
          <p:cNvSpPr/>
          <p:nvPr/>
        </p:nvSpPr>
        <p:spPr>
          <a:xfrm>
            <a:off x="815975" y="2908300"/>
            <a:ext cx="10560050" cy="938742"/>
          </a:xfrm>
          <a:prstGeom prst="roundRect">
            <a:avLst>
              <a:gd name="adj" fmla="val 10485"/>
            </a:avLst>
          </a:prstGeom>
          <a:solidFill>
            <a:srgbClr val="161D27"/>
          </a:solidFill>
          <a:ln w="6350">
            <a:solidFill>
              <a:srgbClr val="263142"/>
            </a:solidFill>
            <a:prstDash val="solid"/>
          </a:ln>
        </p:spPr>
      </p:sp>
      <p:sp>
        <p:nvSpPr>
          <p:cNvPr id="9" name="Text 7"/>
          <p:cNvSpPr/>
          <p:nvPr/>
        </p:nvSpPr>
        <p:spPr>
          <a:xfrm>
            <a:off x="1046238" y="3100463"/>
            <a:ext cx="337230"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02</a:t>
            </a:r>
            <a:endParaRPr lang="en-US" sz="1700" dirty="0"/>
          </a:p>
        </p:txBody>
      </p:sp>
      <p:sp>
        <p:nvSpPr>
          <p:cNvPr id="10" name="Text 8"/>
          <p:cNvSpPr/>
          <p:nvPr/>
        </p:nvSpPr>
        <p:spPr>
          <a:xfrm>
            <a:off x="1523168" y="3100463"/>
            <a:ext cx="9911271"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Phishing into commodity RATs</a:t>
            </a:r>
            <a:endParaRPr lang="en-US" sz="1650" dirty="0"/>
          </a:p>
        </p:txBody>
      </p:sp>
      <p:sp>
        <p:nvSpPr>
          <p:cNvPr id="11" name="Text 9"/>
          <p:cNvSpPr/>
          <p:nvPr/>
        </p:nvSpPr>
        <p:spPr>
          <a:xfrm>
            <a:off x="1523168" y="3488645"/>
            <a:ext cx="9911271"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Government- and bank-themed lures deliver AsyncRAT, Remcos, njRAT and a modified Quasar banking trojan.</a:t>
            </a:r>
            <a:endParaRPr lang="en-US" sz="1400" dirty="0"/>
          </a:p>
        </p:txBody>
      </p:sp>
      <p:sp>
        <p:nvSpPr>
          <p:cNvPr id="12" name="Shape 10"/>
          <p:cNvSpPr/>
          <p:nvPr/>
        </p:nvSpPr>
        <p:spPr>
          <a:xfrm>
            <a:off x="815975" y="4005792"/>
            <a:ext cx="10560050" cy="938742"/>
          </a:xfrm>
          <a:prstGeom prst="roundRect">
            <a:avLst>
              <a:gd name="adj" fmla="val 10485"/>
            </a:avLst>
          </a:prstGeom>
          <a:solidFill>
            <a:srgbClr val="161D27"/>
          </a:solidFill>
          <a:ln w="6350">
            <a:solidFill>
              <a:srgbClr val="263142"/>
            </a:solidFill>
            <a:prstDash val="solid"/>
          </a:ln>
        </p:spPr>
      </p:sp>
      <p:sp>
        <p:nvSpPr>
          <p:cNvPr id="13" name="Text 11"/>
          <p:cNvSpPr/>
          <p:nvPr/>
        </p:nvSpPr>
        <p:spPr>
          <a:xfrm>
            <a:off x="1046238" y="4197955"/>
            <a:ext cx="322716"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03</a:t>
            </a:r>
            <a:endParaRPr lang="en-US" sz="1700" dirty="0"/>
          </a:p>
        </p:txBody>
      </p:sp>
      <p:sp>
        <p:nvSpPr>
          <p:cNvPr id="14" name="Text 12"/>
          <p:cNvSpPr/>
          <p:nvPr/>
        </p:nvSpPr>
        <p:spPr>
          <a:xfrm>
            <a:off x="1508654" y="4197955"/>
            <a:ext cx="9926221"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Hides in legitimate services</a:t>
            </a:r>
            <a:endParaRPr lang="en-US" sz="1650" dirty="0"/>
          </a:p>
        </p:txBody>
      </p:sp>
      <p:sp>
        <p:nvSpPr>
          <p:cNvPr id="15" name="Text 13"/>
          <p:cNvSpPr/>
          <p:nvPr/>
        </p:nvSpPr>
        <p:spPr>
          <a:xfrm>
            <a:off x="1508654" y="4586136"/>
            <a:ext cx="9926221"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Geofenced delivery plus payloads on Google Drive, GitHub, Bitbucket and the Discord CDN blend into normal traffic.</a:t>
            </a:r>
            <a:endParaRPr lang="en-US" sz="1400" dirty="0"/>
          </a:p>
        </p:txBody>
      </p:sp>
      <p:sp>
        <p:nvSpPr>
          <p:cNvPr id="16" name="Shape 14"/>
          <p:cNvSpPr/>
          <p:nvPr/>
        </p:nvSpPr>
        <p:spPr>
          <a:xfrm>
            <a:off x="815975" y="5103284"/>
            <a:ext cx="10560050" cy="938742"/>
          </a:xfrm>
          <a:prstGeom prst="roundRect">
            <a:avLst>
              <a:gd name="adj" fmla="val 10485"/>
            </a:avLst>
          </a:prstGeom>
          <a:solidFill>
            <a:srgbClr val="161D27"/>
          </a:solidFill>
          <a:ln w="6350">
            <a:solidFill>
              <a:srgbClr val="2E4256"/>
            </a:solidFill>
            <a:prstDash val="solid"/>
          </a:ln>
        </p:spPr>
      </p:sp>
      <p:sp>
        <p:nvSpPr>
          <p:cNvPr id="17" name="Text 15"/>
          <p:cNvSpPr/>
          <p:nvPr/>
        </p:nvSpPr>
        <p:spPr>
          <a:xfrm>
            <a:off x="1046238" y="5295447"/>
            <a:ext cx="338667" cy="720574"/>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E0A45A"/>
                </a:solidFill>
                <a:latin typeface="JetBrains Mono" pitchFamily="49" charset="0"/>
                <a:ea typeface="JetBrains Mono" pitchFamily="49" charset="-122"/>
                <a:cs typeface="JetBrains Mono" pitchFamily="49" charset="-120"/>
              </a:rPr>
              <a:t>04</a:t>
            </a:r>
            <a:endParaRPr lang="en-US" sz="1700" dirty="0"/>
          </a:p>
        </p:txBody>
      </p:sp>
      <p:sp>
        <p:nvSpPr>
          <p:cNvPr id="18" name="Text 16"/>
          <p:cNvSpPr/>
          <p:nvPr/>
        </p:nvSpPr>
        <p:spPr>
          <a:xfrm>
            <a:off x="1524605" y="5295447"/>
            <a:ext cx="9909792" cy="362782"/>
          </a:xfrm>
          <a:prstGeom prst="rect">
            <a:avLst/>
          </a:prstGeom>
          <a:noFill/>
          <a:ln/>
        </p:spPr>
        <p:txBody>
          <a:bodyPr wrap="square" lIns="0" tIns="0" rIns="0" bIns="0" rtlCol="0" anchor="t">
            <a:normAutofit/>
          </a:bodyPr>
          <a:lstStyle/>
          <a:p>
            <a:pPr algn="l" indent="0" marL="0">
              <a:lnSpc>
                <a:spcPts val="2310"/>
              </a:lnSpc>
              <a:buNone/>
            </a:pPr>
            <a:r>
              <a:rPr lang="en-US" sz="1650" b="1" dirty="0">
                <a:solidFill>
                  <a:srgbClr val="EAEEF3"/>
                </a:solidFill>
                <a:latin typeface="IBM Plex Sans" pitchFamily="34" charset="0"/>
                <a:ea typeface="IBM Plex Sans" pitchFamily="34" charset="-122"/>
                <a:cs typeface="IBM Plex Sans" pitchFamily="34" charset="-120"/>
              </a:rPr>
              <a:t>An ideal emulation target</a:t>
            </a:r>
            <a:endParaRPr lang="en-US" sz="1650" dirty="0"/>
          </a:p>
        </p:txBody>
      </p:sp>
      <p:sp>
        <p:nvSpPr>
          <p:cNvPr id="19" name="Text 17"/>
          <p:cNvSpPr/>
          <p:nvPr/>
        </p:nvSpPr>
        <p:spPr>
          <a:xfrm>
            <a:off x="1524605" y="5683628"/>
            <a:ext cx="990979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A9B4C0"/>
                </a:solidFill>
                <a:latin typeface="IBM Plex Sans" pitchFamily="34" charset="0"/>
                <a:ea typeface="IBM Plex Sans" pitchFamily="34" charset="-122"/>
                <a:cs typeface="IBM Plex Sans" pitchFamily="34" charset="-120"/>
              </a:rPr>
              <a:t>Almost entirely public tooling, low cost to reproduce, and a chain that maps one-to-one onto MITRE ATT&amp;CK.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THE ADVERSARY</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At a glance</a:t>
            </a:r>
            <a:endParaRPr lang="en-US" sz="3600" dirty="0"/>
          </a:p>
        </p:txBody>
      </p:sp>
      <p:sp>
        <p:nvSpPr>
          <p:cNvPr id="4" name="Shape 2"/>
          <p:cNvSpPr/>
          <p:nvPr/>
        </p:nvSpPr>
        <p:spPr>
          <a:xfrm>
            <a:off x="815975" y="2052903"/>
            <a:ext cx="3414183" cy="1326205"/>
          </a:xfrm>
          <a:prstGeom prst="roundRect">
            <a:avLst>
              <a:gd name="adj" fmla="val 7422"/>
            </a:avLst>
          </a:prstGeom>
          <a:solidFill>
            <a:srgbClr val="161D27"/>
          </a:solidFill>
          <a:ln w="6350">
            <a:solidFill>
              <a:srgbClr val="263142"/>
            </a:solidFill>
            <a:prstDash val="solid"/>
          </a:ln>
        </p:spPr>
      </p:sp>
      <p:sp>
        <p:nvSpPr>
          <p:cNvPr id="5" name="Text 3"/>
          <p:cNvSpPr/>
          <p:nvPr/>
        </p:nvSpPr>
        <p:spPr>
          <a:xfrm>
            <a:off x="1033538"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ALIASES</a:t>
            </a:r>
            <a:endParaRPr lang="en-US" sz="1200" dirty="0"/>
          </a:p>
        </p:txBody>
      </p:sp>
      <p:sp>
        <p:nvSpPr>
          <p:cNvPr id="6" name="Text 4"/>
          <p:cNvSpPr/>
          <p:nvPr/>
        </p:nvSpPr>
        <p:spPr>
          <a:xfrm>
            <a:off x="1033538" y="2592009"/>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APT-C-36, AguilaCiega, TAG-144, APT-Q-98</a:t>
            </a:r>
            <a:endParaRPr lang="en-US" sz="1500" dirty="0"/>
          </a:p>
        </p:txBody>
      </p:sp>
      <p:sp>
        <p:nvSpPr>
          <p:cNvPr id="7" name="Shape 5"/>
          <p:cNvSpPr/>
          <p:nvPr/>
        </p:nvSpPr>
        <p:spPr>
          <a:xfrm>
            <a:off x="4388908" y="2052903"/>
            <a:ext cx="3414183" cy="1326205"/>
          </a:xfrm>
          <a:prstGeom prst="roundRect">
            <a:avLst>
              <a:gd name="adj" fmla="val 7422"/>
            </a:avLst>
          </a:prstGeom>
          <a:solidFill>
            <a:srgbClr val="161D27"/>
          </a:solidFill>
          <a:ln w="6350">
            <a:solidFill>
              <a:srgbClr val="263142"/>
            </a:solidFill>
            <a:prstDash val="solid"/>
          </a:ln>
        </p:spPr>
      </p:sp>
      <p:sp>
        <p:nvSpPr>
          <p:cNvPr id="8" name="Text 6"/>
          <p:cNvSpPr/>
          <p:nvPr/>
        </p:nvSpPr>
        <p:spPr>
          <a:xfrm>
            <a:off x="4606472"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ACTIVE SINCE</a:t>
            </a:r>
            <a:endParaRPr lang="en-US" sz="1200" dirty="0"/>
          </a:p>
        </p:txBody>
      </p:sp>
      <p:sp>
        <p:nvSpPr>
          <p:cNvPr id="9" name="Text 7"/>
          <p:cNvSpPr/>
          <p:nvPr/>
        </p:nvSpPr>
        <p:spPr>
          <a:xfrm>
            <a:off x="4606472" y="2592009"/>
            <a:ext cx="3068429"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2018, continuous operations</a:t>
            </a:r>
            <a:endParaRPr lang="en-US" sz="1500" dirty="0"/>
          </a:p>
        </p:txBody>
      </p:sp>
      <p:sp>
        <p:nvSpPr>
          <p:cNvPr id="10" name="Shape 8"/>
          <p:cNvSpPr/>
          <p:nvPr/>
        </p:nvSpPr>
        <p:spPr>
          <a:xfrm>
            <a:off x="7961842" y="2052903"/>
            <a:ext cx="3414183" cy="1326205"/>
          </a:xfrm>
          <a:prstGeom prst="roundRect">
            <a:avLst>
              <a:gd name="adj" fmla="val 7422"/>
            </a:avLst>
          </a:prstGeom>
          <a:solidFill>
            <a:srgbClr val="161D27"/>
          </a:solidFill>
          <a:ln w="6350">
            <a:solidFill>
              <a:srgbClr val="263142"/>
            </a:solidFill>
            <a:prstDash val="solid"/>
          </a:ln>
        </p:spPr>
      </p:sp>
      <p:sp>
        <p:nvSpPr>
          <p:cNvPr id="11" name="Text 9"/>
          <p:cNvSpPr/>
          <p:nvPr/>
        </p:nvSpPr>
        <p:spPr>
          <a:xfrm>
            <a:off x="8179405" y="2270466"/>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SUSPECTED ORIGIN</a:t>
            </a:r>
            <a:endParaRPr lang="en-US" sz="1200" dirty="0"/>
          </a:p>
        </p:txBody>
      </p:sp>
      <p:sp>
        <p:nvSpPr>
          <p:cNvPr id="12" name="Text 10"/>
          <p:cNvSpPr/>
          <p:nvPr/>
        </p:nvSpPr>
        <p:spPr>
          <a:xfrm>
            <a:off x="8179405" y="2592009"/>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South America, UTC-5 timezone</a:t>
            </a:r>
            <a:endParaRPr lang="en-US" sz="1500" dirty="0"/>
          </a:p>
        </p:txBody>
      </p:sp>
      <p:sp>
        <p:nvSpPr>
          <p:cNvPr id="13" name="Shape 11"/>
          <p:cNvSpPr/>
          <p:nvPr/>
        </p:nvSpPr>
        <p:spPr>
          <a:xfrm>
            <a:off x="815975" y="3537857"/>
            <a:ext cx="3414183" cy="1326205"/>
          </a:xfrm>
          <a:prstGeom prst="roundRect">
            <a:avLst>
              <a:gd name="adj" fmla="val 7422"/>
            </a:avLst>
          </a:prstGeom>
          <a:solidFill>
            <a:srgbClr val="161D27"/>
          </a:solidFill>
          <a:ln w="6350">
            <a:solidFill>
              <a:srgbClr val="263142"/>
            </a:solidFill>
            <a:prstDash val="solid"/>
          </a:ln>
        </p:spPr>
      </p:sp>
      <p:sp>
        <p:nvSpPr>
          <p:cNvPr id="14" name="Text 12"/>
          <p:cNvSpPr/>
          <p:nvPr/>
        </p:nvSpPr>
        <p:spPr>
          <a:xfrm>
            <a:off x="1033538" y="3755420"/>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MOTIVATION</a:t>
            </a:r>
            <a:endParaRPr lang="en-US" sz="1200" dirty="0"/>
          </a:p>
        </p:txBody>
      </p:sp>
      <p:sp>
        <p:nvSpPr>
          <p:cNvPr id="15" name="Text 13"/>
          <p:cNvSpPr/>
          <p:nvPr/>
        </p:nvSpPr>
        <p:spPr>
          <a:xfrm>
            <a:off x="1033538" y="4076965"/>
            <a:ext cx="3193445"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Financial theft and espionage</a:t>
            </a:r>
            <a:endParaRPr lang="en-US" sz="1500" dirty="0"/>
          </a:p>
        </p:txBody>
      </p:sp>
      <p:sp>
        <p:nvSpPr>
          <p:cNvPr id="16" name="Shape 14"/>
          <p:cNvSpPr/>
          <p:nvPr/>
        </p:nvSpPr>
        <p:spPr>
          <a:xfrm>
            <a:off x="4388908" y="3537857"/>
            <a:ext cx="3414183" cy="1326205"/>
          </a:xfrm>
          <a:prstGeom prst="roundRect">
            <a:avLst>
              <a:gd name="adj" fmla="val 7422"/>
            </a:avLst>
          </a:prstGeom>
          <a:solidFill>
            <a:srgbClr val="161D27"/>
          </a:solidFill>
          <a:ln w="6350">
            <a:solidFill>
              <a:srgbClr val="263142"/>
            </a:solidFill>
            <a:prstDash val="solid"/>
          </a:ln>
        </p:spPr>
      </p:sp>
      <p:sp>
        <p:nvSpPr>
          <p:cNvPr id="17" name="Text 15"/>
          <p:cNvSpPr/>
          <p:nvPr/>
        </p:nvSpPr>
        <p:spPr>
          <a:xfrm>
            <a:off x="4606472" y="3755420"/>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PRIMARY REGION</a:t>
            </a:r>
            <a:endParaRPr lang="en-US" sz="1200" dirty="0"/>
          </a:p>
        </p:txBody>
      </p:sp>
      <p:sp>
        <p:nvSpPr>
          <p:cNvPr id="18" name="Text 16"/>
          <p:cNvSpPr/>
          <p:nvPr/>
        </p:nvSpPr>
        <p:spPr>
          <a:xfrm>
            <a:off x="4606472" y="4076965"/>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Colombia; also Ecuador, Chile, Panama</a:t>
            </a:r>
            <a:endParaRPr lang="en-US" sz="1500" dirty="0"/>
          </a:p>
        </p:txBody>
      </p:sp>
      <p:sp>
        <p:nvSpPr>
          <p:cNvPr id="19" name="Shape 17"/>
          <p:cNvSpPr/>
          <p:nvPr/>
        </p:nvSpPr>
        <p:spPr>
          <a:xfrm>
            <a:off x="7961842" y="3537857"/>
            <a:ext cx="3414183" cy="1326205"/>
          </a:xfrm>
          <a:prstGeom prst="roundRect">
            <a:avLst>
              <a:gd name="adj" fmla="val 7422"/>
            </a:avLst>
          </a:prstGeom>
          <a:solidFill>
            <a:srgbClr val="161D27"/>
          </a:solidFill>
          <a:ln w="6350">
            <a:solidFill>
              <a:srgbClr val="263142"/>
            </a:solidFill>
            <a:prstDash val="solid"/>
          </a:ln>
        </p:spPr>
      </p:sp>
      <p:sp>
        <p:nvSpPr>
          <p:cNvPr id="20" name="Text 18"/>
          <p:cNvSpPr/>
          <p:nvPr/>
        </p:nvSpPr>
        <p:spPr>
          <a:xfrm>
            <a:off x="8179405" y="3755420"/>
            <a:ext cx="3068429"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A45A"/>
                </a:solidFill>
                <a:latin typeface="JetBrains Mono" pitchFamily="49" charset="0"/>
                <a:ea typeface="JetBrains Mono" pitchFamily="49" charset="-122"/>
                <a:cs typeface="JetBrains Mono" pitchFamily="49" charset="-120"/>
              </a:rPr>
              <a:t>TRADECRAFT</a:t>
            </a:r>
            <a:endParaRPr lang="en-US" sz="1200" dirty="0"/>
          </a:p>
        </p:txBody>
      </p:sp>
      <p:sp>
        <p:nvSpPr>
          <p:cNvPr id="21" name="Text 19"/>
          <p:cNvSpPr/>
          <p:nvPr/>
        </p:nvSpPr>
        <p:spPr>
          <a:xfrm>
            <a:off x="8179405" y="4076965"/>
            <a:ext cx="3068429" cy="594935"/>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AEEF3"/>
                </a:solidFill>
                <a:latin typeface="IBM Plex Sans" pitchFamily="34" charset="0"/>
                <a:ea typeface="IBM Plex Sans" pitchFamily="34" charset="-122"/>
                <a:cs typeface="IBM Plex Sans" pitchFamily="34" charset="-120"/>
              </a:rPr>
              <a:t>Low complexity, high operational tempo</a:t>
            </a:r>
            <a:endParaRPr lang="en-US" sz="1500" dirty="0"/>
          </a:p>
        </p:txBody>
      </p:sp>
      <p:sp>
        <p:nvSpPr>
          <p:cNvPr id="22" name="Text 20"/>
          <p:cNvSpPr/>
          <p:nvPr/>
        </p:nvSpPr>
        <p:spPr>
          <a:xfrm>
            <a:off x="812800" y="5197438"/>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Attribution complicated by Portuguese-language artifacts in 2024 and five distinct activity clusters (TAG-144) — consistent with a team or shared tooling across operators.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TARGETING &amp; SCALE</a:t>
            </a:r>
            <a:endParaRPr lang="en-US" sz="1300" dirty="0"/>
          </a:p>
        </p:txBody>
      </p:sp>
      <p:sp>
        <p:nvSpPr>
          <p:cNvPr id="3" name="Text 1"/>
          <p:cNvSpPr/>
          <p:nvPr>
            <p:ph type="title"/>
          </p:nvPr>
        </p:nvSpPr>
        <p:spPr>
          <a:xfrm>
            <a:off x="812800" y="1167493"/>
            <a:ext cx="10883392" cy="577434"/>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EAEEF3"/>
                </a:solidFill>
                <a:latin typeface="IBM Plex Sans" pitchFamily="34" charset="0"/>
                <a:ea typeface="IBM Plex Sans" pitchFamily="34" charset="-122"/>
                <a:cs typeface="IBM Plex Sans" pitchFamily="34" charset="-120"/>
              </a:rPr>
              <a:t>APT selection, commodity scale</a:t>
            </a:r>
            <a:endParaRPr lang="en-US" sz="3600" dirty="0"/>
          </a:p>
        </p:txBody>
      </p:sp>
      <p:sp>
        <p:nvSpPr>
          <p:cNvPr id="4" name="Shape 2"/>
          <p:cNvSpPr/>
          <p:nvPr/>
        </p:nvSpPr>
        <p:spPr>
          <a:xfrm>
            <a:off x="815975" y="2052903"/>
            <a:ext cx="3397250" cy="1840631"/>
          </a:xfrm>
          <a:prstGeom prst="roundRect">
            <a:avLst>
              <a:gd name="adj" fmla="val 5347"/>
            </a:avLst>
          </a:prstGeom>
          <a:solidFill>
            <a:srgbClr val="161D27"/>
          </a:solidFill>
          <a:ln w="6350">
            <a:solidFill>
              <a:srgbClr val="263142"/>
            </a:solidFill>
            <a:prstDash val="solid"/>
          </a:ln>
        </p:spPr>
      </p:sp>
      <p:sp>
        <p:nvSpPr>
          <p:cNvPr id="5" name="Text 3"/>
          <p:cNvSpPr/>
          <p:nvPr/>
        </p:nvSpPr>
        <p:spPr>
          <a:xfrm>
            <a:off x="1071638" y="2308566"/>
            <a:ext cx="2972502" cy="726432"/>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A45A"/>
                </a:solidFill>
                <a:latin typeface="IBM Plex Sans" pitchFamily="34" charset="0"/>
                <a:ea typeface="IBM Plex Sans" pitchFamily="34" charset="-122"/>
                <a:cs typeface="IBM Plex Sans" pitchFamily="34" charset="-120"/>
              </a:rPr>
              <a:t>1,600+</a:t>
            </a:r>
            <a:endParaRPr lang="en-US" sz="4800" dirty="0"/>
          </a:p>
        </p:txBody>
      </p:sp>
      <p:sp>
        <p:nvSpPr>
          <p:cNvPr id="6" name="Text 4"/>
          <p:cNvSpPr/>
          <p:nvPr/>
        </p:nvSpPr>
        <p:spPr>
          <a:xfrm>
            <a:off x="1071638" y="3085798"/>
            <a:ext cx="297250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victims in a single December 2024 campaign</a:t>
            </a:r>
            <a:endParaRPr lang="en-US" sz="1400" dirty="0"/>
          </a:p>
        </p:txBody>
      </p:sp>
      <p:sp>
        <p:nvSpPr>
          <p:cNvPr id="7" name="Shape 5"/>
          <p:cNvSpPr/>
          <p:nvPr/>
        </p:nvSpPr>
        <p:spPr>
          <a:xfrm>
            <a:off x="4397375" y="2052903"/>
            <a:ext cx="3397250" cy="1840631"/>
          </a:xfrm>
          <a:prstGeom prst="roundRect">
            <a:avLst>
              <a:gd name="adj" fmla="val 5347"/>
            </a:avLst>
          </a:prstGeom>
          <a:solidFill>
            <a:srgbClr val="161D27"/>
          </a:solidFill>
          <a:ln w="6350">
            <a:solidFill>
              <a:srgbClr val="263142"/>
            </a:solidFill>
            <a:prstDash val="solid"/>
          </a:ln>
        </p:spPr>
      </p:sp>
      <p:sp>
        <p:nvSpPr>
          <p:cNvPr id="8" name="Text 6"/>
          <p:cNvSpPr/>
          <p:nvPr/>
        </p:nvSpPr>
        <p:spPr>
          <a:xfrm>
            <a:off x="4653038" y="2308566"/>
            <a:ext cx="2972502" cy="726432"/>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A45A"/>
                </a:solidFill>
                <a:latin typeface="IBM Plex Sans" pitchFamily="34" charset="0"/>
                <a:ea typeface="IBM Plex Sans" pitchFamily="34" charset="-122"/>
                <a:cs typeface="IBM Plex Sans" pitchFamily="34" charset="-120"/>
              </a:rPr>
              <a:t>8,000+</a:t>
            </a:r>
            <a:endParaRPr lang="en-US" sz="4800" dirty="0"/>
          </a:p>
        </p:txBody>
      </p:sp>
      <p:sp>
        <p:nvSpPr>
          <p:cNvPr id="9" name="Text 7"/>
          <p:cNvSpPr/>
          <p:nvPr/>
        </p:nvSpPr>
        <p:spPr>
          <a:xfrm>
            <a:off x="4653038" y="3085798"/>
            <a:ext cx="297250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stolen credential records exposed in one leak</a:t>
            </a:r>
            <a:endParaRPr lang="en-US" sz="1400" dirty="0"/>
          </a:p>
        </p:txBody>
      </p:sp>
      <p:sp>
        <p:nvSpPr>
          <p:cNvPr id="10" name="Shape 8"/>
          <p:cNvSpPr/>
          <p:nvPr/>
        </p:nvSpPr>
        <p:spPr>
          <a:xfrm>
            <a:off x="7978775" y="2052903"/>
            <a:ext cx="3397250" cy="1840631"/>
          </a:xfrm>
          <a:prstGeom prst="roundRect">
            <a:avLst>
              <a:gd name="adj" fmla="val 5347"/>
            </a:avLst>
          </a:prstGeom>
          <a:solidFill>
            <a:srgbClr val="161D27"/>
          </a:solidFill>
          <a:ln w="6350">
            <a:solidFill>
              <a:srgbClr val="263142"/>
            </a:solidFill>
            <a:prstDash val="solid"/>
          </a:ln>
        </p:spPr>
      </p:sp>
      <p:sp>
        <p:nvSpPr>
          <p:cNvPr id="11" name="Text 9"/>
          <p:cNvSpPr/>
          <p:nvPr/>
        </p:nvSpPr>
        <p:spPr>
          <a:xfrm>
            <a:off x="8234438" y="2308566"/>
            <a:ext cx="2972502" cy="726432"/>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0A45A"/>
                </a:solidFill>
                <a:latin typeface="IBM Plex Sans" pitchFamily="34" charset="0"/>
                <a:ea typeface="IBM Plex Sans" pitchFamily="34" charset="-122"/>
                <a:cs typeface="IBM Plex Sans" pitchFamily="34" charset="-120"/>
              </a:rPr>
              <a:t>87%</a:t>
            </a:r>
            <a:endParaRPr lang="en-US" sz="4800" dirty="0"/>
          </a:p>
        </p:txBody>
      </p:sp>
      <p:sp>
        <p:nvSpPr>
          <p:cNvPr id="12" name="Text 10"/>
          <p:cNvSpPr/>
          <p:nvPr/>
        </p:nvSpPr>
        <p:spPr>
          <a:xfrm>
            <a:off x="8234438" y="3085798"/>
            <a:ext cx="2972502" cy="57747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7D0DB"/>
                </a:solidFill>
                <a:latin typeface="IBM Plex Sans" pitchFamily="34" charset="0"/>
                <a:ea typeface="IBM Plex Sans" pitchFamily="34" charset="-122"/>
                <a:cs typeface="IBM Plex Sans" pitchFamily="34" charset="-120"/>
              </a:rPr>
              <a:t>of 2024 espionage victims located in Colombia</a:t>
            </a:r>
            <a:endParaRPr lang="en-US" sz="1400" dirty="0"/>
          </a:p>
        </p:txBody>
      </p:sp>
      <p:sp>
        <p:nvSpPr>
          <p:cNvPr id="13" name="Text 11"/>
          <p:cNvSpPr/>
          <p:nvPr/>
        </p:nvSpPr>
        <p:spPr>
          <a:xfrm>
            <a:off x="812800" y="4226908"/>
            <a:ext cx="10883392" cy="27074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E9BAA"/>
                </a:solidFill>
                <a:latin typeface="JetBrains Mono" pitchFamily="49" charset="0"/>
                <a:ea typeface="JetBrains Mono" pitchFamily="49" charset="-122"/>
                <a:cs typeface="JetBrains Mono" pitchFamily="49" charset="-120"/>
              </a:rPr>
              <a:t>SECTORS TARGETED</a:t>
            </a:r>
            <a:endParaRPr lang="en-US" sz="1200" dirty="0"/>
          </a:p>
        </p:txBody>
      </p:sp>
      <p:sp>
        <p:nvSpPr>
          <p:cNvPr id="14" name="Text 12"/>
          <p:cNvSpPr/>
          <p:nvPr/>
        </p:nvSpPr>
        <p:spPr>
          <a:xfrm>
            <a:off x="815975" y="4602428"/>
            <a:ext cx="1494858"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Government</a:t>
            </a:r>
            <a:endParaRPr lang="en-US" sz="1400" dirty="0"/>
          </a:p>
        </p:txBody>
      </p:sp>
      <p:sp>
        <p:nvSpPr>
          <p:cNvPr id="15" name="Text 13"/>
          <p:cNvSpPr/>
          <p:nvPr/>
        </p:nvSpPr>
        <p:spPr>
          <a:xfrm>
            <a:off x="2418783" y="4602428"/>
            <a:ext cx="1191268"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Judiciary</a:t>
            </a:r>
            <a:endParaRPr lang="en-US" sz="1400" dirty="0"/>
          </a:p>
        </p:txBody>
      </p:sp>
      <p:sp>
        <p:nvSpPr>
          <p:cNvPr id="16" name="Text 14"/>
          <p:cNvSpPr/>
          <p:nvPr/>
        </p:nvSpPr>
        <p:spPr>
          <a:xfrm>
            <a:off x="3718001" y="4602428"/>
            <a:ext cx="2010266"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Banking &amp; finance</a:t>
            </a:r>
            <a:endParaRPr lang="en-US" sz="1400" dirty="0"/>
          </a:p>
        </p:txBody>
      </p:sp>
      <p:sp>
        <p:nvSpPr>
          <p:cNvPr id="17" name="Text 15"/>
          <p:cNvSpPr/>
          <p:nvPr/>
        </p:nvSpPr>
        <p:spPr>
          <a:xfrm>
            <a:off x="5836217" y="4602428"/>
            <a:ext cx="1938300"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Energy / oil &amp; gas</a:t>
            </a:r>
            <a:endParaRPr lang="en-US" sz="1400" dirty="0"/>
          </a:p>
        </p:txBody>
      </p:sp>
      <p:sp>
        <p:nvSpPr>
          <p:cNvPr id="18" name="Text 16"/>
          <p:cNvSpPr/>
          <p:nvPr/>
        </p:nvSpPr>
        <p:spPr>
          <a:xfrm>
            <a:off x="7882467" y="4602428"/>
            <a:ext cx="1276312"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Education</a:t>
            </a:r>
            <a:endParaRPr lang="en-US" sz="1400" dirty="0"/>
          </a:p>
        </p:txBody>
      </p:sp>
      <p:sp>
        <p:nvSpPr>
          <p:cNvPr id="19" name="Text 17"/>
          <p:cNvSpPr/>
          <p:nvPr/>
        </p:nvSpPr>
        <p:spPr>
          <a:xfrm>
            <a:off x="9266729" y="4602428"/>
            <a:ext cx="967392"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Health</a:t>
            </a:r>
            <a:endParaRPr lang="en-US" sz="1400" dirty="0"/>
          </a:p>
        </p:txBody>
      </p:sp>
      <p:sp>
        <p:nvSpPr>
          <p:cNvPr id="20" name="Text 18"/>
          <p:cNvSpPr/>
          <p:nvPr/>
        </p:nvSpPr>
        <p:spPr>
          <a:xfrm>
            <a:off x="815975" y="5177783"/>
            <a:ext cx="1137293" cy="467405"/>
          </a:xfrm>
          <a:prstGeom prst="roundRect">
            <a:avLst>
              <a:gd name="adj" fmla="val 50000"/>
            </a:avLst>
          </a:prstGeom>
          <a:solidFill>
            <a:srgbClr val="1B2430"/>
          </a:solidFill>
          <a:ln w="6350">
            <a:solidFill>
              <a:srgbClr val="2E4256"/>
            </a:solidFill>
            <a:prstDash val="solid"/>
          </a:ln>
        </p:spPr>
        <p:txBody>
          <a:bodyPr wrap="none" lIns="0" tIns="22114" rIns="0" bIns="0" rtlCol="0" anchor="t">
            <a:normAutofit/>
          </a:bodyPr>
          <a:lstStyle/>
          <a:p>
            <a:pPr algn="ctr" indent="0" marL="0">
              <a:lnSpc>
                <a:spcPts val="1960"/>
              </a:lnSpc>
              <a:buNone/>
            </a:pPr>
            <a:r>
              <a:rPr lang="en-US" sz="1400" dirty="0">
                <a:solidFill>
                  <a:srgbClr val="EAEEF3"/>
                </a:solidFill>
                <a:latin typeface="IBM Plex Sans" pitchFamily="34" charset="0"/>
                <a:ea typeface="IBM Plex Sans" pitchFamily="34" charset="-122"/>
                <a:cs typeface="IBM Plex Sans" pitchFamily="34" charset="-120"/>
              </a:rPr>
              <a:t>Telecom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82915"/>
          </a:xfrm>
          <a:prstGeom prst="rect">
            <a:avLst/>
          </a:prstGeom>
          <a:noFill/>
          <a:ln/>
        </p:spPr>
        <p:txBody>
          <a:bodyPr wrap="square" lIns="0" tIns="0" rIns="0" bIns="0" rtlCol="0" anchor="t">
            <a:normAutofit/>
          </a:bodyPr>
          <a:lstStyle/>
          <a:p>
            <a:pPr algn="l" indent="0" marL="0">
              <a:lnSpc>
                <a:spcPts val="1803"/>
              </a:lnSpc>
              <a:buNone/>
            </a:pPr>
            <a:r>
              <a:rPr lang="en-US" sz="1288" spc="150" kern="0" dirty="0">
                <a:solidFill>
                  <a:srgbClr val="E0A45A"/>
                </a:solidFill>
                <a:latin typeface="JetBrains Mono" pitchFamily="49" charset="0"/>
                <a:ea typeface="JetBrains Mono" pitchFamily="49" charset="-122"/>
                <a:cs typeface="JetBrains Mono" pitchFamily="49" charset="-120"/>
              </a:rPr>
              <a:t>HOW THEY OPERATE</a:t>
            </a:r>
            <a:endParaRPr lang="en-US" sz="1288" dirty="0"/>
          </a:p>
        </p:txBody>
      </p:sp>
      <p:sp>
        <p:nvSpPr>
          <p:cNvPr id="3" name="Text 1"/>
          <p:cNvSpPr/>
          <p:nvPr>
            <p:ph type="title"/>
          </p:nvPr>
        </p:nvSpPr>
        <p:spPr>
          <a:xfrm>
            <a:off x="812800" y="1159216"/>
            <a:ext cx="10883392" cy="560312"/>
          </a:xfrm>
          <a:prstGeom prst="rect">
            <a:avLst/>
          </a:prstGeom>
          <a:noFill/>
          <a:ln/>
        </p:spPr>
        <p:txBody>
          <a:bodyPr wrap="square" lIns="0" tIns="0" rIns="0" bIns="0" rtlCol="0" anchor="t">
            <a:normAutofit/>
          </a:bodyPr>
          <a:lstStyle/>
          <a:p>
            <a:pPr algn="l" indent="0" marL="0">
              <a:lnSpc>
                <a:spcPts val="3674"/>
              </a:lnSpc>
              <a:buNone/>
            </a:pPr>
            <a:r>
              <a:rPr lang="en-US" sz="3499" b="1" i="0" dirty="0">
                <a:solidFill>
                  <a:srgbClr val="EAEEF3"/>
                </a:solidFill>
                <a:latin typeface="IBM Plex Sans" pitchFamily="34" charset="0"/>
                <a:ea typeface="IBM Plex Sans" pitchFamily="34" charset="-122"/>
                <a:cs typeface="IBM Plex Sans" pitchFamily="34" charset="-120"/>
              </a:rPr>
              <a:t>The kill chain, stage by stage</a:t>
            </a:r>
            <a:endParaRPr lang="en-US" sz="3499" dirty="0"/>
          </a:p>
        </p:txBody>
      </p:sp>
      <p:sp>
        <p:nvSpPr>
          <p:cNvPr id="4" name="Shape 2"/>
          <p:cNvSpPr/>
          <p:nvPr/>
        </p:nvSpPr>
        <p:spPr>
          <a:xfrm>
            <a:off x="812800" y="2648973"/>
            <a:ext cx="10566400" cy="0"/>
          </a:xfrm>
          <a:prstGeom prst="line">
            <a:avLst/>
          </a:prstGeom>
          <a:noFill/>
          <a:ln w="6350">
            <a:solidFill>
              <a:srgbClr val="263142"/>
            </a:solidFill>
            <a:prstDash val="solid"/>
          </a:ln>
        </p:spPr>
      </p:sp>
      <p:sp>
        <p:nvSpPr>
          <p:cNvPr id="5" name="Text 3"/>
          <p:cNvSpPr/>
          <p:nvPr/>
        </p:nvSpPr>
        <p:spPr>
          <a:xfrm>
            <a:off x="863600" y="2116175"/>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1</a:t>
            </a:r>
            <a:endParaRPr lang="en-US" sz="1900" dirty="0"/>
          </a:p>
        </p:txBody>
      </p:sp>
      <p:sp>
        <p:nvSpPr>
          <p:cNvPr id="6" name="Text 4"/>
          <p:cNvSpPr/>
          <p:nvPr/>
        </p:nvSpPr>
        <p:spPr>
          <a:xfrm>
            <a:off x="1422400" y="2146867"/>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Spearphishing</a:t>
            </a:r>
            <a:endParaRPr lang="en-US" sz="1600" dirty="0"/>
          </a:p>
        </p:txBody>
      </p:sp>
      <p:sp>
        <p:nvSpPr>
          <p:cNvPr id="7" name="Text 5"/>
          <p:cNvSpPr/>
          <p:nvPr/>
        </p:nvSpPr>
        <p:spPr>
          <a:xfrm>
            <a:off x="4038600" y="2177483"/>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Gov/bank-themed email, link plus PDF/DOCX</a:t>
            </a:r>
            <a:endParaRPr lang="en-US" sz="1400" dirty="0"/>
          </a:p>
        </p:txBody>
      </p:sp>
      <p:sp>
        <p:nvSpPr>
          <p:cNvPr id="8" name="Text 6"/>
          <p:cNvSpPr/>
          <p:nvPr/>
        </p:nvSpPr>
        <p:spPr>
          <a:xfrm>
            <a:off x="10007600" y="2177523"/>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T1566</a:t>
            </a:r>
            <a:endParaRPr lang="en-US" sz="1300" dirty="0"/>
          </a:p>
        </p:txBody>
      </p:sp>
      <p:sp>
        <p:nvSpPr>
          <p:cNvPr id="9" name="Shape 7"/>
          <p:cNvSpPr/>
          <p:nvPr/>
        </p:nvSpPr>
        <p:spPr>
          <a:xfrm>
            <a:off x="812800" y="3327551"/>
            <a:ext cx="10566400" cy="0"/>
          </a:xfrm>
          <a:prstGeom prst="line">
            <a:avLst/>
          </a:prstGeom>
          <a:noFill/>
          <a:ln w="6350">
            <a:solidFill>
              <a:srgbClr val="263142"/>
            </a:solidFill>
            <a:prstDash val="solid"/>
          </a:ln>
        </p:spPr>
      </p:sp>
      <p:sp>
        <p:nvSpPr>
          <p:cNvPr id="10" name="Text 8"/>
          <p:cNvSpPr/>
          <p:nvPr/>
        </p:nvSpPr>
        <p:spPr>
          <a:xfrm>
            <a:off x="863600" y="2794794"/>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2</a:t>
            </a:r>
            <a:endParaRPr lang="en-US" sz="1900" dirty="0"/>
          </a:p>
        </p:txBody>
      </p:sp>
      <p:sp>
        <p:nvSpPr>
          <p:cNvPr id="11" name="Text 9"/>
          <p:cNvSpPr/>
          <p:nvPr/>
        </p:nvSpPr>
        <p:spPr>
          <a:xfrm>
            <a:off x="1422400" y="2825449"/>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Geofenced delivery</a:t>
            </a:r>
            <a:endParaRPr lang="en-US" sz="1600" dirty="0"/>
          </a:p>
        </p:txBody>
      </p:sp>
      <p:sp>
        <p:nvSpPr>
          <p:cNvPr id="12" name="Text 10"/>
          <p:cNvSpPr/>
          <p:nvPr/>
        </p:nvSpPr>
        <p:spPr>
          <a:xfrm>
            <a:off x="4038600" y="2856102"/>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URL shortener drops non-target geos to real site</a:t>
            </a:r>
            <a:endParaRPr lang="en-US" sz="1400" dirty="0"/>
          </a:p>
        </p:txBody>
      </p:sp>
      <p:sp>
        <p:nvSpPr>
          <p:cNvPr id="13" name="Text 11"/>
          <p:cNvSpPr/>
          <p:nvPr/>
        </p:nvSpPr>
        <p:spPr>
          <a:xfrm>
            <a:off x="10007600" y="2856102"/>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T1102</a:t>
            </a:r>
            <a:endParaRPr lang="en-US" sz="1300" dirty="0"/>
          </a:p>
        </p:txBody>
      </p:sp>
      <p:sp>
        <p:nvSpPr>
          <p:cNvPr id="14" name="Shape 12"/>
          <p:cNvSpPr/>
          <p:nvPr/>
        </p:nvSpPr>
        <p:spPr>
          <a:xfrm>
            <a:off x="812800" y="4006170"/>
            <a:ext cx="10566400" cy="0"/>
          </a:xfrm>
          <a:prstGeom prst="line">
            <a:avLst/>
          </a:prstGeom>
          <a:noFill/>
          <a:ln w="6350">
            <a:solidFill>
              <a:srgbClr val="263142"/>
            </a:solidFill>
            <a:prstDash val="solid"/>
          </a:ln>
        </p:spPr>
      </p:sp>
      <p:sp>
        <p:nvSpPr>
          <p:cNvPr id="15" name="Text 13"/>
          <p:cNvSpPr/>
          <p:nvPr/>
        </p:nvSpPr>
        <p:spPr>
          <a:xfrm>
            <a:off x="863600" y="3473376"/>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3</a:t>
            </a:r>
            <a:endParaRPr lang="en-US" sz="1900" dirty="0"/>
          </a:p>
        </p:txBody>
      </p:sp>
      <p:sp>
        <p:nvSpPr>
          <p:cNvPr id="16" name="Text 14"/>
          <p:cNvSpPr/>
          <p:nvPr/>
        </p:nvSpPr>
        <p:spPr>
          <a:xfrm>
            <a:off x="1422400" y="3504065"/>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Archive / .url dropper</a:t>
            </a:r>
            <a:endParaRPr lang="en-US" sz="1600" dirty="0"/>
          </a:p>
        </p:txBody>
      </p:sp>
      <p:sp>
        <p:nvSpPr>
          <p:cNvPr id="17" name="Text 15"/>
          <p:cNvSpPr/>
          <p:nvPr/>
        </p:nvSpPr>
        <p:spPr>
          <a:xfrm>
            <a:off x="4038600" y="3534683"/>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ZIP/LHA/UUE or .url mimicking CVE-2024-43451</a:t>
            </a:r>
            <a:endParaRPr lang="en-US" sz="1400" dirty="0"/>
          </a:p>
        </p:txBody>
      </p:sp>
      <p:sp>
        <p:nvSpPr>
          <p:cNvPr id="18" name="Text 16"/>
          <p:cNvSpPr/>
          <p:nvPr/>
        </p:nvSpPr>
        <p:spPr>
          <a:xfrm>
            <a:off x="10007600" y="3534721"/>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T1204</a:t>
            </a:r>
            <a:endParaRPr lang="en-US" sz="1300" dirty="0"/>
          </a:p>
        </p:txBody>
      </p:sp>
      <p:sp>
        <p:nvSpPr>
          <p:cNvPr id="19" name="Shape 17"/>
          <p:cNvSpPr/>
          <p:nvPr/>
        </p:nvSpPr>
        <p:spPr>
          <a:xfrm>
            <a:off x="812800" y="4684789"/>
            <a:ext cx="10566400" cy="0"/>
          </a:xfrm>
          <a:prstGeom prst="line">
            <a:avLst/>
          </a:prstGeom>
          <a:noFill/>
          <a:ln w="6350">
            <a:solidFill>
              <a:srgbClr val="263142"/>
            </a:solidFill>
            <a:prstDash val="solid"/>
          </a:ln>
        </p:spPr>
      </p:sp>
      <p:sp>
        <p:nvSpPr>
          <p:cNvPr id="20" name="Text 18"/>
          <p:cNvSpPr/>
          <p:nvPr/>
        </p:nvSpPr>
        <p:spPr>
          <a:xfrm>
            <a:off x="863600" y="4151995"/>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4</a:t>
            </a:r>
            <a:endParaRPr lang="en-US" sz="1900" dirty="0"/>
          </a:p>
        </p:txBody>
      </p:sp>
      <p:sp>
        <p:nvSpPr>
          <p:cNvPr id="21" name="Text 19"/>
          <p:cNvSpPr/>
          <p:nvPr/>
        </p:nvSpPr>
        <p:spPr>
          <a:xfrm>
            <a:off x="1422400" y="4182684"/>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Scripted stager</a:t>
            </a:r>
            <a:endParaRPr lang="en-US" sz="1600" dirty="0"/>
          </a:p>
        </p:txBody>
      </p:sp>
      <p:sp>
        <p:nvSpPr>
          <p:cNvPr id="22" name="Text 20"/>
          <p:cNvSpPr/>
          <p:nvPr/>
        </p:nvSpPr>
        <p:spPr>
          <a:xfrm>
            <a:off x="4038600" y="4213303"/>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VBS / PowerShell pulls stage 2 (often stego)</a:t>
            </a:r>
            <a:endParaRPr lang="en-US" sz="1400" dirty="0"/>
          </a:p>
        </p:txBody>
      </p:sp>
      <p:sp>
        <p:nvSpPr>
          <p:cNvPr id="23" name="Text 21"/>
          <p:cNvSpPr/>
          <p:nvPr/>
        </p:nvSpPr>
        <p:spPr>
          <a:xfrm>
            <a:off x="10007600" y="4213340"/>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T1059</a:t>
            </a:r>
            <a:endParaRPr lang="en-US" sz="1300" dirty="0"/>
          </a:p>
        </p:txBody>
      </p:sp>
      <p:sp>
        <p:nvSpPr>
          <p:cNvPr id="24" name="Shape 22"/>
          <p:cNvSpPr/>
          <p:nvPr/>
        </p:nvSpPr>
        <p:spPr>
          <a:xfrm>
            <a:off x="812800" y="5363408"/>
            <a:ext cx="10566400" cy="0"/>
          </a:xfrm>
          <a:prstGeom prst="line">
            <a:avLst/>
          </a:prstGeom>
          <a:noFill/>
          <a:ln w="6350">
            <a:solidFill>
              <a:srgbClr val="263142"/>
            </a:solidFill>
            <a:prstDash val="solid"/>
          </a:ln>
        </p:spPr>
      </p:sp>
      <p:sp>
        <p:nvSpPr>
          <p:cNvPr id="25" name="Text 23"/>
          <p:cNvSpPr/>
          <p:nvPr/>
        </p:nvSpPr>
        <p:spPr>
          <a:xfrm>
            <a:off x="863600" y="4830611"/>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5</a:t>
            </a:r>
            <a:endParaRPr lang="en-US" sz="1900" dirty="0"/>
          </a:p>
        </p:txBody>
      </p:sp>
      <p:sp>
        <p:nvSpPr>
          <p:cNvPr id="26" name="Text 24"/>
          <p:cNvSpPr/>
          <p:nvPr/>
        </p:nvSpPr>
        <p:spPr>
          <a:xfrm>
            <a:off x="1422400" y="4861303"/>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Loader + injection</a:t>
            </a:r>
            <a:endParaRPr lang="en-US" sz="1600" dirty="0"/>
          </a:p>
        </p:txBody>
      </p:sp>
      <p:sp>
        <p:nvSpPr>
          <p:cNvPr id="27" name="Text 25"/>
          <p:cNvSpPr/>
          <p:nvPr/>
        </p:nvSpPr>
        <p:spPr>
          <a:xfrm>
            <a:off x="4038600" y="4891918"/>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HeartCrypt / HijackLoader hollow MSBuild, InstallUtil</a:t>
            </a:r>
            <a:endParaRPr lang="en-US" sz="1400" dirty="0"/>
          </a:p>
        </p:txBody>
      </p:sp>
      <p:sp>
        <p:nvSpPr>
          <p:cNvPr id="28" name="Text 26"/>
          <p:cNvSpPr/>
          <p:nvPr/>
        </p:nvSpPr>
        <p:spPr>
          <a:xfrm>
            <a:off x="10007600" y="4891959"/>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T1055.012</a:t>
            </a:r>
            <a:endParaRPr lang="en-US" sz="1300" dirty="0"/>
          </a:p>
        </p:txBody>
      </p:sp>
      <p:sp>
        <p:nvSpPr>
          <p:cNvPr id="29" name="Shape 27"/>
          <p:cNvSpPr/>
          <p:nvPr/>
        </p:nvSpPr>
        <p:spPr>
          <a:xfrm>
            <a:off x="812800" y="6042024"/>
            <a:ext cx="10566400" cy="0"/>
          </a:xfrm>
          <a:prstGeom prst="line">
            <a:avLst/>
          </a:prstGeom>
          <a:noFill/>
          <a:ln w="6350">
            <a:solidFill>
              <a:srgbClr val="263142"/>
            </a:solidFill>
            <a:prstDash val="solid"/>
          </a:ln>
        </p:spPr>
      </p:sp>
      <p:sp>
        <p:nvSpPr>
          <p:cNvPr id="30" name="Text 28"/>
          <p:cNvSpPr/>
          <p:nvPr/>
        </p:nvSpPr>
        <p:spPr>
          <a:xfrm>
            <a:off x="863600" y="5509230"/>
            <a:ext cx="406400" cy="413884"/>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E0A45A"/>
                </a:solidFill>
                <a:latin typeface="JetBrains Mono" pitchFamily="49" charset="0"/>
                <a:ea typeface="JetBrains Mono" pitchFamily="49" charset="-122"/>
                <a:cs typeface="JetBrains Mono" pitchFamily="49" charset="-120"/>
              </a:rPr>
              <a:t>6</a:t>
            </a:r>
            <a:endParaRPr lang="en-US" sz="1900" dirty="0"/>
          </a:p>
        </p:txBody>
      </p:sp>
      <p:sp>
        <p:nvSpPr>
          <p:cNvPr id="31" name="Text 29"/>
          <p:cNvSpPr/>
          <p:nvPr/>
        </p:nvSpPr>
        <p:spPr>
          <a:xfrm>
            <a:off x="1422400" y="5539922"/>
            <a:ext cx="2485390" cy="3525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AEEF3"/>
                </a:solidFill>
                <a:latin typeface="IBM Plex Sans" pitchFamily="34" charset="0"/>
                <a:ea typeface="IBM Plex Sans" pitchFamily="34" charset="-122"/>
                <a:cs typeface="IBM Plex Sans" pitchFamily="34" charset="-120"/>
              </a:rPr>
              <a:t>Commodity RAT + C2</a:t>
            </a:r>
            <a:endParaRPr lang="en-US" sz="1600" dirty="0"/>
          </a:p>
        </p:txBody>
      </p:sp>
      <p:sp>
        <p:nvSpPr>
          <p:cNvPr id="32" name="Text 30"/>
          <p:cNvSpPr/>
          <p:nvPr/>
        </p:nvSpPr>
        <p:spPr>
          <a:xfrm>
            <a:off x="4038600" y="5570538"/>
            <a:ext cx="5991098" cy="29123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9B4C0"/>
                </a:solidFill>
                <a:latin typeface="IBM Plex Sans" pitchFamily="34" charset="0"/>
                <a:ea typeface="IBM Plex Sans" pitchFamily="34" charset="-122"/>
                <a:cs typeface="IBM Plex Sans" pitchFamily="34" charset="-120"/>
              </a:rPr>
              <a:t>AsyncRAT / Remcos over dynamic DNS; collection</a:t>
            </a:r>
            <a:endParaRPr lang="en-US" sz="1400" dirty="0"/>
          </a:p>
        </p:txBody>
      </p:sp>
      <p:sp>
        <p:nvSpPr>
          <p:cNvPr id="33" name="Text 31"/>
          <p:cNvSpPr/>
          <p:nvPr/>
        </p:nvSpPr>
        <p:spPr>
          <a:xfrm>
            <a:off x="10007600" y="5570575"/>
            <a:ext cx="1320800" cy="291193"/>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8E9BAA"/>
                </a:solidFill>
                <a:latin typeface="JetBrains Mono" pitchFamily="49" charset="0"/>
                <a:ea typeface="JetBrains Mono" pitchFamily="49" charset="-122"/>
                <a:cs typeface="JetBrains Mono" pitchFamily="49" charset="-120"/>
              </a:rPr>
              <a:t>T1071</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196170"/>
          </a:xfrm>
          <a:prstGeom prst="rect">
            <a:avLst/>
          </a:prstGeom>
          <a:noFill/>
          <a:ln/>
        </p:spPr>
        <p:txBody>
          <a:bodyPr wrap="square" lIns="0" tIns="0" rIns="0" bIns="0" rtlCol="0" anchor="t">
            <a:normAutofit/>
          </a:bodyPr>
          <a:lstStyle/>
          <a:p>
            <a:pPr algn="l" indent="0" marL="0">
              <a:lnSpc>
                <a:spcPts val="1194"/>
              </a:lnSpc>
              <a:buNone/>
            </a:pPr>
            <a:r>
              <a:rPr lang="en-US" sz="853" spc="150" kern="0" dirty="0">
                <a:solidFill>
                  <a:srgbClr val="E0A45A"/>
                </a:solidFill>
                <a:latin typeface="JetBrains Mono" pitchFamily="49" charset="0"/>
                <a:ea typeface="JetBrains Mono" pitchFamily="49" charset="-122"/>
                <a:cs typeface="JetBrains Mono" pitchFamily="49" charset="-120"/>
              </a:rPr>
              <a:t>ARSENAL</a:t>
            </a:r>
            <a:endParaRPr lang="en-US" sz="853" dirty="0"/>
          </a:p>
        </p:txBody>
      </p:sp>
      <p:sp>
        <p:nvSpPr>
          <p:cNvPr id="3" name="Text 1"/>
          <p:cNvSpPr/>
          <p:nvPr>
            <p:ph type="title"/>
          </p:nvPr>
        </p:nvSpPr>
        <p:spPr>
          <a:xfrm>
            <a:off x="812800" y="1072471"/>
            <a:ext cx="10883392" cy="380093"/>
          </a:xfrm>
          <a:prstGeom prst="rect">
            <a:avLst/>
          </a:prstGeom>
          <a:noFill/>
          <a:ln/>
        </p:spPr>
        <p:txBody>
          <a:bodyPr wrap="square" lIns="0" tIns="0" rIns="0" bIns="0" rtlCol="0" anchor="t">
            <a:normAutofit/>
          </a:bodyPr>
          <a:lstStyle/>
          <a:p>
            <a:pPr algn="l" indent="0" marL="0">
              <a:lnSpc>
                <a:spcPts val="2445"/>
              </a:lnSpc>
              <a:buNone/>
            </a:pPr>
            <a:r>
              <a:rPr lang="en-US" sz="2329" b="1" i="0" dirty="0">
                <a:solidFill>
                  <a:srgbClr val="EAEEF3"/>
                </a:solidFill>
                <a:latin typeface="IBM Plex Sans" pitchFamily="34" charset="0"/>
                <a:ea typeface="IBM Plex Sans" pitchFamily="34" charset="-122"/>
                <a:cs typeface="IBM Plex Sans" pitchFamily="34" charset="-120"/>
              </a:rPr>
              <a:t>Buy the ends, build the middle</a:t>
            </a:r>
            <a:endParaRPr lang="en-US" sz="2329"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895" y="1718658"/>
          <a:ext cx="10554305" cy="4326542"/>
        </p:xfrm>
        <a:graphic>
          <a:graphicData uri="http://schemas.openxmlformats.org/drawingml/2006/table">
            <a:tbl>
              <a:tblPr/>
              <a:tblGrid>
                <a:gridCol w="3166291"/>
                <a:gridCol w="3166291"/>
                <a:gridCol w="4221722"/>
              </a:tblGrid>
              <a:tr h="480710">
                <a:tc>
                  <a:txBody>
                    <a:bodyPr/>
                    <a:lstStyle/>
                    <a:p>
                      <a:pPr indent="0" marL="0">
                        <a:lnSpc>
                          <a:spcPts val="1662"/>
                        </a:lnSpc>
                        <a:buNone/>
                      </a:pPr>
                      <a:r>
                        <a:rPr lang="en-US" sz="1187" b="1" dirty="0">
                          <a:solidFill>
                            <a:srgbClr val="E0A45A"/>
                          </a:solidFill>
                          <a:latin typeface="IBM Plex Sans" pitchFamily="34" charset="0"/>
                          <a:ea typeface="IBM Plex Sans" pitchFamily="34" charset="-122"/>
                          <a:cs typeface="IBM Plex Sans" pitchFamily="34" charset="-120"/>
                        </a:rPr>
                        <a:t>Tool</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662"/>
                        </a:lnSpc>
                        <a:buNone/>
                      </a:pPr>
                      <a:r>
                        <a:rPr lang="en-US" sz="1187" b="1" dirty="0">
                          <a:solidFill>
                            <a:srgbClr val="E0A45A"/>
                          </a:solidFill>
                          <a:latin typeface="IBM Plex Sans" pitchFamily="34" charset="0"/>
                          <a:ea typeface="IBM Plex Sans" pitchFamily="34" charset="-122"/>
                          <a:cs typeface="IBM Plex Sans" pitchFamily="34" charset="-120"/>
                        </a:rPr>
                        <a:t>Type</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c>
                  <a:txBody>
                    <a:bodyPr/>
                    <a:lstStyle/>
                    <a:p>
                      <a:pPr indent="0" marL="0">
                        <a:lnSpc>
                          <a:spcPts val="1662"/>
                        </a:lnSpc>
                        <a:buNone/>
                      </a:pPr>
                      <a:r>
                        <a:rPr lang="en-US" sz="1187" b="1" dirty="0">
                          <a:solidFill>
                            <a:srgbClr val="E0A45A"/>
                          </a:solidFill>
                          <a:latin typeface="IBM Plex Sans" pitchFamily="34" charset="0"/>
                          <a:ea typeface="IBM Plex Sans" pitchFamily="34" charset="-122"/>
                          <a:cs typeface="IBM Plex Sans" pitchFamily="34" charset="-120"/>
                        </a:rPr>
                        <a:t>Role in the chain</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C535B"/>
                      </a:solidFill>
                      <a:prstDash val="solid"/>
                      <a:round/>
                      <a:headEnd type="none" w="med" len="med"/>
                      <a:tailEnd type="none" w="med" len="med"/>
                    </a:lnL>
                    <a:lnR w="12700" cap="flat" cmpd="sng" algn="ctr">
                      <a:solidFill>
                        <a:srgbClr val="4C535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C535B"/>
                      </a:solidFill>
                      <a:prstDash val="solid"/>
                      <a:round/>
                      <a:headEnd type="none" w="med" len="med"/>
                      <a:tailEnd type="none" w="med" len="med"/>
                    </a:lnB>
                    <a:solidFill>
                      <a:srgbClr val="1B2430"/>
                    </a:solidFill>
                  </a:tcPr>
                </a:tc>
              </a:tr>
              <a:tr h="480710">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AsyncRAT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Commodity 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Common final payload; keylogging, remote control</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C535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10">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Remcos</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Commodity 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Final payload in the 2024–25 .url campaigns</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10">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Quasar (modified)</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RAT → banking trojan</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Steals Colombian online-banking credentials</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10">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njRAT / LimeRAT / BitRAT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Commodity RATs</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Rotated final payloads across campaigns</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48">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HijackLoader</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Modular loader</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DLL-sideloaded, then injects the 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48">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HeartCrypt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Packer-as-a-Service</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Packs payload; injects a .NET stage into csc.exe</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48">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PureCrypter (variant)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.NET downloader</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Profiles host, fetches and injects final RAT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r h="480748">
                <a:tc>
                  <a:txBody>
                    <a:bodyPr/>
                    <a:lstStyle/>
                    <a:p>
                      <a:pPr indent="0" marL="0">
                        <a:lnSpc>
                          <a:spcPts val="1662"/>
                        </a:lnSpc>
                        <a:buNone/>
                      </a:pPr>
                      <a:r>
                        <a:rPr lang="en-US" sz="1187" dirty="0">
                          <a:solidFill>
                            <a:srgbClr val="EAEEF3"/>
                          </a:solidFill>
                          <a:latin typeface="IBM Plex Sans" pitchFamily="34" charset="0"/>
                          <a:ea typeface="IBM Plex Sans" pitchFamily="34" charset="-122"/>
                          <a:cs typeface="IBM Plex Sans" pitchFamily="34" charset="-120"/>
                        </a:rPr>
                        <a:t>.url (CVE-2024-43451 mimic)</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Initial-access artifact</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c>
                  <a:txBody>
                    <a:bodyPr/>
                    <a:lstStyle/>
                    <a:p>
                      <a:pPr indent="0" marL="0">
                        <a:lnSpc>
                          <a:spcPts val="1662"/>
                        </a:lnSpc>
                        <a:buNone/>
                      </a:pPr>
                      <a:r>
                        <a:rPr lang="en-US" sz="1187" dirty="0">
                          <a:solidFill>
                            <a:srgbClr val="A9B4C0"/>
                          </a:solidFill>
                          <a:latin typeface="IBM Plex Sans" pitchFamily="34" charset="0"/>
                          <a:ea typeface="IBM Plex Sans" pitchFamily="34" charset="-122"/>
                          <a:cs typeface="IBM Plex Sans" pitchFamily="34" charset="-120"/>
                        </a:rPr>
                        <a:t>WebDAV callback signals interaction, pulls stage</a:t>
                      </a:r>
                      <a:endParaRPr lang="en-US" sz="1187" dirty="0">
                        <a:latin typeface="IBM Plex Sans" charset="0"/>
                        <a:ea typeface="IBM Plex Sans" charset="0"/>
                        <a:cs typeface="IBM Plex Sans" charset="0"/>
                      </a:endParaRPr>
                    </a:p>
                  </a:txBody>
                  <a:tcPr marL="152400" marR="152400" marT="101600" marB="101600" anchor="t">
                    <a:lnL w="12700" cap="flat" cmpd="sng" algn="ctr">
                      <a:solidFill>
                        <a:srgbClr val="43464B"/>
                      </a:solidFill>
                      <a:prstDash val="solid"/>
                      <a:round/>
                      <a:headEnd type="none" w="med" len="med"/>
                      <a:tailEnd type="none" w="med" len="med"/>
                    </a:lnL>
                    <a:lnR w="12700" cap="flat" cmpd="sng" algn="ctr">
                      <a:solidFill>
                        <a:srgbClr val="43464B"/>
                      </a:solidFill>
                      <a:prstDash val="solid"/>
                      <a:round/>
                      <a:headEnd type="none" w="med" len="med"/>
                      <a:tailEnd type="none" w="med" len="med"/>
                    </a:lnR>
                    <a:lnT w="12700" cap="flat" cmpd="sng" algn="ctr">
                      <a:solidFill>
                        <a:srgbClr val="43464B"/>
                      </a:solidFill>
                      <a:prstDash val="solid"/>
                      <a:round/>
                      <a:headEnd type="none" w="med" len="med"/>
                      <a:tailEnd type="none" w="med" len="med"/>
                    </a:lnT>
                    <a:lnB w="12700" cap="flat" cmpd="sng" algn="ctr">
                      <a:solidFill>
                        <a:srgbClr val="43464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85901"/>
          </a:xfrm>
          <a:prstGeom prst="rect">
            <a:avLst/>
          </a:prstGeom>
          <a:noFill/>
          <a:ln/>
        </p:spPr>
        <p:txBody>
          <a:bodyPr wrap="square" lIns="0" tIns="0" rIns="0" bIns="0" rtlCol="0" anchor="t">
            <a:normAutofit/>
          </a:bodyPr>
          <a:lstStyle/>
          <a:p>
            <a:pPr algn="l" indent="0" marL="0">
              <a:lnSpc>
                <a:spcPts val="1803"/>
              </a:lnSpc>
              <a:buNone/>
            </a:pPr>
            <a:r>
              <a:rPr lang="en-US" sz="1288" spc="150" kern="0" dirty="0">
                <a:solidFill>
                  <a:srgbClr val="E0A45A"/>
                </a:solidFill>
                <a:latin typeface="JetBrains Mono" pitchFamily="49" charset="0"/>
                <a:ea typeface="JetBrains Mono" pitchFamily="49" charset="-122"/>
                <a:cs typeface="JetBrains Mono" pitchFamily="49" charset="-120"/>
              </a:rPr>
              <a:t>EVOLUTION</a:t>
            </a:r>
            <a:endParaRPr lang="en-US" sz="1288" dirty="0"/>
          </a:p>
        </p:txBody>
      </p:sp>
      <p:sp>
        <p:nvSpPr>
          <p:cNvPr id="3" name="Text 1"/>
          <p:cNvSpPr/>
          <p:nvPr>
            <p:ph type="title"/>
          </p:nvPr>
        </p:nvSpPr>
        <p:spPr>
          <a:xfrm>
            <a:off x="812800" y="1162202"/>
            <a:ext cx="10883392" cy="566435"/>
          </a:xfrm>
          <a:prstGeom prst="rect">
            <a:avLst/>
          </a:prstGeom>
          <a:noFill/>
          <a:ln/>
        </p:spPr>
        <p:txBody>
          <a:bodyPr wrap="square" lIns="0" tIns="0" rIns="0" bIns="0" rtlCol="0" anchor="t">
            <a:normAutofit/>
          </a:bodyPr>
          <a:lstStyle/>
          <a:p>
            <a:pPr algn="l" indent="0" marL="0">
              <a:lnSpc>
                <a:spcPts val="3709"/>
              </a:lnSpc>
              <a:buNone/>
            </a:pPr>
            <a:r>
              <a:rPr lang="en-US" sz="3532" b="1" i="0" dirty="0">
                <a:solidFill>
                  <a:srgbClr val="EAEEF3"/>
                </a:solidFill>
                <a:latin typeface="IBM Plex Sans" pitchFamily="34" charset="0"/>
                <a:ea typeface="IBM Plex Sans" pitchFamily="34" charset="-122"/>
                <a:cs typeface="IBM Plex Sans" pitchFamily="34" charset="-120"/>
              </a:rPr>
              <a:t>Seven years, one refined playbook</a:t>
            </a:r>
            <a:endParaRPr lang="en-US" sz="3532" dirty="0"/>
          </a:p>
        </p:txBody>
      </p:sp>
      <p:sp>
        <p:nvSpPr>
          <p:cNvPr id="4" name="Shape 2"/>
          <p:cNvSpPr/>
          <p:nvPr/>
        </p:nvSpPr>
        <p:spPr>
          <a:xfrm>
            <a:off x="812800" y="2559843"/>
            <a:ext cx="10566400" cy="0"/>
          </a:xfrm>
          <a:prstGeom prst="line">
            <a:avLst/>
          </a:prstGeom>
          <a:noFill/>
          <a:ln w="6350">
            <a:solidFill>
              <a:srgbClr val="263142"/>
            </a:solidFill>
            <a:prstDash val="solid"/>
          </a:ln>
        </p:spPr>
      </p:sp>
      <p:sp>
        <p:nvSpPr>
          <p:cNvPr id="5" name="Text 3"/>
          <p:cNvSpPr/>
          <p:nvPr/>
        </p:nvSpPr>
        <p:spPr>
          <a:xfrm>
            <a:off x="863600" y="2122336"/>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2018</a:t>
            </a:r>
            <a:endParaRPr lang="en-US" sz="1500" dirty="0"/>
          </a:p>
        </p:txBody>
      </p:sp>
      <p:sp>
        <p:nvSpPr>
          <p:cNvPr id="6" name="Text 4"/>
          <p:cNvSpPr/>
          <p:nvPr/>
        </p:nvSpPr>
        <p:spPr>
          <a:xfrm>
            <a:off x="3403600" y="2127176"/>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First tracked activity targeting Colombia</a:t>
            </a:r>
            <a:endParaRPr lang="en-US" sz="1500" dirty="0"/>
          </a:p>
        </p:txBody>
      </p:sp>
      <p:sp>
        <p:nvSpPr>
          <p:cNvPr id="7" name="Shape 5"/>
          <p:cNvSpPr/>
          <p:nvPr/>
        </p:nvSpPr>
        <p:spPr>
          <a:xfrm>
            <a:off x="812800" y="3140188"/>
            <a:ext cx="10566400" cy="0"/>
          </a:xfrm>
          <a:prstGeom prst="line">
            <a:avLst/>
          </a:prstGeom>
          <a:noFill/>
          <a:ln w="6350">
            <a:solidFill>
              <a:srgbClr val="263142"/>
            </a:solidFill>
            <a:prstDash val="solid"/>
          </a:ln>
        </p:spPr>
      </p:sp>
      <p:sp>
        <p:nvSpPr>
          <p:cNvPr id="8" name="Text 6"/>
          <p:cNvSpPr/>
          <p:nvPr/>
        </p:nvSpPr>
        <p:spPr>
          <a:xfrm>
            <a:off x="863600" y="2702719"/>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2021</a:t>
            </a:r>
            <a:endParaRPr lang="en-US" sz="1500" dirty="0"/>
          </a:p>
        </p:txBody>
      </p:sp>
      <p:sp>
        <p:nvSpPr>
          <p:cNvPr id="9" name="Text 7"/>
          <p:cNvSpPr/>
          <p:nvPr/>
        </p:nvSpPr>
        <p:spPr>
          <a:xfrm>
            <a:off x="3403600" y="2707559"/>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BitRAT spam; URL-shortener geofencing documented</a:t>
            </a:r>
            <a:endParaRPr lang="en-US" sz="1500" dirty="0"/>
          </a:p>
        </p:txBody>
      </p:sp>
      <p:sp>
        <p:nvSpPr>
          <p:cNvPr id="10" name="Shape 8"/>
          <p:cNvSpPr/>
          <p:nvPr/>
        </p:nvSpPr>
        <p:spPr>
          <a:xfrm>
            <a:off x="812800" y="3720572"/>
            <a:ext cx="10566400" cy="0"/>
          </a:xfrm>
          <a:prstGeom prst="line">
            <a:avLst/>
          </a:prstGeom>
          <a:noFill/>
          <a:ln w="6350">
            <a:solidFill>
              <a:srgbClr val="263142"/>
            </a:solidFill>
            <a:prstDash val="solid"/>
          </a:ln>
        </p:spPr>
      </p:sp>
      <p:sp>
        <p:nvSpPr>
          <p:cNvPr id="11" name="Text 9"/>
          <p:cNvSpPr/>
          <p:nvPr/>
        </p:nvSpPr>
        <p:spPr>
          <a:xfrm>
            <a:off x="863600" y="3283065"/>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Jun 2024</a:t>
            </a:r>
            <a:endParaRPr lang="en-US" sz="1500" dirty="0"/>
          </a:p>
        </p:txBody>
      </p:sp>
      <p:sp>
        <p:nvSpPr>
          <p:cNvPr id="12" name="Text 10"/>
          <p:cNvSpPr/>
          <p:nvPr/>
        </p:nvSpPr>
        <p:spPr>
          <a:xfrm>
            <a:off x="3403600" y="3287902"/>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HijackLoader + DLL sideloading deliver AsyncRAT</a:t>
            </a:r>
            <a:endParaRPr lang="en-US" sz="1500" dirty="0"/>
          </a:p>
        </p:txBody>
      </p:sp>
      <p:sp>
        <p:nvSpPr>
          <p:cNvPr id="13" name="Shape 11"/>
          <p:cNvSpPr/>
          <p:nvPr/>
        </p:nvSpPr>
        <p:spPr>
          <a:xfrm>
            <a:off x="812800" y="4300918"/>
            <a:ext cx="10566400" cy="0"/>
          </a:xfrm>
          <a:prstGeom prst="line">
            <a:avLst/>
          </a:prstGeom>
          <a:noFill/>
          <a:ln w="6350">
            <a:solidFill>
              <a:srgbClr val="263142"/>
            </a:solidFill>
            <a:prstDash val="solid"/>
          </a:ln>
        </p:spPr>
      </p:sp>
      <p:sp>
        <p:nvSpPr>
          <p:cNvPr id="14" name="Text 12"/>
          <p:cNvSpPr/>
          <p:nvPr/>
        </p:nvSpPr>
        <p:spPr>
          <a:xfrm>
            <a:off x="863600" y="3863448"/>
            <a:ext cx="254000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Nov 2024–Feb 2025</a:t>
            </a:r>
            <a:endParaRPr lang="en-US" sz="1500" dirty="0"/>
          </a:p>
        </p:txBody>
      </p:sp>
      <p:sp>
        <p:nvSpPr>
          <p:cNvPr id="15" name="Text 13"/>
          <p:cNvSpPr/>
          <p:nvPr/>
        </p:nvSpPr>
        <p:spPr>
          <a:xfrm>
            <a:off x="3403600" y="3868285"/>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.url / CVE-2024-43451 mimic; 1,600+ victims</a:t>
            </a:r>
            <a:endParaRPr lang="en-US" sz="1500" dirty="0"/>
          </a:p>
        </p:txBody>
      </p:sp>
      <p:sp>
        <p:nvSpPr>
          <p:cNvPr id="16" name="Shape 14"/>
          <p:cNvSpPr/>
          <p:nvPr/>
        </p:nvSpPr>
        <p:spPr>
          <a:xfrm>
            <a:off x="812800" y="4881298"/>
            <a:ext cx="10566400" cy="0"/>
          </a:xfrm>
          <a:prstGeom prst="line">
            <a:avLst/>
          </a:prstGeom>
          <a:noFill/>
          <a:ln w="6350">
            <a:solidFill>
              <a:srgbClr val="263142"/>
            </a:solidFill>
            <a:prstDash val="solid"/>
          </a:ln>
        </p:spPr>
      </p:sp>
      <p:sp>
        <p:nvSpPr>
          <p:cNvPr id="17" name="Text 15"/>
          <p:cNvSpPr/>
          <p:nvPr/>
        </p:nvSpPr>
        <p:spPr>
          <a:xfrm>
            <a:off x="863600" y="4443791"/>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Feb 2025</a:t>
            </a:r>
            <a:endParaRPr lang="en-US" sz="1500" dirty="0"/>
          </a:p>
        </p:txBody>
      </p:sp>
      <p:sp>
        <p:nvSpPr>
          <p:cNvPr id="18" name="Text 16"/>
          <p:cNvSpPr/>
          <p:nvPr/>
        </p:nvSpPr>
        <p:spPr>
          <a:xfrm>
            <a:off x="3403600" y="4448631"/>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“OPFail” leaks 8,000+ stolen credential records</a:t>
            </a:r>
            <a:endParaRPr lang="en-US" sz="1500" dirty="0"/>
          </a:p>
        </p:txBody>
      </p:sp>
      <p:sp>
        <p:nvSpPr>
          <p:cNvPr id="19" name="Shape 17"/>
          <p:cNvSpPr/>
          <p:nvPr/>
        </p:nvSpPr>
        <p:spPr>
          <a:xfrm>
            <a:off x="812800" y="5461644"/>
            <a:ext cx="10566400" cy="0"/>
          </a:xfrm>
          <a:prstGeom prst="line">
            <a:avLst/>
          </a:prstGeom>
          <a:noFill/>
          <a:ln w="6350">
            <a:solidFill>
              <a:srgbClr val="263142"/>
            </a:solidFill>
            <a:prstDash val="solid"/>
          </a:ln>
        </p:spPr>
      </p:sp>
      <p:sp>
        <p:nvSpPr>
          <p:cNvPr id="20" name="Text 18"/>
          <p:cNvSpPr/>
          <p:nvPr/>
        </p:nvSpPr>
        <p:spPr>
          <a:xfrm>
            <a:off x="863600" y="5024174"/>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Sep 2025</a:t>
            </a:r>
            <a:endParaRPr lang="en-US" sz="1500" dirty="0"/>
          </a:p>
        </p:txBody>
      </p:sp>
      <p:sp>
        <p:nvSpPr>
          <p:cNvPr id="21" name="Text 19"/>
          <p:cNvSpPr/>
          <p:nvPr/>
        </p:nvSpPr>
        <p:spPr>
          <a:xfrm>
            <a:off x="3403600" y="5029011"/>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Caminho loader + DCRAT vs. a government agency</a:t>
            </a:r>
            <a:endParaRPr lang="en-US" sz="1500" dirty="0"/>
          </a:p>
        </p:txBody>
      </p:sp>
      <p:sp>
        <p:nvSpPr>
          <p:cNvPr id="22" name="Shape 20"/>
          <p:cNvSpPr/>
          <p:nvPr/>
        </p:nvSpPr>
        <p:spPr>
          <a:xfrm>
            <a:off x="812800" y="6042027"/>
            <a:ext cx="10566400" cy="0"/>
          </a:xfrm>
          <a:prstGeom prst="line">
            <a:avLst/>
          </a:prstGeom>
          <a:noFill/>
          <a:ln w="6350">
            <a:solidFill>
              <a:srgbClr val="263142"/>
            </a:solidFill>
            <a:prstDash val="solid"/>
          </a:ln>
        </p:spPr>
      </p:sp>
      <p:sp>
        <p:nvSpPr>
          <p:cNvPr id="23" name="Text 21"/>
          <p:cNvSpPr/>
          <p:nvPr/>
        </p:nvSpPr>
        <p:spPr>
          <a:xfrm>
            <a:off x="863600" y="5604520"/>
            <a:ext cx="2354580" cy="33209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0A45A"/>
                </a:solidFill>
                <a:latin typeface="JetBrains Mono" pitchFamily="49" charset="0"/>
                <a:ea typeface="JetBrains Mono" pitchFamily="49" charset="-122"/>
                <a:cs typeface="JetBrains Mono" pitchFamily="49" charset="-120"/>
              </a:rPr>
              <a:t>2026</a:t>
            </a:r>
            <a:endParaRPr lang="en-US" sz="1500" dirty="0"/>
          </a:p>
        </p:txBody>
      </p:sp>
      <p:sp>
        <p:nvSpPr>
          <p:cNvPr id="24" name="Text 22"/>
          <p:cNvSpPr/>
          <p:nvPr/>
        </p:nvSpPr>
        <p:spPr>
          <a:xfrm>
            <a:off x="3403600" y="5609357"/>
            <a:ext cx="8162544" cy="310167"/>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7D0DB"/>
                </a:solidFill>
                <a:latin typeface="IBM Plex Sans" pitchFamily="34" charset="0"/>
                <a:ea typeface="IBM Plex Sans" pitchFamily="34" charset="-122"/>
                <a:cs typeface="IBM Plex Sans" pitchFamily="34" charset="-120"/>
              </a:rPr>
              <a:t>AsyncRAT via AutoIt RunPE; DuckDNS C2 rotation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1246"/>
          </a:xfrm>
          <a:prstGeom prst="rect">
            <a:avLst/>
          </a:prstGeom>
          <a:noFill/>
          <a:ln/>
        </p:spPr>
        <p:txBody>
          <a:bodyPr wrap="square" lIns="0" tIns="0" rIns="0" bIns="0" rtlCol="0" anchor="t">
            <a:normAutofit/>
          </a:bodyPr>
          <a:lstStyle/>
          <a:p>
            <a:pPr algn="l" indent="0" marL="0">
              <a:lnSpc>
                <a:spcPts val="1411"/>
              </a:lnSpc>
              <a:buNone/>
            </a:pPr>
            <a:r>
              <a:rPr lang="en-US" sz="1008" spc="150" kern="0" dirty="0">
                <a:solidFill>
                  <a:srgbClr val="E0A45A"/>
                </a:solidFill>
                <a:latin typeface="JetBrains Mono" pitchFamily="49" charset="0"/>
                <a:ea typeface="JetBrains Mono" pitchFamily="49" charset="-122"/>
                <a:cs typeface="JetBrains Mono" pitchFamily="49" charset="-120"/>
              </a:rPr>
              <a:t>MITRE ATT&amp;CK</a:t>
            </a:r>
            <a:endParaRPr lang="en-US" sz="1008" dirty="0"/>
          </a:p>
        </p:txBody>
      </p:sp>
      <p:sp>
        <p:nvSpPr>
          <p:cNvPr id="3" name="Text 1"/>
          <p:cNvSpPr/>
          <p:nvPr>
            <p:ph type="title"/>
          </p:nvPr>
        </p:nvSpPr>
        <p:spPr>
          <a:xfrm>
            <a:off x="812800" y="1107548"/>
            <a:ext cx="10883392" cy="452929"/>
          </a:xfrm>
          <a:prstGeom prst="rect">
            <a:avLst/>
          </a:prstGeom>
          <a:noFill/>
          <a:ln/>
        </p:spPr>
        <p:txBody>
          <a:bodyPr wrap="square" lIns="0" tIns="0" rIns="0" bIns="0" rtlCol="0" anchor="t">
            <a:normAutofit/>
          </a:bodyPr>
          <a:lstStyle/>
          <a:p>
            <a:pPr algn="l" indent="0" marL="0">
              <a:lnSpc>
                <a:spcPts val="2930"/>
              </a:lnSpc>
              <a:buNone/>
            </a:pPr>
            <a:r>
              <a:rPr lang="en-US" sz="2790" b="1" i="0" dirty="0">
                <a:solidFill>
                  <a:srgbClr val="EAEEF3"/>
                </a:solidFill>
                <a:latin typeface="IBM Plex Sans" pitchFamily="34" charset="0"/>
                <a:ea typeface="IBM Plex Sans" pitchFamily="34" charset="-122"/>
                <a:cs typeface="IBM Plex Sans" pitchFamily="34" charset="-120"/>
              </a:rPr>
              <a:t>Technique highlights</a:t>
            </a:r>
            <a:endParaRPr lang="en-US" sz="2790" dirty="0"/>
          </a:p>
        </p:txBody>
      </p:sp>
      <p:sp>
        <p:nvSpPr>
          <p:cNvPr id="4" name="Shape 2"/>
          <p:cNvSpPr/>
          <p:nvPr/>
        </p:nvSpPr>
        <p:spPr>
          <a:xfrm>
            <a:off x="815975" y="1817650"/>
            <a:ext cx="5207000" cy="728020"/>
          </a:xfrm>
          <a:prstGeom prst="roundRect">
            <a:avLst>
              <a:gd name="adj" fmla="val 11775"/>
            </a:avLst>
          </a:prstGeom>
          <a:solidFill>
            <a:srgbClr val="161D27"/>
          </a:solidFill>
          <a:ln w="6350">
            <a:solidFill>
              <a:srgbClr val="263142"/>
            </a:solidFill>
            <a:prstDash val="solid"/>
          </a:ln>
        </p:spPr>
      </p:sp>
      <p:sp>
        <p:nvSpPr>
          <p:cNvPr id="5" name="Text 3"/>
          <p:cNvSpPr/>
          <p:nvPr/>
        </p:nvSpPr>
        <p:spPr>
          <a:xfrm>
            <a:off x="102083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T1566.002  ·  Initial Access</a:t>
            </a:r>
            <a:endParaRPr lang="en-US" sz="821" dirty="0"/>
          </a:p>
        </p:txBody>
      </p:sp>
      <p:sp>
        <p:nvSpPr>
          <p:cNvPr id="6" name="Text 4"/>
          <p:cNvSpPr/>
          <p:nvPr/>
        </p:nvSpPr>
        <p:spPr>
          <a:xfrm>
            <a:off x="102083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Spearphishing Link</a:t>
            </a:r>
            <a:endParaRPr lang="en-US" sz="947" dirty="0"/>
          </a:p>
        </p:txBody>
      </p:sp>
      <p:sp>
        <p:nvSpPr>
          <p:cNvPr id="7" name="Shape 5"/>
          <p:cNvSpPr/>
          <p:nvPr/>
        </p:nvSpPr>
        <p:spPr>
          <a:xfrm>
            <a:off x="6169025" y="1817650"/>
            <a:ext cx="5207000" cy="728020"/>
          </a:xfrm>
          <a:prstGeom prst="roundRect">
            <a:avLst>
              <a:gd name="adj" fmla="val 11775"/>
            </a:avLst>
          </a:prstGeom>
          <a:solidFill>
            <a:srgbClr val="161D27"/>
          </a:solidFill>
          <a:ln w="6350">
            <a:solidFill>
              <a:srgbClr val="263142"/>
            </a:solidFill>
            <a:prstDash val="solid"/>
          </a:ln>
        </p:spPr>
      </p:sp>
      <p:sp>
        <p:nvSpPr>
          <p:cNvPr id="8" name="Text 6"/>
          <p:cNvSpPr/>
          <p:nvPr/>
        </p:nvSpPr>
        <p:spPr>
          <a:xfrm>
            <a:off x="6373888" y="198441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T1204  ·  Execution</a:t>
            </a:r>
            <a:endParaRPr lang="en-US" sz="821" dirty="0"/>
          </a:p>
        </p:txBody>
      </p:sp>
      <p:sp>
        <p:nvSpPr>
          <p:cNvPr id="9" name="Text 7"/>
          <p:cNvSpPr/>
          <p:nvPr/>
        </p:nvSpPr>
        <p:spPr>
          <a:xfrm>
            <a:off x="6373888" y="2187990"/>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User Execution</a:t>
            </a:r>
            <a:endParaRPr lang="en-US" sz="947" dirty="0"/>
          </a:p>
        </p:txBody>
      </p:sp>
      <p:sp>
        <p:nvSpPr>
          <p:cNvPr id="10" name="Shape 8"/>
          <p:cNvSpPr/>
          <p:nvPr/>
        </p:nvSpPr>
        <p:spPr>
          <a:xfrm>
            <a:off x="815975" y="2691721"/>
            <a:ext cx="5207000" cy="728020"/>
          </a:xfrm>
          <a:prstGeom prst="roundRect">
            <a:avLst>
              <a:gd name="adj" fmla="val 11775"/>
            </a:avLst>
          </a:prstGeom>
          <a:solidFill>
            <a:srgbClr val="161D27"/>
          </a:solidFill>
          <a:ln w="6350">
            <a:solidFill>
              <a:srgbClr val="263142"/>
            </a:solidFill>
            <a:prstDash val="solid"/>
          </a:ln>
        </p:spPr>
      </p:sp>
      <p:sp>
        <p:nvSpPr>
          <p:cNvPr id="11" name="Text 9"/>
          <p:cNvSpPr/>
          <p:nvPr/>
        </p:nvSpPr>
        <p:spPr>
          <a:xfrm>
            <a:off x="1020838" y="2858483"/>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T1059.001  ·  Execution</a:t>
            </a:r>
            <a:endParaRPr lang="en-US" sz="821" dirty="0"/>
          </a:p>
        </p:txBody>
      </p:sp>
      <p:sp>
        <p:nvSpPr>
          <p:cNvPr id="12" name="Text 10"/>
          <p:cNvSpPr/>
          <p:nvPr/>
        </p:nvSpPr>
        <p:spPr>
          <a:xfrm>
            <a:off x="1020838" y="3062061"/>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PowerShell / VBScript</a:t>
            </a:r>
            <a:endParaRPr lang="en-US" sz="947" dirty="0"/>
          </a:p>
        </p:txBody>
      </p:sp>
      <p:sp>
        <p:nvSpPr>
          <p:cNvPr id="13" name="Shape 11"/>
          <p:cNvSpPr/>
          <p:nvPr/>
        </p:nvSpPr>
        <p:spPr>
          <a:xfrm>
            <a:off x="6169025" y="2691721"/>
            <a:ext cx="5207000" cy="728020"/>
          </a:xfrm>
          <a:prstGeom prst="roundRect">
            <a:avLst>
              <a:gd name="adj" fmla="val 11775"/>
            </a:avLst>
          </a:prstGeom>
          <a:solidFill>
            <a:srgbClr val="161D27"/>
          </a:solidFill>
          <a:ln w="6350">
            <a:solidFill>
              <a:srgbClr val="263142"/>
            </a:solidFill>
            <a:prstDash val="solid"/>
          </a:ln>
        </p:spPr>
      </p:sp>
      <p:sp>
        <p:nvSpPr>
          <p:cNvPr id="14" name="Text 12"/>
          <p:cNvSpPr/>
          <p:nvPr/>
        </p:nvSpPr>
        <p:spPr>
          <a:xfrm>
            <a:off x="6373888" y="2858483"/>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T1055.012  ·  Defense Evasion</a:t>
            </a:r>
            <a:endParaRPr lang="en-US" sz="821" dirty="0"/>
          </a:p>
        </p:txBody>
      </p:sp>
      <p:sp>
        <p:nvSpPr>
          <p:cNvPr id="15" name="Text 13"/>
          <p:cNvSpPr/>
          <p:nvPr/>
        </p:nvSpPr>
        <p:spPr>
          <a:xfrm>
            <a:off x="6373888" y="3062061"/>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Process Hollowing</a:t>
            </a:r>
            <a:endParaRPr lang="en-US" sz="947" dirty="0"/>
          </a:p>
        </p:txBody>
      </p:sp>
      <p:sp>
        <p:nvSpPr>
          <p:cNvPr id="16" name="Shape 14"/>
          <p:cNvSpPr/>
          <p:nvPr/>
        </p:nvSpPr>
        <p:spPr>
          <a:xfrm>
            <a:off x="815975" y="3565792"/>
            <a:ext cx="5207000" cy="728020"/>
          </a:xfrm>
          <a:prstGeom prst="roundRect">
            <a:avLst>
              <a:gd name="adj" fmla="val 11775"/>
            </a:avLst>
          </a:prstGeom>
          <a:solidFill>
            <a:srgbClr val="161D27"/>
          </a:solidFill>
          <a:ln w="6350">
            <a:solidFill>
              <a:srgbClr val="263142"/>
            </a:solidFill>
            <a:prstDash val="solid"/>
          </a:ln>
        </p:spPr>
      </p:sp>
      <p:sp>
        <p:nvSpPr>
          <p:cNvPr id="17" name="Text 15"/>
          <p:cNvSpPr/>
          <p:nvPr/>
        </p:nvSpPr>
        <p:spPr>
          <a:xfrm>
            <a:off x="102083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T1574.002  ·  Defense Evasion</a:t>
            </a:r>
            <a:endParaRPr lang="en-US" sz="821" dirty="0"/>
          </a:p>
        </p:txBody>
      </p:sp>
      <p:sp>
        <p:nvSpPr>
          <p:cNvPr id="18" name="Text 16"/>
          <p:cNvSpPr/>
          <p:nvPr/>
        </p:nvSpPr>
        <p:spPr>
          <a:xfrm>
            <a:off x="102083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DLL Side-Loading</a:t>
            </a:r>
            <a:endParaRPr lang="en-US" sz="947" dirty="0"/>
          </a:p>
        </p:txBody>
      </p:sp>
      <p:sp>
        <p:nvSpPr>
          <p:cNvPr id="19" name="Shape 17"/>
          <p:cNvSpPr/>
          <p:nvPr/>
        </p:nvSpPr>
        <p:spPr>
          <a:xfrm>
            <a:off x="6169025" y="3565792"/>
            <a:ext cx="5207000" cy="728020"/>
          </a:xfrm>
          <a:prstGeom prst="roundRect">
            <a:avLst>
              <a:gd name="adj" fmla="val 11775"/>
            </a:avLst>
          </a:prstGeom>
          <a:solidFill>
            <a:srgbClr val="161D27"/>
          </a:solidFill>
          <a:ln w="6350">
            <a:solidFill>
              <a:srgbClr val="263142"/>
            </a:solidFill>
            <a:prstDash val="solid"/>
          </a:ln>
        </p:spPr>
      </p:sp>
      <p:sp>
        <p:nvSpPr>
          <p:cNvPr id="20" name="Text 18"/>
          <p:cNvSpPr/>
          <p:nvPr/>
        </p:nvSpPr>
        <p:spPr>
          <a:xfrm>
            <a:off x="6373888" y="3732554"/>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T1027.003  ·  Defense Evasion</a:t>
            </a:r>
            <a:endParaRPr lang="en-US" sz="821" dirty="0"/>
          </a:p>
        </p:txBody>
      </p:sp>
      <p:sp>
        <p:nvSpPr>
          <p:cNvPr id="21" name="Text 19"/>
          <p:cNvSpPr/>
          <p:nvPr/>
        </p:nvSpPr>
        <p:spPr>
          <a:xfrm>
            <a:off x="6373888" y="3936132"/>
            <a:ext cx="4941192" cy="216316"/>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Steganography</a:t>
            </a:r>
            <a:endParaRPr lang="en-US" sz="947" dirty="0"/>
          </a:p>
        </p:txBody>
      </p:sp>
      <p:sp>
        <p:nvSpPr>
          <p:cNvPr id="22" name="Shape 20"/>
          <p:cNvSpPr/>
          <p:nvPr/>
        </p:nvSpPr>
        <p:spPr>
          <a:xfrm>
            <a:off x="815975" y="4439859"/>
            <a:ext cx="5207000" cy="728058"/>
          </a:xfrm>
          <a:prstGeom prst="roundRect">
            <a:avLst>
              <a:gd name="adj" fmla="val 11774"/>
            </a:avLst>
          </a:prstGeom>
          <a:solidFill>
            <a:srgbClr val="161D27"/>
          </a:solidFill>
          <a:ln w="6350">
            <a:solidFill>
              <a:srgbClr val="263142"/>
            </a:solidFill>
            <a:prstDash val="solid"/>
          </a:ln>
        </p:spPr>
      </p:sp>
      <p:sp>
        <p:nvSpPr>
          <p:cNvPr id="23" name="Text 21"/>
          <p:cNvSpPr/>
          <p:nvPr/>
        </p:nvSpPr>
        <p:spPr>
          <a:xfrm>
            <a:off x="102083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T1056.001  ·  Credential Access</a:t>
            </a:r>
            <a:endParaRPr lang="en-US" sz="821" dirty="0"/>
          </a:p>
        </p:txBody>
      </p:sp>
      <p:sp>
        <p:nvSpPr>
          <p:cNvPr id="24" name="Text 22"/>
          <p:cNvSpPr/>
          <p:nvPr/>
        </p:nvSpPr>
        <p:spPr>
          <a:xfrm>
            <a:off x="102083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Keylogging</a:t>
            </a:r>
            <a:endParaRPr lang="en-US" sz="947" dirty="0"/>
          </a:p>
        </p:txBody>
      </p:sp>
      <p:sp>
        <p:nvSpPr>
          <p:cNvPr id="25" name="Shape 23"/>
          <p:cNvSpPr/>
          <p:nvPr/>
        </p:nvSpPr>
        <p:spPr>
          <a:xfrm>
            <a:off x="6169025" y="4439859"/>
            <a:ext cx="5207000" cy="728058"/>
          </a:xfrm>
          <a:prstGeom prst="roundRect">
            <a:avLst>
              <a:gd name="adj" fmla="val 11774"/>
            </a:avLst>
          </a:prstGeom>
          <a:solidFill>
            <a:srgbClr val="161D27"/>
          </a:solidFill>
          <a:ln w="6350">
            <a:solidFill>
              <a:srgbClr val="263142"/>
            </a:solidFill>
            <a:prstDash val="solid"/>
          </a:ln>
        </p:spPr>
      </p:sp>
      <p:sp>
        <p:nvSpPr>
          <p:cNvPr id="26" name="Text 24"/>
          <p:cNvSpPr/>
          <p:nvPr/>
        </p:nvSpPr>
        <p:spPr>
          <a:xfrm>
            <a:off x="6373888" y="4606621"/>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T1071.001  ·  Command &amp; Control</a:t>
            </a:r>
            <a:endParaRPr lang="en-US" sz="821" dirty="0"/>
          </a:p>
        </p:txBody>
      </p:sp>
      <p:sp>
        <p:nvSpPr>
          <p:cNvPr id="27" name="Text 25"/>
          <p:cNvSpPr/>
          <p:nvPr/>
        </p:nvSpPr>
        <p:spPr>
          <a:xfrm>
            <a:off x="6373888" y="4810199"/>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Web Protocols</a:t>
            </a:r>
            <a:endParaRPr lang="en-US" sz="947" dirty="0"/>
          </a:p>
        </p:txBody>
      </p:sp>
      <p:sp>
        <p:nvSpPr>
          <p:cNvPr id="28" name="Shape 26"/>
          <p:cNvSpPr/>
          <p:nvPr/>
        </p:nvSpPr>
        <p:spPr>
          <a:xfrm>
            <a:off x="815975" y="5313970"/>
            <a:ext cx="5207000" cy="728058"/>
          </a:xfrm>
          <a:prstGeom prst="roundRect">
            <a:avLst>
              <a:gd name="adj" fmla="val 11774"/>
            </a:avLst>
          </a:prstGeom>
          <a:solidFill>
            <a:srgbClr val="161D27"/>
          </a:solidFill>
          <a:ln w="6350">
            <a:solidFill>
              <a:srgbClr val="263142"/>
            </a:solidFill>
            <a:prstDash val="solid"/>
          </a:ln>
        </p:spPr>
      </p:sp>
      <p:sp>
        <p:nvSpPr>
          <p:cNvPr id="29" name="Text 27"/>
          <p:cNvSpPr/>
          <p:nvPr/>
        </p:nvSpPr>
        <p:spPr>
          <a:xfrm>
            <a:off x="102083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T1102  ·  Command &amp; Control</a:t>
            </a:r>
            <a:endParaRPr lang="en-US" sz="821" dirty="0"/>
          </a:p>
        </p:txBody>
      </p:sp>
      <p:sp>
        <p:nvSpPr>
          <p:cNvPr id="30" name="Text 28"/>
          <p:cNvSpPr/>
          <p:nvPr/>
        </p:nvSpPr>
        <p:spPr>
          <a:xfrm>
            <a:off x="102083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Web Service hosting</a:t>
            </a:r>
            <a:endParaRPr lang="en-US" sz="947" dirty="0"/>
          </a:p>
        </p:txBody>
      </p:sp>
      <p:sp>
        <p:nvSpPr>
          <p:cNvPr id="31" name="Shape 29"/>
          <p:cNvSpPr/>
          <p:nvPr/>
        </p:nvSpPr>
        <p:spPr>
          <a:xfrm>
            <a:off x="6169025" y="5313970"/>
            <a:ext cx="5207000" cy="728058"/>
          </a:xfrm>
          <a:prstGeom prst="roundRect">
            <a:avLst>
              <a:gd name="adj" fmla="val 11774"/>
            </a:avLst>
          </a:prstGeom>
          <a:solidFill>
            <a:srgbClr val="161D27"/>
          </a:solidFill>
          <a:ln w="6350">
            <a:solidFill>
              <a:srgbClr val="263142"/>
            </a:solidFill>
            <a:prstDash val="solid"/>
          </a:ln>
        </p:spPr>
      </p:sp>
      <p:sp>
        <p:nvSpPr>
          <p:cNvPr id="32" name="Text 30"/>
          <p:cNvSpPr/>
          <p:nvPr/>
        </p:nvSpPr>
        <p:spPr>
          <a:xfrm>
            <a:off x="6373888" y="5480732"/>
            <a:ext cx="4941192" cy="190878"/>
          </a:xfrm>
          <a:prstGeom prst="rect">
            <a:avLst/>
          </a:prstGeom>
          <a:noFill/>
          <a:ln/>
        </p:spPr>
        <p:txBody>
          <a:bodyPr wrap="square" lIns="0" tIns="0" rIns="0" bIns="0" rtlCol="0" anchor="t">
            <a:normAutofit/>
          </a:bodyPr>
          <a:lstStyle/>
          <a:p>
            <a:pPr algn="l" indent="0" marL="0">
              <a:lnSpc>
                <a:spcPts val="1149"/>
              </a:lnSpc>
              <a:buNone/>
            </a:pPr>
            <a:r>
              <a:rPr lang="en-US" sz="821" dirty="0">
                <a:solidFill>
                  <a:srgbClr val="E0A45A"/>
                </a:solidFill>
                <a:latin typeface="JetBrains Mono" pitchFamily="49" charset="0"/>
                <a:ea typeface="JetBrains Mono" pitchFamily="49" charset="-122"/>
                <a:cs typeface="JetBrains Mono" pitchFamily="49" charset="-120"/>
              </a:rPr>
              <a:t>T1041  ·  Exfiltration</a:t>
            </a:r>
            <a:endParaRPr lang="en-US" sz="821" dirty="0"/>
          </a:p>
        </p:txBody>
      </p:sp>
      <p:sp>
        <p:nvSpPr>
          <p:cNvPr id="33" name="Text 31"/>
          <p:cNvSpPr/>
          <p:nvPr/>
        </p:nvSpPr>
        <p:spPr>
          <a:xfrm>
            <a:off x="6373888" y="5684310"/>
            <a:ext cx="4941192" cy="216354"/>
          </a:xfrm>
          <a:prstGeom prst="rect">
            <a:avLst/>
          </a:prstGeom>
          <a:noFill/>
          <a:ln/>
        </p:spPr>
        <p:txBody>
          <a:bodyPr wrap="square" lIns="0" tIns="0" rIns="0" bIns="0" rtlCol="0" anchor="t">
            <a:normAutofit/>
          </a:bodyPr>
          <a:lstStyle/>
          <a:p>
            <a:pPr algn="l" indent="0" marL="0">
              <a:lnSpc>
                <a:spcPts val="1326"/>
              </a:lnSpc>
              <a:buNone/>
            </a:pPr>
            <a:r>
              <a:rPr lang="en-US" sz="947" dirty="0">
                <a:solidFill>
                  <a:srgbClr val="EAEEF3"/>
                </a:solidFill>
                <a:latin typeface="IBM Plex Sans" pitchFamily="34" charset="0"/>
                <a:ea typeface="IBM Plex Sans" pitchFamily="34" charset="-122"/>
                <a:cs typeface="IBM Plex Sans" pitchFamily="34" charset="-120"/>
              </a:rPr>
              <a:t>Exfil Over C2 Channel</a:t>
            </a:r>
            <a:endParaRPr lang="en-US" sz="94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RED TEAM · EMULATION</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Reproduce it, lab-safe</a:t>
            </a:r>
            <a:endParaRPr lang="en-US" sz="3400" dirty="0"/>
          </a:p>
        </p:txBody>
      </p:sp>
      <p:sp>
        <p:nvSpPr>
          <p:cNvPr id="4" name="Text 2"/>
          <p:cNvSpPr/>
          <p:nvPr/>
        </p:nvSpPr>
        <p:spPr>
          <a:xfrm>
            <a:off x="812800" y="1942877"/>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1</a:t>
            </a:r>
            <a:endParaRPr lang="en-US" sz="1400" dirty="0"/>
          </a:p>
        </p:txBody>
      </p:sp>
      <p:sp>
        <p:nvSpPr>
          <p:cNvPr id="5" name="Text 3"/>
          <p:cNvSpPr/>
          <p:nvPr/>
        </p:nvSpPr>
        <p:spPr>
          <a:xfrm>
            <a:off x="1219200" y="1942877"/>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Gov/bank lure → exercise mail + reporting telemetry </a:t>
            </a:r>
            <a:r>
              <a:rPr lang="en-US" sz="1450" dirty="0">
                <a:solidFill>
                  <a:srgbClr val="7E8B9A"/>
                </a:solidFill>
                <a:latin typeface="IBM Plex Sans" pitchFamily="34" charset="0"/>
                <a:ea typeface="IBM Plex Sans" pitchFamily="34" charset="-122"/>
                <a:cs typeface="IBM Plex Sans" pitchFamily="34" charset="-120"/>
              </a:rPr>
              <a:t>(T1566)</a:t>
            </a:r>
            <a:endParaRPr lang="en-US" sz="1450" dirty="0"/>
          </a:p>
        </p:txBody>
      </p:sp>
      <p:sp>
        <p:nvSpPr>
          <p:cNvPr id="6" name="Text 4"/>
          <p:cNvSpPr/>
          <p:nvPr/>
        </p:nvSpPr>
        <p:spPr>
          <a:xfrm>
            <a:off x="6248400" y="1942877"/>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2</a:t>
            </a:r>
            <a:endParaRPr lang="en-US" sz="1400" dirty="0"/>
          </a:p>
        </p:txBody>
      </p:sp>
      <p:sp>
        <p:nvSpPr>
          <p:cNvPr id="7" name="Text 5"/>
          <p:cNvSpPr/>
          <p:nvPr/>
        </p:nvSpPr>
        <p:spPr>
          <a:xfrm>
            <a:off x="6654800" y="1942877"/>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Geofenced redirector serving only a lab IP </a:t>
            </a:r>
            <a:r>
              <a:rPr lang="en-US" sz="1450" dirty="0">
                <a:solidFill>
                  <a:srgbClr val="7E8B9A"/>
                </a:solidFill>
                <a:latin typeface="IBM Plex Sans" pitchFamily="34" charset="0"/>
                <a:ea typeface="IBM Plex Sans" pitchFamily="34" charset="-122"/>
                <a:cs typeface="IBM Plex Sans" pitchFamily="34" charset="-120"/>
              </a:rPr>
              <a:t>(T1102)</a:t>
            </a:r>
            <a:endParaRPr lang="en-US" sz="1450" dirty="0"/>
          </a:p>
        </p:txBody>
      </p:sp>
      <p:sp>
        <p:nvSpPr>
          <p:cNvPr id="8" name="Text 6"/>
          <p:cNvSpPr/>
          <p:nvPr/>
        </p:nvSpPr>
        <p:spPr>
          <a:xfrm>
            <a:off x="812800" y="262043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3</a:t>
            </a:r>
            <a:endParaRPr lang="en-US" sz="1400" dirty="0"/>
          </a:p>
        </p:txBody>
      </p:sp>
      <p:sp>
        <p:nvSpPr>
          <p:cNvPr id="9" name="Text 7"/>
          <p:cNvSpPr/>
          <p:nvPr/>
        </p:nvSpPr>
        <p:spPr>
          <a:xfrm>
            <a:off x="1219200" y="262043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Benign .url triggers internal WebDAV callback </a:t>
            </a:r>
            <a:r>
              <a:rPr lang="en-US" sz="1450" dirty="0">
                <a:solidFill>
                  <a:srgbClr val="7E8B9A"/>
                </a:solidFill>
                <a:latin typeface="IBM Plex Sans" pitchFamily="34" charset="0"/>
                <a:ea typeface="IBM Plex Sans" pitchFamily="34" charset="-122"/>
                <a:cs typeface="IBM Plex Sans" pitchFamily="34" charset="-120"/>
              </a:rPr>
              <a:t>(T1204)</a:t>
            </a:r>
            <a:endParaRPr lang="en-US" sz="1450" dirty="0"/>
          </a:p>
        </p:txBody>
      </p:sp>
      <p:sp>
        <p:nvSpPr>
          <p:cNvPr id="10" name="Text 8"/>
          <p:cNvSpPr/>
          <p:nvPr/>
        </p:nvSpPr>
        <p:spPr>
          <a:xfrm>
            <a:off x="6248400" y="2620435"/>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4</a:t>
            </a:r>
            <a:endParaRPr lang="en-US" sz="1400" dirty="0"/>
          </a:p>
        </p:txBody>
      </p:sp>
      <p:sp>
        <p:nvSpPr>
          <p:cNvPr id="11" name="Text 9"/>
          <p:cNvSpPr/>
          <p:nvPr/>
        </p:nvSpPr>
        <p:spPr>
          <a:xfrm>
            <a:off x="6654800" y="2620435"/>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VBS / PowerShell stager pulls an inert marker </a:t>
            </a:r>
            <a:r>
              <a:rPr lang="en-US" sz="1450" dirty="0">
                <a:solidFill>
                  <a:srgbClr val="7E8B9A"/>
                </a:solidFill>
                <a:latin typeface="IBM Plex Sans" pitchFamily="34" charset="0"/>
                <a:ea typeface="IBM Plex Sans" pitchFamily="34" charset="-122"/>
                <a:cs typeface="IBM Plex Sans" pitchFamily="34" charset="-120"/>
              </a:rPr>
              <a:t>(T1059)</a:t>
            </a:r>
            <a:endParaRPr lang="en-US" sz="1450" dirty="0"/>
          </a:p>
        </p:txBody>
      </p:sp>
      <p:sp>
        <p:nvSpPr>
          <p:cNvPr id="12" name="Text 10"/>
          <p:cNvSpPr/>
          <p:nvPr/>
        </p:nvSpPr>
        <p:spPr>
          <a:xfrm>
            <a:off x="812800" y="3297994"/>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5</a:t>
            </a:r>
            <a:endParaRPr lang="en-US" sz="1400" dirty="0"/>
          </a:p>
        </p:txBody>
      </p:sp>
      <p:sp>
        <p:nvSpPr>
          <p:cNvPr id="13" name="Text 11"/>
          <p:cNvSpPr/>
          <p:nvPr/>
        </p:nvSpPr>
        <p:spPr>
          <a:xfrm>
            <a:off x="1219200" y="3297994"/>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Sideload a test DLL by a signed binary; host on a dev platform </a:t>
            </a:r>
            <a:r>
              <a:rPr lang="en-US" sz="1450" dirty="0">
                <a:solidFill>
                  <a:srgbClr val="7E8B9A"/>
                </a:solidFill>
                <a:latin typeface="IBM Plex Sans" pitchFamily="34" charset="0"/>
                <a:ea typeface="IBM Plex Sans" pitchFamily="34" charset="-122"/>
                <a:cs typeface="IBM Plex Sans" pitchFamily="34" charset="-120"/>
              </a:rPr>
              <a:t>(T1574.002)</a:t>
            </a:r>
            <a:endParaRPr lang="en-US" sz="1450" dirty="0"/>
          </a:p>
        </p:txBody>
      </p:sp>
      <p:sp>
        <p:nvSpPr>
          <p:cNvPr id="14" name="Text 12"/>
          <p:cNvSpPr/>
          <p:nvPr/>
        </p:nvSpPr>
        <p:spPr>
          <a:xfrm>
            <a:off x="6248400" y="3297994"/>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6</a:t>
            </a:r>
            <a:endParaRPr lang="en-US" sz="1400" dirty="0"/>
          </a:p>
        </p:txBody>
      </p:sp>
      <p:sp>
        <p:nvSpPr>
          <p:cNvPr id="15" name="Text 13"/>
          <p:cNvSpPr/>
          <p:nvPr/>
        </p:nvSpPr>
        <p:spPr>
          <a:xfrm>
            <a:off x="6654800" y="3297994"/>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Process-hollow into MSBuild / InstallUtil (Atomic Red Team) </a:t>
            </a:r>
            <a:r>
              <a:rPr lang="en-US" sz="1450" dirty="0">
                <a:solidFill>
                  <a:srgbClr val="7E8B9A"/>
                </a:solidFill>
                <a:latin typeface="IBM Plex Sans" pitchFamily="34" charset="0"/>
                <a:ea typeface="IBM Plex Sans" pitchFamily="34" charset="-122"/>
                <a:cs typeface="IBM Plex Sans" pitchFamily="34" charset="-120"/>
              </a:rPr>
              <a:t>(T1055.012)</a:t>
            </a:r>
            <a:endParaRPr lang="en-US" sz="1450" dirty="0"/>
          </a:p>
        </p:txBody>
      </p:sp>
      <p:sp>
        <p:nvSpPr>
          <p:cNvPr id="16" name="Text 14"/>
          <p:cNvSpPr/>
          <p:nvPr/>
        </p:nvSpPr>
        <p:spPr>
          <a:xfrm>
            <a:off x="812800" y="3975553"/>
            <a:ext cx="304800" cy="31167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0A45A"/>
                </a:solidFill>
                <a:latin typeface="JetBrains Mono" pitchFamily="49" charset="0"/>
                <a:ea typeface="JetBrains Mono" pitchFamily="49" charset="-122"/>
                <a:cs typeface="JetBrains Mono" pitchFamily="49" charset="-120"/>
              </a:rPr>
              <a:t>7</a:t>
            </a:r>
            <a:endParaRPr lang="en-US" sz="1400" dirty="0"/>
          </a:p>
        </p:txBody>
      </p:sp>
      <p:sp>
        <p:nvSpPr>
          <p:cNvPr id="17" name="Text 15"/>
          <p:cNvSpPr/>
          <p:nvPr/>
        </p:nvSpPr>
        <p:spPr>
          <a:xfrm>
            <a:off x="1219200" y="3975553"/>
            <a:ext cx="4866132" cy="575960"/>
          </a:xfrm>
          <a:prstGeom prst="rect">
            <a:avLst/>
          </a:prstGeom>
          <a:noFill/>
          <a:ln/>
        </p:spPr>
        <p:txBody>
          <a:bodyPr wrap="square" lIns="0" tIns="0" rIns="0" bIns="0" rtlCol="0" anchor="t">
            <a:normAutofit/>
          </a:bodyPr>
          <a:lstStyle/>
          <a:p>
            <a:pPr algn="l" indent="0" marL="0">
              <a:lnSpc>
                <a:spcPts val="1885"/>
              </a:lnSpc>
              <a:buNone/>
            </a:pPr>
            <a:r>
              <a:rPr lang="en-US" sz="1450" dirty="0">
                <a:solidFill>
                  <a:srgbClr val="C7D0DB"/>
                </a:solidFill>
                <a:latin typeface="IBM Plex Sans" pitchFamily="34" charset="0"/>
                <a:ea typeface="IBM Plex Sans" pitchFamily="34" charset="-122"/>
                <a:cs typeface="IBM Plex Sans" pitchFamily="34" charset="-120"/>
              </a:rPr>
              <a:t>Open-source C2 / AsyncRAT lab build over DDNS </a:t>
            </a:r>
            <a:r>
              <a:rPr lang="en-US" sz="1450" dirty="0">
                <a:solidFill>
                  <a:srgbClr val="7E8B9A"/>
                </a:solidFill>
                <a:latin typeface="IBM Plex Sans" pitchFamily="34" charset="0"/>
                <a:ea typeface="IBM Plex Sans" pitchFamily="34" charset="-122"/>
                <a:cs typeface="IBM Plex Sans" pitchFamily="34" charset="-120"/>
              </a:rPr>
              <a:t>(T1071)</a:t>
            </a:r>
            <a:endParaRPr lang="en-US" sz="1450" dirty="0"/>
          </a:p>
        </p:txBody>
      </p:sp>
      <p:sp>
        <p:nvSpPr>
          <p:cNvPr id="18" name="Text 16"/>
          <p:cNvSpPr/>
          <p:nvPr/>
        </p:nvSpPr>
        <p:spPr>
          <a:xfrm>
            <a:off x="812800" y="5869217"/>
            <a:ext cx="10883392" cy="55698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E9BAA"/>
                </a:solidFill>
                <a:latin typeface="IBM Plex Sans" pitchFamily="34" charset="0"/>
                <a:ea typeface="IBM Plex Sans" pitchFamily="34" charset="-122"/>
                <a:cs typeface="IBM Plex Sans" pitchFamily="34" charset="-120"/>
              </a:rPr>
              <a:t>Run only against isolated VMs you own, with benign stand-in payloads. Maps directly onto a GOAD / Sysmon / Wazuh home range.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PURPLE / BLUE · DETECTION</a:t>
            </a:r>
            <a:endParaRPr lang="en-US" sz="1300" dirty="0"/>
          </a:p>
        </p:txBody>
      </p:sp>
      <p:sp>
        <p:nvSpPr>
          <p:cNvPr id="3" name="Text 1"/>
          <p:cNvSpPr/>
          <p:nvPr>
            <p:ph type="title"/>
          </p:nvPr>
        </p:nvSpPr>
        <p:spPr>
          <a:xfrm>
            <a:off x="812800" y="1167495"/>
            <a:ext cx="10883392" cy="546780"/>
          </a:xfrm>
          <a:prstGeom prst="rect">
            <a:avLst/>
          </a:prstGeom>
          <a:noFill/>
          <a:ln/>
        </p:spPr>
        <p:txBody>
          <a:bodyPr wrap="square" lIns="0" tIns="0" rIns="0" bIns="0" rtlCol="0" anchor="t">
            <a:normAutofit/>
          </a:bodyPr>
          <a:lstStyle/>
          <a:p>
            <a:pPr algn="l" indent="0" marL="0">
              <a:lnSpc>
                <a:spcPts val="3570"/>
              </a:lnSpc>
              <a:buNone/>
            </a:pPr>
            <a:r>
              <a:rPr lang="en-US" sz="3400" b="1" i="0" dirty="0">
                <a:solidFill>
                  <a:srgbClr val="EAEEF3"/>
                </a:solidFill>
                <a:latin typeface="IBM Plex Sans" pitchFamily="34" charset="0"/>
                <a:ea typeface="IBM Plex Sans" pitchFamily="34" charset="-122"/>
                <a:cs typeface="IBM Plex Sans" pitchFamily="34" charset="-120"/>
              </a:rPr>
              <a:t>Hunt the behavior, not the hash</a:t>
            </a:r>
            <a:endParaRPr lang="en-US" sz="3400" dirty="0"/>
          </a:p>
        </p:txBody>
      </p:sp>
      <p:sp>
        <p:nvSpPr>
          <p:cNvPr id="4" name="Shape 2"/>
          <p:cNvSpPr/>
          <p:nvPr/>
        </p:nvSpPr>
        <p:spPr>
          <a:xfrm>
            <a:off x="815975" y="1946052"/>
            <a:ext cx="4946650" cy="869837"/>
          </a:xfrm>
          <a:prstGeom prst="roundRect">
            <a:avLst>
              <a:gd name="adj" fmla="val 9855"/>
            </a:avLst>
          </a:prstGeom>
          <a:solidFill>
            <a:srgbClr val="161D27"/>
          </a:solidFill>
          <a:ln w="6350">
            <a:solidFill>
              <a:srgbClr val="263142"/>
            </a:solidFill>
            <a:prstDash val="solid"/>
          </a:ln>
        </p:spPr>
      </p:sp>
      <p:sp>
        <p:nvSpPr>
          <p:cNvPr id="5" name="Text 3"/>
          <p:cNvSpPr/>
          <p:nvPr/>
        </p:nvSpPr>
        <p:spPr>
          <a:xfrm>
            <a:off x="995438" y="210011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WebDAV callback</a:t>
            </a:r>
            <a:endParaRPr lang="en-US" sz="1400" dirty="0"/>
          </a:p>
        </p:txBody>
      </p:sp>
      <p:sp>
        <p:nvSpPr>
          <p:cNvPr id="6" name="Text 4"/>
          <p:cNvSpPr/>
          <p:nvPr/>
        </p:nvSpPr>
        <p:spPr>
          <a:xfrm>
            <a:off x="995438" y="2424491"/>
            <a:ext cx="4764012"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Outbound 80/445 with UA Microsoft-WebDAV-MiniRedir</a:t>
            </a:r>
            <a:endParaRPr lang="en-US" sz="1250" dirty="0"/>
          </a:p>
        </p:txBody>
      </p:sp>
      <p:sp>
        <p:nvSpPr>
          <p:cNvPr id="7" name="Shape 5"/>
          <p:cNvSpPr/>
          <p:nvPr/>
        </p:nvSpPr>
        <p:spPr>
          <a:xfrm>
            <a:off x="815975" y="2936534"/>
            <a:ext cx="4946650" cy="869837"/>
          </a:xfrm>
          <a:prstGeom prst="roundRect">
            <a:avLst>
              <a:gd name="adj" fmla="val 9855"/>
            </a:avLst>
          </a:prstGeom>
          <a:solidFill>
            <a:srgbClr val="161D27"/>
          </a:solidFill>
          <a:ln w="6350">
            <a:solidFill>
              <a:srgbClr val="263142"/>
            </a:solidFill>
            <a:prstDash val="solid"/>
          </a:ln>
        </p:spPr>
      </p:sp>
      <p:sp>
        <p:nvSpPr>
          <p:cNvPr id="8" name="Text 6"/>
          <p:cNvSpPr/>
          <p:nvPr/>
        </p:nvSpPr>
        <p:spPr>
          <a:xfrm>
            <a:off x="995438" y="3090602"/>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.NET utility abuse</a:t>
            </a:r>
            <a:endParaRPr lang="en-US" sz="1400" dirty="0"/>
          </a:p>
        </p:txBody>
      </p:sp>
      <p:sp>
        <p:nvSpPr>
          <p:cNvPr id="9" name="Text 7"/>
          <p:cNvSpPr/>
          <p:nvPr/>
        </p:nvSpPr>
        <p:spPr>
          <a:xfrm>
            <a:off x="995438" y="3414979"/>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Office / script spawning MSBuild, InstallUtil, csc</a:t>
            </a:r>
            <a:endParaRPr lang="en-US" sz="1250" dirty="0"/>
          </a:p>
        </p:txBody>
      </p:sp>
      <p:sp>
        <p:nvSpPr>
          <p:cNvPr id="10" name="Shape 8"/>
          <p:cNvSpPr/>
          <p:nvPr/>
        </p:nvSpPr>
        <p:spPr>
          <a:xfrm>
            <a:off x="815975" y="3927022"/>
            <a:ext cx="4946650" cy="869837"/>
          </a:xfrm>
          <a:prstGeom prst="roundRect">
            <a:avLst>
              <a:gd name="adj" fmla="val 9855"/>
            </a:avLst>
          </a:prstGeom>
          <a:solidFill>
            <a:srgbClr val="161D27"/>
          </a:solidFill>
          <a:ln w="6350">
            <a:solidFill>
              <a:srgbClr val="263142"/>
            </a:solidFill>
            <a:prstDash val="solid"/>
          </a:ln>
        </p:spPr>
      </p:sp>
      <p:sp>
        <p:nvSpPr>
          <p:cNvPr id="11" name="Text 9"/>
          <p:cNvSpPr/>
          <p:nvPr/>
        </p:nvSpPr>
        <p:spPr>
          <a:xfrm>
            <a:off x="995438" y="4081084"/>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DLL sideloading</a:t>
            </a:r>
            <a:endParaRPr lang="en-US" sz="1400" dirty="0"/>
          </a:p>
        </p:txBody>
      </p:sp>
      <p:sp>
        <p:nvSpPr>
          <p:cNvPr id="12" name="Text 10"/>
          <p:cNvSpPr/>
          <p:nvPr/>
        </p:nvSpPr>
        <p:spPr>
          <a:xfrm>
            <a:off x="995438" y="4405468"/>
            <a:ext cx="4725356" cy="262731"/>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Signed binary loads unsigned DLL from a user path</a:t>
            </a:r>
            <a:endParaRPr lang="en-US" sz="1250" dirty="0"/>
          </a:p>
        </p:txBody>
      </p:sp>
      <p:sp>
        <p:nvSpPr>
          <p:cNvPr id="13" name="Shape 11"/>
          <p:cNvSpPr/>
          <p:nvPr/>
        </p:nvSpPr>
        <p:spPr>
          <a:xfrm>
            <a:off x="815975" y="4917511"/>
            <a:ext cx="4946650" cy="1107168"/>
          </a:xfrm>
          <a:prstGeom prst="roundRect">
            <a:avLst>
              <a:gd name="adj" fmla="val 7743"/>
            </a:avLst>
          </a:prstGeom>
          <a:solidFill>
            <a:srgbClr val="161D27"/>
          </a:solidFill>
          <a:ln w="6350">
            <a:solidFill>
              <a:srgbClr val="263142"/>
            </a:solidFill>
            <a:prstDash val="solid"/>
          </a:ln>
        </p:spPr>
      </p:sp>
      <p:sp>
        <p:nvSpPr>
          <p:cNvPr id="14" name="Text 12"/>
          <p:cNvSpPr/>
          <p:nvPr/>
        </p:nvSpPr>
        <p:spPr>
          <a:xfrm>
            <a:off x="995438" y="5071573"/>
            <a:ext cx="4725356" cy="31167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AEEF3"/>
                </a:solidFill>
                <a:latin typeface="IBM Plex Sans" pitchFamily="34" charset="0"/>
                <a:ea typeface="IBM Plex Sans" pitchFamily="34" charset="-122"/>
                <a:cs typeface="IBM Plex Sans" pitchFamily="34" charset="-120"/>
              </a:rPr>
              <a:t>Legit-platform C2</a:t>
            </a:r>
            <a:endParaRPr lang="en-US" sz="1400" dirty="0"/>
          </a:p>
        </p:txBody>
      </p:sp>
      <p:sp>
        <p:nvSpPr>
          <p:cNvPr id="15" name="Text 13"/>
          <p:cNvSpPr/>
          <p:nvPr/>
        </p:nvSpPr>
        <p:spPr>
          <a:xfrm>
            <a:off x="995438" y="5395950"/>
            <a:ext cx="4725356" cy="500063"/>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A9B4C0"/>
                </a:solidFill>
                <a:latin typeface="IBM Plex Sans" pitchFamily="34" charset="0"/>
                <a:ea typeface="IBM Plex Sans" pitchFamily="34" charset="-122"/>
                <a:cs typeface="IBM Plex Sans" pitchFamily="34" charset="-120"/>
              </a:rPr>
              <a:t>DDNS beacons; pulls from GitHub, Bitbucket, Discord CDN</a:t>
            </a:r>
            <a:endParaRPr lang="en-US" sz="1250" dirty="0"/>
          </a:p>
        </p:txBody>
      </p:sp>
      <p:sp>
        <p:nvSpPr>
          <p:cNvPr id="16" name="Shape 14"/>
          <p:cNvSpPr/>
          <p:nvPr/>
        </p:nvSpPr>
        <p:spPr>
          <a:xfrm>
            <a:off x="6022975" y="1946052"/>
            <a:ext cx="5353050" cy="4078628"/>
          </a:xfrm>
          <a:prstGeom prst="roundRect">
            <a:avLst>
              <a:gd name="adj" fmla="val 2413"/>
            </a:avLst>
          </a:prstGeom>
          <a:solidFill>
            <a:srgbClr val="0A0E13"/>
          </a:solidFill>
          <a:ln w="6350">
            <a:solidFill>
              <a:srgbClr val="2E4256"/>
            </a:solidFill>
            <a:prstDash val="solid"/>
          </a:ln>
        </p:spPr>
      </p:sp>
      <p:sp>
        <p:nvSpPr>
          <p:cNvPr id="17" name="Text 15"/>
          <p:cNvSpPr/>
          <p:nvPr/>
        </p:nvSpPr>
        <p:spPr>
          <a:xfrm>
            <a:off x="6240538" y="215091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title: .NET utility spawned by</a:t>
            </a:r>
            <a:endParaRPr lang="en-US" sz="1200" dirty="0"/>
          </a:p>
        </p:txBody>
      </p:sp>
      <p:sp>
        <p:nvSpPr>
          <p:cNvPr id="18" name="Text 16"/>
          <p:cNvSpPr/>
          <p:nvPr/>
        </p:nvSpPr>
        <p:spPr>
          <a:xfrm>
            <a:off x="6240538" y="2413794"/>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      office or a script</a:t>
            </a:r>
            <a:endParaRPr lang="en-US" sz="1200" dirty="0"/>
          </a:p>
        </p:txBody>
      </p:sp>
      <p:sp>
        <p:nvSpPr>
          <p:cNvPr id="19" name="Text 17"/>
          <p:cNvSpPr/>
          <p:nvPr/>
        </p:nvSpPr>
        <p:spPr>
          <a:xfrm>
            <a:off x="6240538" y="267668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logsource:</a:t>
            </a:r>
            <a:endParaRPr lang="en-US" sz="1200" dirty="0"/>
          </a:p>
        </p:txBody>
      </p:sp>
      <p:sp>
        <p:nvSpPr>
          <p:cNvPr id="20" name="Text 18"/>
          <p:cNvSpPr/>
          <p:nvPr/>
        </p:nvSpPr>
        <p:spPr>
          <a:xfrm>
            <a:off x="6240538" y="293956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category: process_creation</a:t>
            </a:r>
            <a:endParaRPr lang="en-US" sz="1200" dirty="0"/>
          </a:p>
        </p:txBody>
      </p:sp>
      <p:sp>
        <p:nvSpPr>
          <p:cNvPr id="21" name="Text 19"/>
          <p:cNvSpPr/>
          <p:nvPr/>
        </p:nvSpPr>
        <p:spPr>
          <a:xfrm>
            <a:off x="6240538" y="3202440"/>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8E9BAA"/>
                </a:solidFill>
                <a:latin typeface="JetBrains Mono" pitchFamily="49" charset="0"/>
                <a:ea typeface="JetBrains Mono" pitchFamily="49" charset="-122"/>
                <a:cs typeface="JetBrains Mono" pitchFamily="49" charset="-120"/>
              </a:rPr>
              <a:t>detection:</a:t>
            </a:r>
            <a:endParaRPr lang="en-US" sz="1200" dirty="0"/>
          </a:p>
        </p:txBody>
      </p:sp>
      <p:sp>
        <p:nvSpPr>
          <p:cNvPr id="22" name="Text 20"/>
          <p:cNvSpPr/>
          <p:nvPr/>
        </p:nvSpPr>
        <p:spPr>
          <a:xfrm>
            <a:off x="6240538" y="3465326"/>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child|endswith:</a:t>
            </a:r>
            <a:endParaRPr lang="en-US" sz="1200" dirty="0"/>
          </a:p>
        </p:txBody>
      </p:sp>
      <p:sp>
        <p:nvSpPr>
          <p:cNvPr id="23" name="Text 21"/>
          <p:cNvSpPr/>
          <p:nvPr/>
        </p:nvSpPr>
        <p:spPr>
          <a:xfrm>
            <a:off x="6240538" y="372820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MSBuild.exe</a:t>
            </a:r>
            <a:endParaRPr lang="en-US" sz="1200" dirty="0"/>
          </a:p>
        </p:txBody>
      </p:sp>
      <p:sp>
        <p:nvSpPr>
          <p:cNvPr id="24" name="Text 22"/>
          <p:cNvSpPr/>
          <p:nvPr/>
        </p:nvSpPr>
        <p:spPr>
          <a:xfrm>
            <a:off x="6240538" y="3991087"/>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InstallUtil.exe</a:t>
            </a:r>
            <a:endParaRPr lang="en-US" sz="1200" dirty="0"/>
          </a:p>
        </p:txBody>
      </p:sp>
      <p:sp>
        <p:nvSpPr>
          <p:cNvPr id="25" name="Text 23"/>
          <p:cNvSpPr/>
          <p:nvPr/>
        </p:nvSpPr>
        <p:spPr>
          <a:xfrm>
            <a:off x="6240538" y="425397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parent|endswith:</a:t>
            </a:r>
            <a:endParaRPr lang="en-US" sz="1200" dirty="0"/>
          </a:p>
        </p:txBody>
      </p:sp>
      <p:sp>
        <p:nvSpPr>
          <p:cNvPr id="26" name="Text 24"/>
          <p:cNvSpPr/>
          <p:nvPr/>
        </p:nvSpPr>
        <p:spPr>
          <a:xfrm>
            <a:off x="6240538" y="4516853"/>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winword.exe</a:t>
            </a:r>
            <a:endParaRPr lang="en-US" sz="1200" dirty="0"/>
          </a:p>
        </p:txBody>
      </p:sp>
      <p:sp>
        <p:nvSpPr>
          <p:cNvPr id="27" name="Text 25"/>
          <p:cNvSpPr/>
          <p:nvPr/>
        </p:nvSpPr>
        <p:spPr>
          <a:xfrm>
            <a:off x="6240538" y="477973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 powershell.exe</a:t>
            </a:r>
            <a:endParaRPr lang="en-US" sz="1200" dirty="0"/>
          </a:p>
        </p:txBody>
      </p:sp>
      <p:sp>
        <p:nvSpPr>
          <p:cNvPr id="28" name="Text 26"/>
          <p:cNvSpPr/>
          <p:nvPr/>
        </p:nvSpPr>
        <p:spPr>
          <a:xfrm>
            <a:off x="6240538" y="504261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7D0DB"/>
                </a:solidFill>
                <a:latin typeface="JetBrains Mono" pitchFamily="49" charset="0"/>
                <a:ea typeface="JetBrains Mono" pitchFamily="49" charset="-122"/>
                <a:cs typeface="JetBrains Mono" pitchFamily="49" charset="-120"/>
              </a:rPr>
              <a:t>  condition: child and parent</a:t>
            </a:r>
            <a:endParaRPr lang="en-US" sz="1200" dirty="0"/>
          </a:p>
        </p:txBody>
      </p:sp>
      <p:sp>
        <p:nvSpPr>
          <p:cNvPr id="29" name="Text 27"/>
          <p:cNvSpPr/>
          <p:nvPr/>
        </p:nvSpPr>
        <p:spPr>
          <a:xfrm>
            <a:off x="6240538" y="5305499"/>
            <a:ext cx="5065462" cy="28828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0A45A"/>
                </a:solidFill>
                <a:latin typeface="JetBrains Mono" pitchFamily="49" charset="0"/>
                <a:ea typeface="JetBrains Mono" pitchFamily="49" charset="-122"/>
                <a:cs typeface="JetBrains Mono" pitchFamily="49" charset="-120"/>
              </a:rPr>
              <a:t>level: high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02A"/>
        </a:solidFill>
      </p:bgPr>
    </p:bg>
    <p:spTree>
      <p:nvGrpSpPr>
        <p:cNvPr id="1" name=""/>
        <p:cNvGrpSpPr/>
        <p:nvPr/>
      </p:nvGrpSpPr>
      <p:grpSpPr>
        <a:xfrm>
          <a:off x="0" y="0"/>
          <a:ext cx="0" cy="0"/>
          <a:chOff x="0" y="0"/>
          <a:chExt cx="0" cy="0"/>
        </a:xfrm>
      </p:grpSpPr>
      <p:sp>
        <p:nvSpPr>
          <p:cNvPr id="2" name="Text 0"/>
          <p:cNvSpPr/>
          <p:nvPr/>
        </p:nvSpPr>
        <p:spPr>
          <a:xfrm>
            <a:off x="812800" y="812800"/>
            <a:ext cx="10883392" cy="291193"/>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E0A45A"/>
                </a:solidFill>
                <a:latin typeface="JetBrains Mono" pitchFamily="49" charset="0"/>
                <a:ea typeface="JetBrains Mono" pitchFamily="49" charset="-122"/>
                <a:cs typeface="JetBrains Mono" pitchFamily="49" charset="-120"/>
              </a:rPr>
              <a:t>TAKEAWAYS</a:t>
            </a:r>
            <a:endParaRPr lang="en-US" sz="1300" dirty="0"/>
          </a:p>
        </p:txBody>
      </p:sp>
      <p:sp>
        <p:nvSpPr>
          <p:cNvPr id="3" name="Text 1"/>
          <p:cNvSpPr/>
          <p:nvPr>
            <p:ph type="title"/>
          </p:nvPr>
        </p:nvSpPr>
        <p:spPr>
          <a:xfrm>
            <a:off x="812800" y="1192895"/>
            <a:ext cx="9156700" cy="1224114"/>
          </a:xfrm>
          <a:prstGeom prst="rect">
            <a:avLst/>
          </a:prstGeom>
          <a:noFill/>
          <a:ln/>
        </p:spPr>
        <p:txBody>
          <a:bodyPr wrap="square" lIns="0" tIns="0" rIns="0" bIns="0" rtlCol="0" anchor="t">
            <a:normAutofit/>
          </a:bodyPr>
          <a:lstStyle/>
          <a:p>
            <a:pPr algn="l" indent="0" marL="0">
              <a:lnSpc>
                <a:spcPts val="4104"/>
              </a:lnSpc>
              <a:buNone/>
            </a:pPr>
            <a:r>
              <a:rPr lang="en-US" sz="3800" b="1" i="0" dirty="0">
                <a:solidFill>
                  <a:srgbClr val="EAEEF3"/>
                </a:solidFill>
                <a:latin typeface="IBM Plex Sans" pitchFamily="34" charset="0"/>
                <a:ea typeface="IBM Plex Sans" pitchFamily="34" charset="-122"/>
                <a:cs typeface="IBM Plex Sans" pitchFamily="34" charset="-120"/>
              </a:rPr>
              <a:t>Expect persistence and fast technique adoption</a:t>
            </a:r>
            <a:endParaRPr lang="en-US" sz="3800" dirty="0"/>
          </a:p>
        </p:txBody>
      </p:sp>
      <p:pic>
        <p:nvPicPr>
          <p:cNvPr id="4" name="Image 0" descr="rect">    </p:cNvPr>
          <p:cNvPicPr>
            <a:picLocks noChangeAspect="1"/>
          </p:cNvPicPr>
          <p:nvPr/>
        </p:nvPicPr>
        <p:blipFill>
          <a:blip r:embed="rId1"/>
          <a:srcRect l="0" r="0" t="0" b="0"/>
          <a:stretch/>
        </p:blipFill>
        <p:spPr>
          <a:xfrm>
            <a:off x="812800" y="2851832"/>
            <a:ext cx="88900" cy="88900"/>
          </a:xfrm>
          <a:prstGeom prst="rect">
            <a:avLst/>
          </a:prstGeom>
        </p:spPr>
      </p:pic>
      <p:sp>
        <p:nvSpPr>
          <p:cNvPr id="5" name="Text 2"/>
          <p:cNvSpPr/>
          <p:nvPr/>
        </p:nvSpPr>
        <p:spPr>
          <a:xfrm>
            <a:off x="1054100" y="2696406"/>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Phishing-resistant MFA and lure-aware user training</a:t>
            </a:r>
            <a:endParaRPr lang="en-US" sz="1600" dirty="0"/>
          </a:p>
        </p:txBody>
      </p:sp>
      <p:pic>
        <p:nvPicPr>
          <p:cNvPr id="6" name="Image 1" descr="rect">    </p:cNvPr>
          <p:cNvPicPr>
            <a:picLocks noChangeAspect="1"/>
          </p:cNvPicPr>
          <p:nvPr/>
        </p:nvPicPr>
        <p:blipFill>
          <a:blip r:embed="rId2"/>
          <a:srcRect l="0" r="0" t="0" b="0"/>
          <a:stretch/>
        </p:blipFill>
        <p:spPr>
          <a:xfrm>
            <a:off x="812800" y="3306955"/>
            <a:ext cx="88900" cy="88900"/>
          </a:xfrm>
          <a:prstGeom prst="rect">
            <a:avLst/>
          </a:prstGeom>
        </p:spPr>
      </p:pic>
      <p:sp>
        <p:nvSpPr>
          <p:cNvPr id="7" name="Text 3"/>
          <p:cNvSpPr/>
          <p:nvPr/>
        </p:nvSpPr>
        <p:spPr>
          <a:xfrm>
            <a:off x="1054100" y="3151529"/>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Monitor or limit DDNS and payload pulls from dev / CDN platforms</a:t>
            </a:r>
            <a:endParaRPr lang="en-US" sz="1600" dirty="0"/>
          </a:p>
        </p:txBody>
      </p:sp>
      <p:pic>
        <p:nvPicPr>
          <p:cNvPr id="8" name="Image 2" descr="rect">    </p:cNvPr>
          <p:cNvPicPr>
            <a:picLocks noChangeAspect="1"/>
          </p:cNvPicPr>
          <p:nvPr/>
        </p:nvPicPr>
        <p:blipFill>
          <a:blip r:embed="rId3"/>
          <a:srcRect l="0" r="0" t="0" b="0"/>
          <a:stretch/>
        </p:blipFill>
        <p:spPr>
          <a:xfrm>
            <a:off x="812800" y="3762071"/>
            <a:ext cx="88900" cy="88900"/>
          </a:xfrm>
          <a:prstGeom prst="rect">
            <a:avLst/>
          </a:prstGeom>
        </p:spPr>
      </p:pic>
      <p:sp>
        <p:nvSpPr>
          <p:cNvPr id="9" name="Text 4"/>
          <p:cNvSpPr/>
          <p:nvPr/>
        </p:nvSpPr>
        <p:spPr>
          <a:xfrm>
            <a:off x="1054100" y="3606651"/>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Alert on .url files and Microsoft-WebDAV-MiniRedir requests</a:t>
            </a:r>
            <a:endParaRPr lang="en-US" sz="1600" dirty="0"/>
          </a:p>
        </p:txBody>
      </p:sp>
      <p:pic>
        <p:nvPicPr>
          <p:cNvPr id="10" name="Image 3" descr="rect">    </p:cNvPr>
          <p:cNvPicPr>
            <a:picLocks noChangeAspect="1"/>
          </p:cNvPicPr>
          <p:nvPr/>
        </p:nvPicPr>
        <p:blipFill>
          <a:blip r:embed="rId4"/>
          <a:srcRect l="0" r="0" t="0" b="0"/>
          <a:stretch/>
        </p:blipFill>
        <p:spPr>
          <a:xfrm>
            <a:off x="812800" y="4217194"/>
            <a:ext cx="88900" cy="88900"/>
          </a:xfrm>
          <a:prstGeom prst="rect">
            <a:avLst/>
          </a:prstGeom>
        </p:spPr>
      </p:pic>
      <p:sp>
        <p:nvSpPr>
          <p:cNvPr id="11" name="Text 5"/>
          <p:cNvSpPr/>
          <p:nvPr/>
        </p:nvSpPr>
        <p:spPr>
          <a:xfrm>
            <a:off x="1054100" y="4061774"/>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Application-control .NET utilities and signed-binary DLL sideloading</a:t>
            </a:r>
            <a:endParaRPr lang="en-US" sz="1600" dirty="0"/>
          </a:p>
        </p:txBody>
      </p:sp>
      <p:pic>
        <p:nvPicPr>
          <p:cNvPr id="12" name="Image 4" descr="rect">    </p:cNvPr>
          <p:cNvPicPr>
            <a:picLocks noChangeAspect="1"/>
          </p:cNvPicPr>
          <p:nvPr/>
        </p:nvPicPr>
        <p:blipFill>
          <a:blip r:embed="rId5"/>
          <a:srcRect l="0" r="0" t="0" b="0"/>
          <a:stretch/>
        </p:blipFill>
        <p:spPr>
          <a:xfrm>
            <a:off x="812800" y="4672316"/>
            <a:ext cx="88900" cy="88900"/>
          </a:xfrm>
          <a:prstGeom prst="rect">
            <a:avLst/>
          </a:prstGeom>
        </p:spPr>
      </p:pic>
      <p:sp>
        <p:nvSpPr>
          <p:cNvPr id="13" name="Text 6"/>
          <p:cNvSpPr/>
          <p:nvPr/>
        </p:nvSpPr>
        <p:spPr>
          <a:xfrm>
            <a:off x="1054100" y="4516890"/>
            <a:ext cx="10634853" cy="34082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DCE3EA"/>
                </a:solidFill>
                <a:latin typeface="IBM Plex Sans" pitchFamily="34" charset="0"/>
                <a:ea typeface="IBM Plex Sans" pitchFamily="34" charset="-122"/>
                <a:cs typeface="IBM Plex Sans" pitchFamily="34" charset="-120"/>
              </a:rPr>
              <a:t>Egress and geo filtering; watch non-standard C2 ports</a:t>
            </a:r>
            <a:endParaRPr lang="en-US" sz="1600" dirty="0"/>
          </a:p>
        </p:txBody>
      </p:sp>
      <p:sp>
        <p:nvSpPr>
          <p:cNvPr id="14" name="Text 7"/>
          <p:cNvSpPr/>
          <p:nvPr/>
        </p:nvSpPr>
        <p:spPr>
          <a:xfrm>
            <a:off x="812800" y="5910114"/>
            <a:ext cx="10883392" cy="51608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E8B9A"/>
                </a:solidFill>
                <a:latin typeface="IBM Plex Sans" pitchFamily="34" charset="0"/>
                <a:ea typeface="IBM Plex Sans" pitchFamily="34" charset="-122"/>
                <a:cs typeface="IBM Plex Sans" pitchFamily="34" charset="-120"/>
              </a:rPr>
              <a:t>Sources: Check Point Research · Kaspersky GReAT · Recorded Future (TAG-144) · Zscaler ThreatLabz · Darktrace · Trend Micro. TLP:CLEAR, OSINT portfolio piece.</a:t>
            </a:r>
            <a:endParaRPr lang="en-US" sz="1200" dirty="0"/>
          </a:p>
        </p:txBody>
      </p:sp>
    </p:spTree>
  </p:cSld>
  <p:clrMapOvr>
    <a:masterClrMapping/>
  </p:clrMapOvr>
</p:sld>
</file>

<file path=ppt/theme/theme1.xml><?xml version="1.0" encoding="utf-8"?>
<a:theme xmlns:a="http://schemas.openxmlformats.org/drawingml/2006/main" name="Blind Eagle (APT-C-36) — Red/Purple Team Briefing">
  <a:themeElements>
    <a:clrScheme name="Blind Eagle (APT-C-36) — Red/Purple Team Briefing">
      <a:dk1>
        <a:srgbClr val="0F141B"/>
      </a:dk1>
      <a:lt1>
        <a:srgbClr val="EAEEF3"/>
      </a:lt1>
      <a:dk2>
        <a:srgbClr val="252A31"/>
      </a:dk2>
      <a:lt2>
        <a:srgbClr val="B3B8BD"/>
      </a:lt2>
      <a:accent1>
        <a:srgbClr val="E0A45A"/>
      </a:accent1>
      <a:accent2>
        <a:srgbClr val="C7D0DB"/>
      </a:accent2>
      <a:accent3>
        <a:srgbClr val="8E9BAA"/>
      </a:accent3>
      <a:accent4>
        <a:srgbClr val="A9B4C0"/>
      </a:accent4>
      <a:accent5>
        <a:srgbClr val="7E8B9A"/>
      </a:accent5>
      <a:accent6>
        <a:srgbClr val="9AA0A6"/>
      </a:accent6>
      <a:hlink>
        <a:srgbClr val="0563C1"/>
      </a:hlink>
      <a:folHlink>
        <a:srgbClr val="954F72"/>
      </a:folHlink>
    </a:clrScheme>
    <a:fontScheme name="Blind Eagle (APT-C-36) — Red/Purple Team Brief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 Eagle (APT-C-36) — Red/Purple Team Briefing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2026-10-26T20:43:27Z</dcterms:created>
  <dcterms:modified xsi:type="dcterms:W3CDTF">2026-10-26T20:43:27Z</dcterms:modified>
</cp:coreProperties>
</file>