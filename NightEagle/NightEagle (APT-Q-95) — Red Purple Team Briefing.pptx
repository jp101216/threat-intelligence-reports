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JetBrains Mono" panose="02000009000000000000" pitchFamily="49"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41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7493"/>
            <a:ext cx="10566400" cy="521380"/>
          </a:xfrm>
          <a:prstGeom prst="rect">
            <a:avLst/>
          </a:prstGeom>
          <a:noFill/>
          <a:ln/>
        </p:spPr>
        <p:txBody>
          <a:bodyPr wrap="square" lIns="0" tIns="0" rIns="0" bIns="0" rtlCol="0" anchor="t"/>
          <a:lstStyle>
            <a:lvl1pPr algn="l" indent="0" marL="0">
              <a:lnSpc>
                <a:spcPct val="115000"/>
              </a:lnSpc>
              <a:buNone/>
              <a:defRPr lang="en-US" sz="3400" dirty="0">
                <a:solidFill>
                  <a:srgbClr val="EAEEF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993673"/>
            <a:ext cx="10566400" cy="4051527"/>
          </a:xfrm>
          <a:prstGeom prst="rect">
            <a:avLst/>
          </a:prstGeom>
          <a:noFill/>
          <a:ln/>
        </p:spPr>
        <p:txBody>
          <a:bodyPr wrap="square" lIns="0" tIns="0" rIns="0" bIns="0" rtlCol="0" anchor="t"/>
          <a:lstStyle>
            <a:lvl1pPr algn="l" indent="0" marL="0">
              <a:lnSpc>
                <a:spcPct val="140000"/>
              </a:lnSpc>
              <a:buNone/>
              <a:defRPr lang="en-US" sz="1600" dirty="0">
                <a:solidFill>
                  <a:srgbClr val="EAEEF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41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7493"/>
            <a:ext cx="10566400" cy="521380"/>
          </a:xfrm>
          <a:prstGeom prst="rect">
            <a:avLst/>
          </a:prstGeom>
          <a:noFill/>
          <a:ln/>
        </p:spPr>
        <p:txBody>
          <a:bodyPr wrap="square" lIns="0" tIns="0" rIns="0" bIns="0" rtlCol="0" anchor="t"/>
          <a:lstStyle>
            <a:lvl1pPr algn="l" indent="0" marL="0">
              <a:lnSpc>
                <a:spcPct val="115000"/>
              </a:lnSpc>
              <a:buNone/>
              <a:defRPr lang="en-US" sz="3400" dirty="0">
                <a:solidFill>
                  <a:srgbClr val="EAEEF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993673"/>
            <a:ext cx="10566400" cy="4051527"/>
          </a:xfrm>
          <a:prstGeom prst="rect">
            <a:avLst/>
          </a:prstGeom>
          <a:noFill/>
          <a:ln/>
        </p:spPr>
        <p:txBody>
          <a:bodyPr wrap="square" lIns="0" tIns="0" rIns="0" bIns="0" rtlCol="0" anchor="t"/>
          <a:lstStyle>
            <a:lvl1pPr algn="l" indent="0" marL="0">
              <a:lnSpc>
                <a:spcPct val="140000"/>
              </a:lnSpc>
              <a:buNone/>
              <a:defRPr lang="en-US" sz="1600" dirty="0">
                <a:solidFill>
                  <a:srgbClr val="EAEEF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B"/>
        </a:solidFill>
      </p:bgPr>
    </p:bg>
    <p:spTree>
      <p:nvGrpSpPr>
        <p:cNvPr id="1" name=""/>
        <p:cNvGrpSpPr/>
        <p:nvPr/>
      </p:nvGrpSpPr>
      <p:grpSpPr>
        <a:xfrm>
          <a:off x="0" y="0"/>
          <a:ext cx="0" cy="0"/>
          <a:chOff x="0" y="0"/>
          <a:chExt cx="0" cy="0"/>
        </a:xfrm>
      </p:grpSpPr>
      <p:pic>
        <p:nvPicPr>
          <p:cNvPr id="2" name="Image 0" descr="rect">    </p:cNvPr>
          <p:cNvPicPr>
            <a:picLocks noChangeAspect="1"/>
          </p:cNvPicPr>
          <p:nvPr/>
        </p:nvPicPr>
        <p:blipFill>
          <a:blip r:embed="rId1"/>
          <a:srcRect l="0" r="0" t="0" b="0"/>
          <a:stretch/>
        </p:blipFill>
        <p:spPr>
          <a:xfrm>
            <a:off x="812800" y="936890"/>
            <a:ext cx="355600" cy="38100"/>
          </a:xfrm>
          <a:prstGeom prst="rect">
            <a:avLst/>
          </a:prstGeom>
        </p:spPr>
      </p:pic>
      <p:sp>
        <p:nvSpPr>
          <p:cNvPr id="3" name="Text 0"/>
          <p:cNvSpPr/>
          <p:nvPr/>
        </p:nvSpPr>
        <p:spPr>
          <a:xfrm>
            <a:off x="1295400" y="812800"/>
            <a:ext cx="6041208" cy="311679"/>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E0A45A"/>
                </a:solidFill>
                <a:latin typeface="JetBrains Mono" pitchFamily="49" charset="0"/>
                <a:ea typeface="JetBrains Mono" pitchFamily="49" charset="-122"/>
                <a:cs typeface="JetBrains Mono" pitchFamily="49" charset="-120"/>
              </a:rPr>
              <a:t>THREAT ACTOR PROFILE  ·  TLP:CLEAR</a:t>
            </a:r>
            <a:endParaRPr lang="en-US" sz="1400" dirty="0"/>
          </a:p>
        </p:txBody>
      </p:sp>
      <p:sp>
        <p:nvSpPr>
          <p:cNvPr id="4" name="Text 1"/>
          <p:cNvSpPr/>
          <p:nvPr>
            <p:ph type="title"/>
          </p:nvPr>
        </p:nvSpPr>
        <p:spPr>
          <a:xfrm>
            <a:off x="812800" y="1679878"/>
            <a:ext cx="10883392" cy="1218595"/>
          </a:xfrm>
          <a:prstGeom prst="rect">
            <a:avLst/>
          </a:prstGeom>
          <a:noFill/>
          <a:ln/>
        </p:spPr>
        <p:txBody>
          <a:bodyPr wrap="square" lIns="0" tIns="0" rIns="0" bIns="0" rtlCol="0" anchor="t">
            <a:normAutofit/>
          </a:bodyPr>
          <a:lstStyle/>
          <a:p>
            <a:pPr algn="l" indent="0" marL="0">
              <a:lnSpc>
                <a:spcPts val="8170"/>
              </a:lnSpc>
              <a:buNone/>
            </a:pPr>
            <a:r>
              <a:rPr lang="en-US" sz="8600" b="1" i="0" spc="-150" kern="0" dirty="0">
                <a:solidFill>
                  <a:srgbClr val="EAEEF3"/>
                </a:solidFill>
                <a:latin typeface="IBM Plex Sans" pitchFamily="34" charset="0"/>
                <a:ea typeface="IBM Plex Sans" pitchFamily="34" charset="-122"/>
                <a:cs typeface="IBM Plex Sans" pitchFamily="34" charset="-120"/>
              </a:rPr>
              <a:t>NightEagle</a:t>
            </a:r>
            <a:endParaRPr lang="en-US" sz="8600" dirty="0"/>
          </a:p>
        </p:txBody>
      </p:sp>
      <p:sp>
        <p:nvSpPr>
          <p:cNvPr id="5" name="Text 2"/>
          <p:cNvSpPr/>
          <p:nvPr/>
        </p:nvSpPr>
        <p:spPr>
          <a:xfrm>
            <a:off x="812800" y="3063573"/>
            <a:ext cx="10883392" cy="372987"/>
          </a:xfrm>
          <a:prstGeom prst="rect">
            <a:avLst/>
          </a:prstGeom>
          <a:noFill/>
          <a:ln/>
        </p:spPr>
        <p:txBody>
          <a:bodyPr wrap="square" lIns="0" tIns="0" rIns="0" bIns="0" rtlCol="0" anchor="t">
            <a:normAutofit/>
          </a:bodyPr>
          <a:lstStyle/>
          <a:p>
            <a:pPr algn="l" indent="0" marL="0">
              <a:lnSpc>
                <a:spcPts val="2380"/>
              </a:lnSpc>
              <a:buNone/>
            </a:pPr>
            <a:r>
              <a:rPr lang="en-US" sz="1700" spc="50" kern="0" dirty="0">
                <a:solidFill>
                  <a:srgbClr val="8E9BAA"/>
                </a:solidFill>
                <a:latin typeface="JetBrains Mono" pitchFamily="49" charset="0"/>
                <a:ea typeface="JetBrains Mono" pitchFamily="49" charset="-122"/>
                <a:cs typeface="JetBrains Mono" pitchFamily="49" charset="-120"/>
              </a:rPr>
              <a:t>APT-Q-95  ·  active since 2023</a:t>
            </a:r>
            <a:endParaRPr lang="en-US" sz="1700" dirty="0"/>
          </a:p>
        </p:txBody>
      </p:sp>
      <p:sp>
        <p:nvSpPr>
          <p:cNvPr id="6" name="Text 3"/>
          <p:cNvSpPr/>
          <p:nvPr/>
        </p:nvSpPr>
        <p:spPr>
          <a:xfrm>
            <a:off x="812800" y="3601660"/>
            <a:ext cx="8764270" cy="1208314"/>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7D0DB"/>
                </a:solidFill>
                <a:latin typeface="IBM Plex Sans" pitchFamily="34" charset="0"/>
                <a:ea typeface="IBM Plex Sans" pitchFamily="34" charset="-122"/>
                <a:cs typeface="IBM Plex Sans" pitchFamily="34" charset="-120"/>
              </a:rPr>
              <a:t>A stealthy Exchange-focused espionage actor: server-side zero-day, in-memory implants, and a Chisel tunnel into the internal network.</a:t>
            </a:r>
            <a:endParaRPr lang="en-US" sz="2000" dirty="0"/>
          </a:p>
        </p:txBody>
      </p:sp>
      <p:sp>
        <p:nvSpPr>
          <p:cNvPr id="7" name="Shape 4"/>
          <p:cNvSpPr/>
          <p:nvPr/>
        </p:nvSpPr>
        <p:spPr>
          <a:xfrm>
            <a:off x="812800" y="5368547"/>
            <a:ext cx="10566400" cy="0"/>
          </a:xfrm>
          <a:prstGeom prst="line">
            <a:avLst/>
          </a:prstGeom>
          <a:noFill/>
          <a:ln w="6350">
            <a:solidFill>
              <a:srgbClr val="263142"/>
            </a:solidFill>
            <a:prstDash val="solid"/>
          </a:ln>
        </p:spPr>
      </p:sp>
      <p:sp>
        <p:nvSpPr>
          <p:cNvPr id="8" name="Text 5"/>
          <p:cNvSpPr/>
          <p:nvPr/>
        </p:nvSpPr>
        <p:spPr>
          <a:xfrm>
            <a:off x="812800" y="5598810"/>
            <a:ext cx="3159397" cy="3320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8E9BAA"/>
                </a:solidFill>
                <a:latin typeface="IBM Plex Sans" pitchFamily="34" charset="0"/>
                <a:ea typeface="IBM Plex Sans" pitchFamily="34" charset="-122"/>
                <a:cs typeface="IBM Plex Sans" pitchFamily="34" charset="-120"/>
              </a:rPr>
              <a:t>Red &amp; purple team briefing</a:t>
            </a:r>
            <a:endParaRPr lang="en-US" sz="1500" dirty="0"/>
          </a:p>
        </p:txBody>
      </p:sp>
      <p:sp>
        <p:nvSpPr>
          <p:cNvPr id="9" name="Text 6"/>
          <p:cNvSpPr/>
          <p:nvPr/>
        </p:nvSpPr>
        <p:spPr>
          <a:xfrm>
            <a:off x="7829459" y="5598810"/>
            <a:ext cx="3549741" cy="33209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8E9BAA"/>
                </a:solidFill>
                <a:latin typeface="IBM Plex Sans" pitchFamily="34" charset="0"/>
                <a:ea typeface="IBM Plex Sans" pitchFamily="34" charset="-122"/>
                <a:cs typeface="IBM Plex Sans" pitchFamily="34" charset="-120"/>
              </a:rPr>
              <a:t>Jessie Parker  ·  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43001"/>
          </a:xfrm>
          <a:prstGeom prst="rect">
            <a:avLst/>
          </a:prstGeom>
          <a:noFill/>
          <a:ln/>
        </p:spPr>
        <p:txBody>
          <a:bodyPr wrap="square" lIns="0" tIns="0" rIns="0" bIns="0" rtlCol="0" anchor="t">
            <a:normAutofit/>
          </a:bodyPr>
          <a:lstStyle/>
          <a:p>
            <a:pPr algn="l" indent="0" marL="0">
              <a:lnSpc>
                <a:spcPts val="1496"/>
              </a:lnSpc>
              <a:buNone/>
            </a:pPr>
            <a:r>
              <a:rPr lang="en-US" sz="1068" spc="150" kern="0" dirty="0">
                <a:solidFill>
                  <a:srgbClr val="E0A45A"/>
                </a:solidFill>
                <a:latin typeface="JetBrains Mono" pitchFamily="49" charset="0"/>
                <a:ea typeface="JetBrains Mono" pitchFamily="49" charset="-122"/>
                <a:cs typeface="JetBrains Mono" pitchFamily="49" charset="-120"/>
              </a:rPr>
              <a:t>BOTTOM LINE UP FRONT</a:t>
            </a:r>
            <a:endParaRPr lang="en-US" sz="1068" dirty="0"/>
          </a:p>
        </p:txBody>
      </p:sp>
      <p:sp>
        <p:nvSpPr>
          <p:cNvPr id="3" name="Text 1"/>
          <p:cNvSpPr/>
          <p:nvPr>
            <p:ph type="title"/>
          </p:nvPr>
        </p:nvSpPr>
        <p:spPr>
          <a:xfrm>
            <a:off x="812800" y="1119301"/>
            <a:ext cx="10883392" cy="477422"/>
          </a:xfrm>
          <a:prstGeom prst="rect">
            <a:avLst/>
          </a:prstGeom>
          <a:noFill/>
          <a:ln/>
        </p:spPr>
        <p:txBody>
          <a:bodyPr wrap="square" lIns="0" tIns="0" rIns="0" bIns="0" rtlCol="0" anchor="t">
            <a:normAutofit/>
          </a:bodyPr>
          <a:lstStyle/>
          <a:p>
            <a:pPr algn="l" indent="0" marL="0">
              <a:lnSpc>
                <a:spcPts val="3107"/>
              </a:lnSpc>
              <a:buNone/>
            </a:pPr>
            <a:r>
              <a:rPr lang="en-US" sz="2959" b="1" i="0" dirty="0">
                <a:solidFill>
                  <a:srgbClr val="EAEEF3"/>
                </a:solidFill>
                <a:latin typeface="IBM Plex Sans" pitchFamily="34" charset="0"/>
                <a:ea typeface="IBM Plex Sans" pitchFamily="34" charset="-122"/>
                <a:cs typeface="IBM Plex Sans" pitchFamily="34" charset="-120"/>
              </a:rPr>
              <a:t>Quiet, server-side espionage</a:t>
            </a:r>
            <a:endParaRPr lang="en-US" sz="2959" dirty="0"/>
          </a:p>
        </p:txBody>
      </p:sp>
      <p:sp>
        <p:nvSpPr>
          <p:cNvPr id="4" name="Shape 2"/>
          <p:cNvSpPr/>
          <p:nvPr/>
        </p:nvSpPr>
        <p:spPr>
          <a:xfrm>
            <a:off x="815975" y="1904698"/>
            <a:ext cx="10560050" cy="865301"/>
          </a:xfrm>
          <a:prstGeom prst="roundRect">
            <a:avLst>
              <a:gd name="adj" fmla="val 11375"/>
            </a:avLst>
          </a:prstGeom>
          <a:solidFill>
            <a:srgbClr val="161D27"/>
          </a:solidFill>
          <a:ln w="6350">
            <a:solidFill>
              <a:srgbClr val="263142"/>
            </a:solidFill>
            <a:prstDash val="solid"/>
          </a:ln>
        </p:spPr>
      </p:sp>
      <p:sp>
        <p:nvSpPr>
          <p:cNvPr id="5" name="Text 3"/>
          <p:cNvSpPr/>
          <p:nvPr/>
        </p:nvSpPr>
        <p:spPr>
          <a:xfrm>
            <a:off x="1046238" y="2096861"/>
            <a:ext cx="357505" cy="372987"/>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0A45A"/>
                </a:solidFill>
                <a:latin typeface="JetBrains Mono" pitchFamily="49" charset="0"/>
                <a:ea typeface="JetBrains Mono" pitchFamily="49" charset="-122"/>
                <a:cs typeface="JetBrains Mono" pitchFamily="49" charset="-120"/>
              </a:rPr>
              <a:t>01</a:t>
            </a:r>
            <a:endParaRPr lang="en-US" sz="1700" dirty="0"/>
          </a:p>
        </p:txBody>
      </p:sp>
      <p:sp>
        <p:nvSpPr>
          <p:cNvPr id="6" name="Text 4"/>
          <p:cNvSpPr/>
          <p:nvPr/>
        </p:nvSpPr>
        <p:spPr>
          <a:xfrm>
            <a:off x="1534659" y="2096861"/>
            <a:ext cx="9670519" cy="362782"/>
          </a:xfrm>
          <a:prstGeom prst="rect">
            <a:avLst/>
          </a:prstGeom>
          <a:noFill/>
          <a:ln/>
        </p:spPr>
        <p:txBody>
          <a:bodyPr wrap="square" lIns="0" tIns="0" rIns="0" bIns="0" rtlCol="0" anchor="t">
            <a:normAutofit/>
          </a:bodyPr>
          <a:lstStyle/>
          <a:p>
            <a:pPr algn="l" indent="0" marL="0">
              <a:lnSpc>
                <a:spcPts val="2310"/>
              </a:lnSpc>
              <a:buNone/>
            </a:pPr>
            <a:r>
              <a:rPr lang="en-US" sz="1650" b="1" dirty="0">
                <a:solidFill>
                  <a:srgbClr val="EAEEF3"/>
                </a:solidFill>
                <a:latin typeface="IBM Plex Sans" pitchFamily="34" charset="0"/>
                <a:ea typeface="IBM Plex Sans" pitchFamily="34" charset="-122"/>
                <a:cs typeface="IBM Plex Sans" pitchFamily="34" charset="-120"/>
              </a:rPr>
              <a:t>Espionage-focused, active since 2023</a:t>
            </a:r>
            <a:endParaRPr lang="en-US" sz="1650" dirty="0"/>
          </a:p>
        </p:txBody>
      </p:sp>
      <p:sp>
        <p:nvSpPr>
          <p:cNvPr id="7" name="Text 5"/>
          <p:cNvSpPr/>
          <p:nvPr/>
        </p:nvSpPr>
        <p:spPr>
          <a:xfrm>
            <a:off x="1534659" y="2485042"/>
            <a:ext cx="9838191" cy="30143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4C0"/>
                </a:solidFill>
                <a:latin typeface="IBM Plex Sans" pitchFamily="34" charset="0"/>
                <a:ea typeface="IBM Plex Sans" pitchFamily="34" charset="-122"/>
                <a:cs typeface="IBM Plex Sans" pitchFamily="34" charset="-120"/>
              </a:rPr>
              <a:t>Intelligence collection against high-value targets, not financial gain. Disclosed by QiAnXin in July 2025.</a:t>
            </a:r>
            <a:endParaRPr lang="en-US" sz="1400" dirty="0"/>
          </a:p>
        </p:txBody>
      </p:sp>
      <p:sp>
        <p:nvSpPr>
          <p:cNvPr id="8" name="Shape 6"/>
          <p:cNvSpPr/>
          <p:nvPr/>
        </p:nvSpPr>
        <p:spPr>
          <a:xfrm>
            <a:off x="815975" y="2928748"/>
            <a:ext cx="10560050" cy="865301"/>
          </a:xfrm>
          <a:prstGeom prst="roundRect">
            <a:avLst>
              <a:gd name="adj" fmla="val 11375"/>
            </a:avLst>
          </a:prstGeom>
          <a:solidFill>
            <a:srgbClr val="161D27"/>
          </a:solidFill>
          <a:ln w="6350">
            <a:solidFill>
              <a:srgbClr val="263142"/>
            </a:solidFill>
            <a:prstDash val="solid"/>
          </a:ln>
        </p:spPr>
      </p:sp>
      <p:sp>
        <p:nvSpPr>
          <p:cNvPr id="9" name="Text 7"/>
          <p:cNvSpPr/>
          <p:nvPr/>
        </p:nvSpPr>
        <p:spPr>
          <a:xfrm>
            <a:off x="1046238" y="3120912"/>
            <a:ext cx="357505" cy="372987"/>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0A45A"/>
                </a:solidFill>
                <a:latin typeface="JetBrains Mono" pitchFamily="49" charset="0"/>
                <a:ea typeface="JetBrains Mono" pitchFamily="49" charset="-122"/>
                <a:cs typeface="JetBrains Mono" pitchFamily="49" charset="-120"/>
              </a:rPr>
              <a:t>02</a:t>
            </a:r>
            <a:endParaRPr lang="en-US" sz="1700" dirty="0"/>
          </a:p>
        </p:txBody>
      </p:sp>
      <p:sp>
        <p:nvSpPr>
          <p:cNvPr id="10" name="Text 8"/>
          <p:cNvSpPr/>
          <p:nvPr/>
        </p:nvSpPr>
        <p:spPr>
          <a:xfrm>
            <a:off x="1534659" y="3120912"/>
            <a:ext cx="8670445" cy="362782"/>
          </a:xfrm>
          <a:prstGeom prst="rect">
            <a:avLst/>
          </a:prstGeom>
          <a:noFill/>
          <a:ln/>
        </p:spPr>
        <p:txBody>
          <a:bodyPr wrap="square" lIns="0" tIns="0" rIns="0" bIns="0" rtlCol="0" anchor="t">
            <a:normAutofit/>
          </a:bodyPr>
          <a:lstStyle/>
          <a:p>
            <a:pPr algn="l" indent="0" marL="0">
              <a:lnSpc>
                <a:spcPts val="2310"/>
              </a:lnSpc>
              <a:buNone/>
            </a:pPr>
            <a:r>
              <a:rPr lang="en-US" sz="1650" b="1" dirty="0">
                <a:solidFill>
                  <a:srgbClr val="EAEEF3"/>
                </a:solidFill>
                <a:latin typeface="IBM Plex Sans" pitchFamily="34" charset="0"/>
                <a:ea typeface="IBM Plex Sans" pitchFamily="34" charset="-122"/>
                <a:cs typeface="IBM Plex Sans" pitchFamily="34" charset="-120"/>
              </a:rPr>
              <a:t>Enters through Exchange</a:t>
            </a:r>
            <a:endParaRPr lang="en-US" sz="1650" dirty="0"/>
          </a:p>
        </p:txBody>
      </p:sp>
      <p:sp>
        <p:nvSpPr>
          <p:cNvPr id="11" name="Text 9"/>
          <p:cNvSpPr/>
          <p:nvPr/>
        </p:nvSpPr>
        <p:spPr>
          <a:xfrm>
            <a:off x="1534659" y="3509094"/>
            <a:ext cx="9838191" cy="30143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4C0"/>
                </a:solidFill>
                <a:latin typeface="IBM Plex Sans" pitchFamily="34" charset="0"/>
                <a:ea typeface="IBM Plex Sans" pitchFamily="34" charset="-122"/>
                <a:cs typeface="IBM Plex Sans" pitchFamily="34" charset="-120"/>
              </a:rPr>
              <a:t>A zero-day yields the server machineKey, enabling ViewState RCE and remote mailbox theft.</a:t>
            </a:r>
            <a:endParaRPr lang="en-US" sz="1400" dirty="0"/>
          </a:p>
        </p:txBody>
      </p:sp>
      <p:sp>
        <p:nvSpPr>
          <p:cNvPr id="12" name="Shape 10"/>
          <p:cNvSpPr/>
          <p:nvPr/>
        </p:nvSpPr>
        <p:spPr>
          <a:xfrm>
            <a:off x="815975" y="3952800"/>
            <a:ext cx="10560050" cy="865301"/>
          </a:xfrm>
          <a:prstGeom prst="roundRect">
            <a:avLst>
              <a:gd name="adj" fmla="val 11375"/>
            </a:avLst>
          </a:prstGeom>
          <a:solidFill>
            <a:srgbClr val="161D27"/>
          </a:solidFill>
          <a:ln w="6350">
            <a:solidFill>
              <a:srgbClr val="263142"/>
            </a:solidFill>
            <a:prstDash val="solid"/>
          </a:ln>
        </p:spPr>
      </p:sp>
      <p:sp>
        <p:nvSpPr>
          <p:cNvPr id="13" name="Text 11"/>
          <p:cNvSpPr/>
          <p:nvPr/>
        </p:nvSpPr>
        <p:spPr>
          <a:xfrm>
            <a:off x="1046238" y="4144962"/>
            <a:ext cx="357505" cy="372987"/>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0A45A"/>
                </a:solidFill>
                <a:latin typeface="JetBrains Mono" pitchFamily="49" charset="0"/>
                <a:ea typeface="JetBrains Mono" pitchFamily="49" charset="-122"/>
                <a:cs typeface="JetBrains Mono" pitchFamily="49" charset="-120"/>
              </a:rPr>
              <a:t>03</a:t>
            </a:r>
            <a:endParaRPr lang="en-US" sz="1700" dirty="0"/>
          </a:p>
        </p:txBody>
      </p:sp>
      <p:sp>
        <p:nvSpPr>
          <p:cNvPr id="14" name="Text 12"/>
          <p:cNvSpPr/>
          <p:nvPr/>
        </p:nvSpPr>
        <p:spPr>
          <a:xfrm>
            <a:off x="1534659" y="4144962"/>
            <a:ext cx="8869658" cy="362782"/>
          </a:xfrm>
          <a:prstGeom prst="rect">
            <a:avLst/>
          </a:prstGeom>
          <a:noFill/>
          <a:ln/>
        </p:spPr>
        <p:txBody>
          <a:bodyPr wrap="square" lIns="0" tIns="0" rIns="0" bIns="0" rtlCol="0" anchor="t">
            <a:normAutofit/>
          </a:bodyPr>
          <a:lstStyle/>
          <a:p>
            <a:pPr algn="l" indent="0" marL="0">
              <a:lnSpc>
                <a:spcPts val="2310"/>
              </a:lnSpc>
              <a:buNone/>
            </a:pPr>
            <a:r>
              <a:rPr lang="en-US" sz="1650" b="1" dirty="0">
                <a:solidFill>
                  <a:srgbClr val="EAEEF3"/>
                </a:solidFill>
                <a:latin typeface="IBM Plex Sans" pitchFamily="34" charset="0"/>
                <a:ea typeface="IBM Plex Sans" pitchFamily="34" charset="-122"/>
                <a:cs typeface="IBM Plex Sans" pitchFamily="34" charset="-120"/>
              </a:rPr>
              <a:t>Lives in memory, tunnels inward</a:t>
            </a:r>
            <a:endParaRPr lang="en-US" sz="1650" dirty="0"/>
          </a:p>
        </p:txBody>
      </p:sp>
      <p:sp>
        <p:nvSpPr>
          <p:cNvPr id="15" name="Text 13"/>
          <p:cNvSpPr/>
          <p:nvPr/>
        </p:nvSpPr>
        <p:spPr>
          <a:xfrm>
            <a:off x="1534659" y="4533144"/>
            <a:ext cx="9838191" cy="30143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4C0"/>
                </a:solidFill>
                <a:latin typeface="IBM Plex Sans" pitchFamily="34" charset="0"/>
                <a:ea typeface="IBM Plex Sans" pitchFamily="34" charset="-122"/>
                <a:cs typeface="IBM Plex Sans" pitchFamily="34" charset="-120"/>
              </a:rPr>
              <a:t>In-memory .NET loader and GhostContainer backdoor; a modified Chisel tunnel over port 443.</a:t>
            </a:r>
            <a:endParaRPr lang="en-US" sz="1400" dirty="0"/>
          </a:p>
        </p:txBody>
      </p:sp>
      <p:sp>
        <p:nvSpPr>
          <p:cNvPr id="16" name="Shape 14"/>
          <p:cNvSpPr/>
          <p:nvPr/>
        </p:nvSpPr>
        <p:spPr>
          <a:xfrm>
            <a:off x="815975" y="4976850"/>
            <a:ext cx="10560050" cy="1065175"/>
          </a:xfrm>
          <a:prstGeom prst="roundRect">
            <a:avLst>
              <a:gd name="adj" fmla="val 9240"/>
            </a:avLst>
          </a:prstGeom>
          <a:solidFill>
            <a:srgbClr val="161D27"/>
          </a:solidFill>
          <a:ln w="6350">
            <a:solidFill>
              <a:srgbClr val="2E4256"/>
            </a:solidFill>
            <a:prstDash val="solid"/>
          </a:ln>
        </p:spPr>
      </p:sp>
      <p:sp>
        <p:nvSpPr>
          <p:cNvPr id="17" name="Text 15"/>
          <p:cNvSpPr/>
          <p:nvPr/>
        </p:nvSpPr>
        <p:spPr>
          <a:xfrm>
            <a:off x="1046238" y="5169014"/>
            <a:ext cx="345886" cy="720574"/>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0A45A"/>
                </a:solidFill>
                <a:latin typeface="JetBrains Mono" pitchFamily="49" charset="0"/>
                <a:ea typeface="JetBrains Mono" pitchFamily="49" charset="-122"/>
                <a:cs typeface="JetBrains Mono" pitchFamily="49" charset="-120"/>
              </a:rPr>
              <a:t>04</a:t>
            </a:r>
            <a:endParaRPr lang="en-US" sz="1700" dirty="0"/>
          </a:p>
        </p:txBody>
      </p:sp>
      <p:sp>
        <p:nvSpPr>
          <p:cNvPr id="18" name="Text 16"/>
          <p:cNvSpPr/>
          <p:nvPr/>
        </p:nvSpPr>
        <p:spPr>
          <a:xfrm>
            <a:off x="1531824" y="5169014"/>
            <a:ext cx="9902356" cy="362782"/>
          </a:xfrm>
          <a:prstGeom prst="rect">
            <a:avLst/>
          </a:prstGeom>
          <a:noFill/>
          <a:ln/>
        </p:spPr>
        <p:txBody>
          <a:bodyPr wrap="square" lIns="0" tIns="0" rIns="0" bIns="0" rtlCol="0" anchor="t">
            <a:normAutofit/>
          </a:bodyPr>
          <a:lstStyle/>
          <a:p>
            <a:pPr algn="l" indent="0" marL="0">
              <a:lnSpc>
                <a:spcPts val="2310"/>
              </a:lnSpc>
              <a:buNone/>
            </a:pPr>
            <a:r>
              <a:rPr lang="en-US" sz="1650" b="1" dirty="0">
                <a:solidFill>
                  <a:srgbClr val="EAEEF3"/>
                </a:solidFill>
                <a:latin typeface="IBM Plex Sans" pitchFamily="34" charset="0"/>
                <a:ea typeface="IBM Plex Sans" pitchFamily="34" charset="-122"/>
                <a:cs typeface="IBM Plex Sans" pitchFamily="34" charset="-120"/>
              </a:rPr>
              <a:t>A high-end emulation target</a:t>
            </a:r>
            <a:endParaRPr lang="en-US" sz="1650" dirty="0"/>
          </a:p>
        </p:txBody>
      </p:sp>
      <p:sp>
        <p:nvSpPr>
          <p:cNvPr id="19" name="Text 17"/>
          <p:cNvSpPr/>
          <p:nvPr/>
        </p:nvSpPr>
        <p:spPr>
          <a:xfrm>
            <a:off x="1531824" y="5557195"/>
            <a:ext cx="9902356"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4C0"/>
                </a:solidFill>
                <a:latin typeface="IBM Plex Sans" pitchFamily="34" charset="0"/>
                <a:ea typeface="IBM Plex Sans" pitchFamily="34" charset="-122"/>
                <a:cs typeface="IBM Plex Sans" pitchFamily="34" charset="-120"/>
              </a:rPr>
              <a:t>Skip the zero-day; emulate the post-exploitation chain — IIS abuse, Chisel, AD escalation — in a GOAD lab.</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91193"/>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E0A45A"/>
                </a:solidFill>
                <a:latin typeface="JetBrains Mono" pitchFamily="49" charset="0"/>
                <a:ea typeface="JetBrains Mono" pitchFamily="49" charset="-122"/>
                <a:cs typeface="JetBrains Mono" pitchFamily="49" charset="-120"/>
              </a:rPr>
              <a:t>THE ADVERSARY</a:t>
            </a:r>
            <a:endParaRPr lang="en-US" sz="1300" dirty="0"/>
          </a:p>
        </p:txBody>
      </p:sp>
      <p:sp>
        <p:nvSpPr>
          <p:cNvPr id="3" name="Text 1"/>
          <p:cNvSpPr/>
          <p:nvPr>
            <p:ph type="title"/>
          </p:nvPr>
        </p:nvSpPr>
        <p:spPr>
          <a:xfrm>
            <a:off x="812800" y="1167493"/>
            <a:ext cx="10883392" cy="577434"/>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EAEEF3"/>
                </a:solidFill>
                <a:latin typeface="IBM Plex Sans" pitchFamily="34" charset="0"/>
                <a:ea typeface="IBM Plex Sans" pitchFamily="34" charset="-122"/>
                <a:cs typeface="IBM Plex Sans" pitchFamily="34" charset="-120"/>
              </a:rPr>
              <a:t>At a glance</a:t>
            </a:r>
            <a:endParaRPr lang="en-US" sz="3600" dirty="0"/>
          </a:p>
        </p:txBody>
      </p:sp>
      <p:sp>
        <p:nvSpPr>
          <p:cNvPr id="4" name="Shape 2"/>
          <p:cNvSpPr/>
          <p:nvPr/>
        </p:nvSpPr>
        <p:spPr>
          <a:xfrm>
            <a:off x="815975" y="2052903"/>
            <a:ext cx="3414183" cy="1041438"/>
          </a:xfrm>
          <a:prstGeom prst="roundRect">
            <a:avLst>
              <a:gd name="adj" fmla="val 9451"/>
            </a:avLst>
          </a:prstGeom>
          <a:solidFill>
            <a:srgbClr val="161D27"/>
          </a:solidFill>
          <a:ln w="6350">
            <a:solidFill>
              <a:srgbClr val="263142"/>
            </a:solidFill>
            <a:prstDash val="solid"/>
          </a:ln>
        </p:spPr>
      </p:sp>
      <p:sp>
        <p:nvSpPr>
          <p:cNvPr id="5" name="Text 3"/>
          <p:cNvSpPr/>
          <p:nvPr/>
        </p:nvSpPr>
        <p:spPr>
          <a:xfrm>
            <a:off x="1033538" y="2270466"/>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ALIASES</a:t>
            </a:r>
            <a:endParaRPr lang="en-US" sz="1200" dirty="0"/>
          </a:p>
        </p:txBody>
      </p:sp>
      <p:sp>
        <p:nvSpPr>
          <p:cNvPr id="6" name="Text 4"/>
          <p:cNvSpPr/>
          <p:nvPr/>
        </p:nvSpPr>
        <p:spPr>
          <a:xfrm>
            <a:off x="1033538" y="2592009"/>
            <a:ext cx="3068429"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NightEagle, APT-Q-95</a:t>
            </a:r>
            <a:endParaRPr lang="en-US" sz="1500" dirty="0"/>
          </a:p>
        </p:txBody>
      </p:sp>
      <p:sp>
        <p:nvSpPr>
          <p:cNvPr id="7" name="Shape 5"/>
          <p:cNvSpPr/>
          <p:nvPr/>
        </p:nvSpPr>
        <p:spPr>
          <a:xfrm>
            <a:off x="4388908" y="2052903"/>
            <a:ext cx="3414183" cy="1041438"/>
          </a:xfrm>
          <a:prstGeom prst="roundRect">
            <a:avLst>
              <a:gd name="adj" fmla="val 9451"/>
            </a:avLst>
          </a:prstGeom>
          <a:solidFill>
            <a:srgbClr val="161D27"/>
          </a:solidFill>
          <a:ln w="6350">
            <a:solidFill>
              <a:srgbClr val="263142"/>
            </a:solidFill>
            <a:prstDash val="solid"/>
          </a:ln>
        </p:spPr>
      </p:sp>
      <p:sp>
        <p:nvSpPr>
          <p:cNvPr id="8" name="Text 6"/>
          <p:cNvSpPr/>
          <p:nvPr/>
        </p:nvSpPr>
        <p:spPr>
          <a:xfrm>
            <a:off x="4606472" y="2270466"/>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DISCLOSED</a:t>
            </a:r>
            <a:endParaRPr lang="en-US" sz="1200" dirty="0"/>
          </a:p>
        </p:txBody>
      </p:sp>
      <p:sp>
        <p:nvSpPr>
          <p:cNvPr id="9" name="Text 7"/>
          <p:cNvSpPr/>
          <p:nvPr/>
        </p:nvSpPr>
        <p:spPr>
          <a:xfrm>
            <a:off x="4606472" y="2592009"/>
            <a:ext cx="3068429"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July 2025, QiAnXin RedDrip</a:t>
            </a:r>
            <a:endParaRPr lang="en-US" sz="1500" dirty="0"/>
          </a:p>
        </p:txBody>
      </p:sp>
      <p:sp>
        <p:nvSpPr>
          <p:cNvPr id="10" name="Shape 8"/>
          <p:cNvSpPr/>
          <p:nvPr/>
        </p:nvSpPr>
        <p:spPr>
          <a:xfrm>
            <a:off x="7961842" y="2052903"/>
            <a:ext cx="3414183" cy="1041438"/>
          </a:xfrm>
          <a:prstGeom prst="roundRect">
            <a:avLst>
              <a:gd name="adj" fmla="val 9451"/>
            </a:avLst>
          </a:prstGeom>
          <a:solidFill>
            <a:srgbClr val="161D27"/>
          </a:solidFill>
          <a:ln w="6350">
            <a:solidFill>
              <a:srgbClr val="263142"/>
            </a:solidFill>
            <a:prstDash val="solid"/>
          </a:ln>
        </p:spPr>
      </p:sp>
      <p:sp>
        <p:nvSpPr>
          <p:cNvPr id="11" name="Text 9"/>
          <p:cNvSpPr/>
          <p:nvPr/>
        </p:nvSpPr>
        <p:spPr>
          <a:xfrm>
            <a:off x="8179405" y="2270466"/>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ACTIVE SINCE</a:t>
            </a:r>
            <a:endParaRPr lang="en-US" sz="1200" dirty="0"/>
          </a:p>
        </p:txBody>
      </p:sp>
      <p:sp>
        <p:nvSpPr>
          <p:cNvPr id="12" name="Text 10"/>
          <p:cNvSpPr/>
          <p:nvPr/>
        </p:nvSpPr>
        <p:spPr>
          <a:xfrm>
            <a:off x="8179405" y="2592009"/>
            <a:ext cx="3068429"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At least 2023</a:t>
            </a:r>
            <a:endParaRPr lang="en-US" sz="1500" dirty="0"/>
          </a:p>
        </p:txBody>
      </p:sp>
      <p:sp>
        <p:nvSpPr>
          <p:cNvPr id="13" name="Shape 11"/>
          <p:cNvSpPr/>
          <p:nvPr/>
        </p:nvSpPr>
        <p:spPr>
          <a:xfrm>
            <a:off x="815975" y="3253090"/>
            <a:ext cx="3414183" cy="1326205"/>
          </a:xfrm>
          <a:prstGeom prst="roundRect">
            <a:avLst>
              <a:gd name="adj" fmla="val 7422"/>
            </a:avLst>
          </a:prstGeom>
          <a:solidFill>
            <a:srgbClr val="161D27"/>
          </a:solidFill>
          <a:ln w="6350">
            <a:solidFill>
              <a:srgbClr val="263142"/>
            </a:solidFill>
            <a:prstDash val="solid"/>
          </a:ln>
        </p:spPr>
      </p:sp>
      <p:sp>
        <p:nvSpPr>
          <p:cNvPr id="14" name="Text 12"/>
          <p:cNvSpPr/>
          <p:nvPr/>
        </p:nvSpPr>
        <p:spPr>
          <a:xfrm>
            <a:off x="1033538" y="3470653"/>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MOTIVATION</a:t>
            </a:r>
            <a:endParaRPr lang="en-US" sz="1200" dirty="0"/>
          </a:p>
        </p:txBody>
      </p:sp>
      <p:sp>
        <p:nvSpPr>
          <p:cNvPr id="15" name="Text 13"/>
          <p:cNvSpPr/>
          <p:nvPr/>
        </p:nvSpPr>
        <p:spPr>
          <a:xfrm>
            <a:off x="1033538" y="3792198"/>
            <a:ext cx="3068429"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Espionage / intelligence</a:t>
            </a:r>
            <a:endParaRPr lang="en-US" sz="1500" dirty="0"/>
          </a:p>
        </p:txBody>
      </p:sp>
      <p:sp>
        <p:nvSpPr>
          <p:cNvPr id="16" name="Shape 14"/>
          <p:cNvSpPr/>
          <p:nvPr/>
        </p:nvSpPr>
        <p:spPr>
          <a:xfrm>
            <a:off x="4388908" y="3253090"/>
            <a:ext cx="3414183" cy="1326205"/>
          </a:xfrm>
          <a:prstGeom prst="roundRect">
            <a:avLst>
              <a:gd name="adj" fmla="val 7422"/>
            </a:avLst>
          </a:prstGeom>
          <a:solidFill>
            <a:srgbClr val="161D27"/>
          </a:solidFill>
          <a:ln w="6350">
            <a:solidFill>
              <a:srgbClr val="263142"/>
            </a:solidFill>
            <a:prstDash val="solid"/>
          </a:ln>
        </p:spPr>
      </p:sp>
      <p:sp>
        <p:nvSpPr>
          <p:cNvPr id="17" name="Text 15"/>
          <p:cNvSpPr/>
          <p:nvPr/>
        </p:nvSpPr>
        <p:spPr>
          <a:xfrm>
            <a:off x="4606472" y="3470653"/>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SUSPECTED ORIGIN</a:t>
            </a:r>
            <a:endParaRPr lang="en-US" sz="1200" dirty="0"/>
          </a:p>
        </p:txBody>
      </p:sp>
      <p:sp>
        <p:nvSpPr>
          <p:cNvPr id="18" name="Text 16"/>
          <p:cNvSpPr/>
          <p:nvPr/>
        </p:nvSpPr>
        <p:spPr>
          <a:xfrm>
            <a:off x="4606472" y="3792198"/>
            <a:ext cx="3068429" cy="594935"/>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North America (low confidence)</a:t>
            </a:r>
            <a:endParaRPr lang="en-US" sz="1500" dirty="0"/>
          </a:p>
        </p:txBody>
      </p:sp>
      <p:sp>
        <p:nvSpPr>
          <p:cNvPr id="19" name="Shape 17"/>
          <p:cNvSpPr/>
          <p:nvPr/>
        </p:nvSpPr>
        <p:spPr>
          <a:xfrm>
            <a:off x="7961842" y="3253090"/>
            <a:ext cx="3414183" cy="1326205"/>
          </a:xfrm>
          <a:prstGeom prst="roundRect">
            <a:avLst>
              <a:gd name="adj" fmla="val 7422"/>
            </a:avLst>
          </a:prstGeom>
          <a:solidFill>
            <a:srgbClr val="161D27"/>
          </a:solidFill>
          <a:ln w="6350">
            <a:solidFill>
              <a:srgbClr val="263142"/>
            </a:solidFill>
            <a:prstDash val="solid"/>
          </a:ln>
        </p:spPr>
      </p:sp>
      <p:sp>
        <p:nvSpPr>
          <p:cNvPr id="20" name="Text 18"/>
          <p:cNvSpPr/>
          <p:nvPr/>
        </p:nvSpPr>
        <p:spPr>
          <a:xfrm>
            <a:off x="8179405" y="3470653"/>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TRADECRAFT</a:t>
            </a:r>
            <a:endParaRPr lang="en-US" sz="1200" dirty="0"/>
          </a:p>
        </p:txBody>
      </p:sp>
      <p:sp>
        <p:nvSpPr>
          <p:cNvPr id="21" name="Text 19"/>
          <p:cNvSpPr/>
          <p:nvPr/>
        </p:nvSpPr>
        <p:spPr>
          <a:xfrm>
            <a:off x="8179405" y="3792198"/>
            <a:ext cx="3068429" cy="594935"/>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High — zero-day, in-memory, fast rotation</a:t>
            </a:r>
            <a:endParaRPr lang="en-US" sz="1500" dirty="0"/>
          </a:p>
        </p:txBody>
      </p:sp>
      <p:sp>
        <p:nvSpPr>
          <p:cNvPr id="22" name="Text 20"/>
          <p:cNvSpPr/>
          <p:nvPr/>
        </p:nvSpPr>
        <p:spPr>
          <a:xfrm>
            <a:off x="812800" y="4912671"/>
            <a:ext cx="10883392" cy="55698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E9BAA"/>
                </a:solidFill>
                <a:latin typeface="IBM Plex Sans" pitchFamily="34" charset="0"/>
                <a:ea typeface="IBM Plex Sans" pitchFamily="34" charset="-122"/>
                <a:cs typeface="IBM Plex Sans" pitchFamily="34" charset="-120"/>
              </a:rPr>
              <a:t>Attribution rests mainly on 9 p.m.–6 a.m. Beijing working hours — a weak single indicator. Treat the North American assessment as a hypothesis, not a fact.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91193"/>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E0A45A"/>
                </a:solidFill>
                <a:latin typeface="JetBrains Mono" pitchFamily="49" charset="0"/>
                <a:ea typeface="JetBrains Mono" pitchFamily="49" charset="-122"/>
                <a:cs typeface="JetBrains Mono" pitchFamily="49" charset="-120"/>
              </a:rPr>
              <a:t>TARGETING</a:t>
            </a:r>
            <a:endParaRPr lang="en-US" sz="1300" dirty="0"/>
          </a:p>
        </p:txBody>
      </p:sp>
      <p:sp>
        <p:nvSpPr>
          <p:cNvPr id="3" name="Text 1"/>
          <p:cNvSpPr/>
          <p:nvPr>
            <p:ph type="title"/>
          </p:nvPr>
        </p:nvSpPr>
        <p:spPr>
          <a:xfrm>
            <a:off x="812800" y="1167493"/>
            <a:ext cx="10883392" cy="577434"/>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EAEEF3"/>
                </a:solidFill>
                <a:latin typeface="IBM Plex Sans" pitchFamily="34" charset="0"/>
                <a:ea typeface="IBM Plex Sans" pitchFamily="34" charset="-122"/>
                <a:cs typeface="IBM Plex Sans" pitchFamily="34" charset="-120"/>
              </a:rPr>
              <a:t>Few targets, high value</a:t>
            </a:r>
            <a:endParaRPr lang="en-US" sz="3600" dirty="0"/>
          </a:p>
        </p:txBody>
      </p:sp>
      <p:sp>
        <p:nvSpPr>
          <p:cNvPr id="4" name="Shape 2"/>
          <p:cNvSpPr/>
          <p:nvPr/>
        </p:nvSpPr>
        <p:spPr>
          <a:xfrm>
            <a:off x="815975" y="2027503"/>
            <a:ext cx="5187950" cy="2195210"/>
          </a:xfrm>
          <a:prstGeom prst="roundRect">
            <a:avLst>
              <a:gd name="adj" fmla="val 4484"/>
            </a:avLst>
          </a:prstGeom>
          <a:solidFill>
            <a:srgbClr val="161D27"/>
          </a:solidFill>
          <a:ln w="6350">
            <a:solidFill>
              <a:srgbClr val="263142"/>
            </a:solidFill>
            <a:prstDash val="solid"/>
          </a:ln>
        </p:spPr>
      </p:sp>
      <p:sp>
        <p:nvSpPr>
          <p:cNvPr id="5" name="Text 3"/>
          <p:cNvSpPr/>
          <p:nvPr/>
        </p:nvSpPr>
        <p:spPr>
          <a:xfrm>
            <a:off x="1071638" y="2283166"/>
            <a:ext cx="4816923"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COUNTRIES</a:t>
            </a:r>
            <a:endParaRPr lang="en-US" sz="1200" dirty="0"/>
          </a:p>
        </p:txBody>
      </p:sp>
      <p:sp>
        <p:nvSpPr>
          <p:cNvPr id="6" name="Text 4"/>
          <p:cNvSpPr/>
          <p:nvPr/>
        </p:nvSpPr>
        <p:spPr>
          <a:xfrm>
            <a:off x="1071638" y="2642809"/>
            <a:ext cx="4816923" cy="348154"/>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EAEEF3"/>
                </a:solidFill>
                <a:latin typeface="IBM Plex Sans" pitchFamily="34" charset="0"/>
                <a:ea typeface="IBM Plex Sans" pitchFamily="34" charset="-122"/>
                <a:cs typeface="IBM Plex Sans" pitchFamily="34" charset="-120"/>
              </a:rPr>
              <a:t>China (primary)</a:t>
            </a:r>
            <a:endParaRPr lang="en-US" sz="1700" dirty="0"/>
          </a:p>
        </p:txBody>
      </p:sp>
      <p:sp>
        <p:nvSpPr>
          <p:cNvPr id="7" name="Text 5"/>
          <p:cNvSpPr/>
          <p:nvPr/>
        </p:nvSpPr>
        <p:spPr>
          <a:xfrm>
            <a:off x="1071638" y="3079863"/>
            <a:ext cx="4816923" cy="912586"/>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9B4C0"/>
                </a:solidFill>
                <a:latin typeface="IBM Plex Sans" pitchFamily="34" charset="0"/>
                <a:ea typeface="IBM Plex Sans" pitchFamily="34" charset="-122"/>
                <a:cs typeface="IBM Plex Sans" pitchFamily="34" charset="-120"/>
              </a:rPr>
              <a:t>Expanded to Russia in 2026 per Kaspersky — the first move beyond China and Asia in public reporting.</a:t>
            </a:r>
            <a:endParaRPr lang="en-US" sz="1500" dirty="0"/>
          </a:p>
        </p:txBody>
      </p:sp>
      <p:sp>
        <p:nvSpPr>
          <p:cNvPr id="8" name="Shape 6"/>
          <p:cNvSpPr/>
          <p:nvPr/>
        </p:nvSpPr>
        <p:spPr>
          <a:xfrm>
            <a:off x="6188075" y="2027503"/>
            <a:ext cx="5187950" cy="2195210"/>
          </a:xfrm>
          <a:prstGeom prst="roundRect">
            <a:avLst>
              <a:gd name="adj" fmla="val 4484"/>
            </a:avLst>
          </a:prstGeom>
          <a:solidFill>
            <a:srgbClr val="161D27"/>
          </a:solidFill>
          <a:ln w="6350">
            <a:solidFill>
              <a:srgbClr val="263142"/>
            </a:solidFill>
            <a:prstDash val="solid"/>
          </a:ln>
        </p:spPr>
      </p:sp>
      <p:sp>
        <p:nvSpPr>
          <p:cNvPr id="9" name="Text 7"/>
          <p:cNvSpPr/>
          <p:nvPr/>
        </p:nvSpPr>
        <p:spPr>
          <a:xfrm>
            <a:off x="6443738" y="2283166"/>
            <a:ext cx="4816923"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WHY IT MATTERS</a:t>
            </a:r>
            <a:endParaRPr lang="en-US" sz="1200" dirty="0"/>
          </a:p>
        </p:txBody>
      </p:sp>
      <p:sp>
        <p:nvSpPr>
          <p:cNvPr id="10" name="Text 8"/>
          <p:cNvSpPr/>
          <p:nvPr/>
        </p:nvSpPr>
        <p:spPr>
          <a:xfrm>
            <a:off x="6443738" y="2642809"/>
            <a:ext cx="4816923" cy="912586"/>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9B4C0"/>
                </a:solidFill>
                <a:latin typeface="IBM Plex Sans" pitchFamily="34" charset="0"/>
                <a:ea typeface="IBM Plex Sans" pitchFamily="34" charset="-122"/>
                <a:cs typeface="IBM Plex Sans" pitchFamily="34" charset="-120"/>
              </a:rPr>
              <a:t>The detection surface is the Exchange / IIS tier and internal lateral movement — not the mass-phishing funnel.</a:t>
            </a:r>
            <a:endParaRPr lang="en-US" sz="1500" dirty="0"/>
          </a:p>
        </p:txBody>
      </p:sp>
      <p:sp>
        <p:nvSpPr>
          <p:cNvPr id="11" name="Text 9"/>
          <p:cNvSpPr/>
          <p:nvPr/>
        </p:nvSpPr>
        <p:spPr>
          <a:xfrm>
            <a:off x="812800" y="4530688"/>
            <a:ext cx="10883392"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E9BAA"/>
                </a:solidFill>
                <a:latin typeface="JetBrains Mono" pitchFamily="49" charset="0"/>
                <a:ea typeface="JetBrains Mono" pitchFamily="49" charset="-122"/>
                <a:cs typeface="JetBrains Mono" pitchFamily="49" charset="-120"/>
              </a:rPr>
              <a:t>SECTORS TARGETED</a:t>
            </a:r>
            <a:endParaRPr lang="en-US" sz="1200" dirty="0"/>
          </a:p>
        </p:txBody>
      </p:sp>
      <p:sp>
        <p:nvSpPr>
          <p:cNvPr id="12" name="Text 10"/>
          <p:cNvSpPr/>
          <p:nvPr/>
        </p:nvSpPr>
        <p:spPr>
          <a:xfrm>
            <a:off x="815975" y="4906208"/>
            <a:ext cx="1494858"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Government</a:t>
            </a:r>
            <a:endParaRPr lang="en-US" sz="1400" dirty="0"/>
          </a:p>
        </p:txBody>
      </p:sp>
      <p:sp>
        <p:nvSpPr>
          <p:cNvPr id="13" name="Text 11"/>
          <p:cNvSpPr/>
          <p:nvPr/>
        </p:nvSpPr>
        <p:spPr>
          <a:xfrm>
            <a:off x="2418783" y="4906208"/>
            <a:ext cx="1985131"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Defense / military</a:t>
            </a:r>
            <a:endParaRPr lang="en-US" sz="1400" dirty="0"/>
          </a:p>
        </p:txBody>
      </p:sp>
      <p:sp>
        <p:nvSpPr>
          <p:cNvPr id="14" name="Text 12"/>
          <p:cNvSpPr/>
          <p:nvPr/>
        </p:nvSpPr>
        <p:spPr>
          <a:xfrm>
            <a:off x="4511864" y="4906208"/>
            <a:ext cx="1849362"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Semiconductors</a:t>
            </a:r>
            <a:endParaRPr lang="en-US" sz="1400" dirty="0"/>
          </a:p>
        </p:txBody>
      </p:sp>
      <p:sp>
        <p:nvSpPr>
          <p:cNvPr id="15" name="Text 13"/>
          <p:cNvSpPr/>
          <p:nvPr/>
        </p:nvSpPr>
        <p:spPr>
          <a:xfrm>
            <a:off x="6469176" y="4906208"/>
            <a:ext cx="1211489"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Quantum</a:t>
            </a:r>
            <a:endParaRPr lang="en-US" sz="1400" dirty="0"/>
          </a:p>
        </p:txBody>
      </p:sp>
      <p:sp>
        <p:nvSpPr>
          <p:cNvPr id="16" name="Text 14"/>
          <p:cNvSpPr/>
          <p:nvPr/>
        </p:nvSpPr>
        <p:spPr>
          <a:xfrm>
            <a:off x="7788615" y="4906208"/>
            <a:ext cx="2232290"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Artificial intelligence</a:t>
            </a:r>
            <a:endParaRPr lang="en-US" sz="1400" dirty="0"/>
          </a:p>
        </p:txBody>
      </p:sp>
      <p:sp>
        <p:nvSpPr>
          <p:cNvPr id="17" name="Text 15"/>
          <p:cNvSpPr/>
          <p:nvPr/>
        </p:nvSpPr>
        <p:spPr>
          <a:xfrm>
            <a:off x="815975" y="5481563"/>
            <a:ext cx="2646930"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High-tech manufacturing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82915"/>
          </a:xfrm>
          <a:prstGeom prst="rect">
            <a:avLst/>
          </a:prstGeom>
          <a:noFill/>
          <a:ln/>
        </p:spPr>
        <p:txBody>
          <a:bodyPr wrap="square" lIns="0" tIns="0" rIns="0" bIns="0" rtlCol="0" anchor="t">
            <a:normAutofit/>
          </a:bodyPr>
          <a:lstStyle/>
          <a:p>
            <a:pPr algn="l" indent="0" marL="0">
              <a:lnSpc>
                <a:spcPts val="1803"/>
              </a:lnSpc>
              <a:buNone/>
            </a:pPr>
            <a:r>
              <a:rPr lang="en-US" sz="1288" spc="150" kern="0" dirty="0">
                <a:solidFill>
                  <a:srgbClr val="E0A45A"/>
                </a:solidFill>
                <a:latin typeface="JetBrains Mono" pitchFamily="49" charset="0"/>
                <a:ea typeface="JetBrains Mono" pitchFamily="49" charset="-122"/>
                <a:cs typeface="JetBrains Mono" pitchFamily="49" charset="-120"/>
              </a:rPr>
              <a:t>HOW THEY OPERATE</a:t>
            </a:r>
            <a:endParaRPr lang="en-US" sz="1288" dirty="0"/>
          </a:p>
        </p:txBody>
      </p:sp>
      <p:sp>
        <p:nvSpPr>
          <p:cNvPr id="3" name="Text 1"/>
          <p:cNvSpPr/>
          <p:nvPr>
            <p:ph type="title"/>
          </p:nvPr>
        </p:nvSpPr>
        <p:spPr>
          <a:xfrm>
            <a:off x="812800" y="1159216"/>
            <a:ext cx="10883392" cy="560312"/>
          </a:xfrm>
          <a:prstGeom prst="rect">
            <a:avLst/>
          </a:prstGeom>
          <a:noFill/>
          <a:ln/>
        </p:spPr>
        <p:txBody>
          <a:bodyPr wrap="square" lIns="0" tIns="0" rIns="0" bIns="0" rtlCol="0" anchor="t">
            <a:normAutofit/>
          </a:bodyPr>
          <a:lstStyle/>
          <a:p>
            <a:pPr algn="l" indent="0" marL="0">
              <a:lnSpc>
                <a:spcPts val="3674"/>
              </a:lnSpc>
              <a:buNone/>
            </a:pPr>
            <a:r>
              <a:rPr lang="en-US" sz="3499" b="1" i="0" dirty="0">
                <a:solidFill>
                  <a:srgbClr val="EAEEF3"/>
                </a:solidFill>
                <a:latin typeface="IBM Plex Sans" pitchFamily="34" charset="0"/>
                <a:ea typeface="IBM Plex Sans" pitchFamily="34" charset="-122"/>
                <a:cs typeface="IBM Plex Sans" pitchFamily="34" charset="-120"/>
              </a:rPr>
              <a:t>The kill chain, stage by stage</a:t>
            </a:r>
            <a:endParaRPr lang="en-US" sz="3499" dirty="0"/>
          </a:p>
        </p:txBody>
      </p:sp>
      <p:sp>
        <p:nvSpPr>
          <p:cNvPr id="4" name="Shape 2"/>
          <p:cNvSpPr/>
          <p:nvPr/>
        </p:nvSpPr>
        <p:spPr>
          <a:xfrm>
            <a:off x="812800" y="2648973"/>
            <a:ext cx="10566400" cy="0"/>
          </a:xfrm>
          <a:prstGeom prst="line">
            <a:avLst/>
          </a:prstGeom>
          <a:noFill/>
          <a:ln w="6350">
            <a:solidFill>
              <a:srgbClr val="263142"/>
            </a:solidFill>
            <a:prstDash val="solid"/>
          </a:ln>
        </p:spPr>
      </p:sp>
      <p:sp>
        <p:nvSpPr>
          <p:cNvPr id="5" name="Text 3"/>
          <p:cNvSpPr/>
          <p:nvPr/>
        </p:nvSpPr>
        <p:spPr>
          <a:xfrm>
            <a:off x="863600" y="2116175"/>
            <a:ext cx="406400" cy="413884"/>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E0A45A"/>
                </a:solidFill>
                <a:latin typeface="JetBrains Mono" pitchFamily="49" charset="0"/>
                <a:ea typeface="JetBrains Mono" pitchFamily="49" charset="-122"/>
                <a:cs typeface="JetBrains Mono" pitchFamily="49" charset="-120"/>
              </a:rPr>
              <a:t>1</a:t>
            </a:r>
            <a:endParaRPr lang="en-US" sz="1900" dirty="0"/>
          </a:p>
        </p:txBody>
      </p:sp>
      <p:sp>
        <p:nvSpPr>
          <p:cNvPr id="6" name="Text 4"/>
          <p:cNvSpPr/>
          <p:nvPr/>
        </p:nvSpPr>
        <p:spPr>
          <a:xfrm>
            <a:off x="1422400" y="2146867"/>
            <a:ext cx="2616200" cy="3525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AEEF3"/>
                </a:solidFill>
                <a:latin typeface="IBM Plex Sans" pitchFamily="34" charset="0"/>
                <a:ea typeface="IBM Plex Sans" pitchFamily="34" charset="-122"/>
                <a:cs typeface="IBM Plex Sans" pitchFamily="34" charset="-120"/>
              </a:rPr>
              <a:t>Exchange access</a:t>
            </a:r>
            <a:endParaRPr lang="en-US" sz="1600" dirty="0"/>
          </a:p>
        </p:txBody>
      </p:sp>
      <p:sp>
        <p:nvSpPr>
          <p:cNvPr id="7" name="Text 5"/>
          <p:cNvSpPr/>
          <p:nvPr/>
        </p:nvSpPr>
        <p:spPr>
          <a:xfrm>
            <a:off x="4165600" y="2177483"/>
            <a:ext cx="5860288" cy="29123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9B4C0"/>
                </a:solidFill>
                <a:latin typeface="IBM Plex Sans" pitchFamily="34" charset="0"/>
                <a:ea typeface="IBM Plex Sans" pitchFamily="34" charset="-122"/>
                <a:cs typeface="IBM Plex Sans" pitchFamily="34" charset="-120"/>
              </a:rPr>
              <a:t>Zero-day or stolen VPN credentials</a:t>
            </a:r>
            <a:endParaRPr lang="en-US" sz="1400" dirty="0"/>
          </a:p>
        </p:txBody>
      </p:sp>
      <p:sp>
        <p:nvSpPr>
          <p:cNvPr id="8" name="Text 6"/>
          <p:cNvSpPr/>
          <p:nvPr/>
        </p:nvSpPr>
        <p:spPr>
          <a:xfrm>
            <a:off x="10007600" y="2177523"/>
            <a:ext cx="1320800" cy="291193"/>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8E9BAA"/>
                </a:solidFill>
                <a:latin typeface="JetBrains Mono" pitchFamily="49" charset="0"/>
                <a:ea typeface="JetBrains Mono" pitchFamily="49" charset="-122"/>
                <a:cs typeface="JetBrains Mono" pitchFamily="49" charset="-120"/>
              </a:rPr>
              <a:t>T1190</a:t>
            </a:r>
            <a:endParaRPr lang="en-US" sz="1300" dirty="0"/>
          </a:p>
        </p:txBody>
      </p:sp>
      <p:sp>
        <p:nvSpPr>
          <p:cNvPr id="9" name="Shape 7"/>
          <p:cNvSpPr/>
          <p:nvPr/>
        </p:nvSpPr>
        <p:spPr>
          <a:xfrm>
            <a:off x="812800" y="3327551"/>
            <a:ext cx="10566400" cy="0"/>
          </a:xfrm>
          <a:prstGeom prst="line">
            <a:avLst/>
          </a:prstGeom>
          <a:noFill/>
          <a:ln w="6350">
            <a:solidFill>
              <a:srgbClr val="263142"/>
            </a:solidFill>
            <a:prstDash val="solid"/>
          </a:ln>
        </p:spPr>
      </p:sp>
      <p:sp>
        <p:nvSpPr>
          <p:cNvPr id="10" name="Text 8"/>
          <p:cNvSpPr/>
          <p:nvPr/>
        </p:nvSpPr>
        <p:spPr>
          <a:xfrm>
            <a:off x="863600" y="2794794"/>
            <a:ext cx="406400" cy="413884"/>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E0A45A"/>
                </a:solidFill>
                <a:latin typeface="JetBrains Mono" pitchFamily="49" charset="0"/>
                <a:ea typeface="JetBrains Mono" pitchFamily="49" charset="-122"/>
                <a:cs typeface="JetBrains Mono" pitchFamily="49" charset="-120"/>
              </a:rPr>
              <a:t>2</a:t>
            </a:r>
            <a:endParaRPr lang="en-US" sz="1900" dirty="0"/>
          </a:p>
        </p:txBody>
      </p:sp>
      <p:sp>
        <p:nvSpPr>
          <p:cNvPr id="11" name="Text 9"/>
          <p:cNvSpPr/>
          <p:nvPr/>
        </p:nvSpPr>
        <p:spPr>
          <a:xfrm>
            <a:off x="1422400" y="2825449"/>
            <a:ext cx="2616200" cy="3525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AEEF3"/>
                </a:solidFill>
                <a:latin typeface="IBM Plex Sans" pitchFamily="34" charset="0"/>
                <a:ea typeface="IBM Plex Sans" pitchFamily="34" charset="-122"/>
                <a:cs typeface="IBM Plex Sans" pitchFamily="34" charset="-120"/>
              </a:rPr>
              <a:t>ViewState RCE</a:t>
            </a:r>
            <a:endParaRPr lang="en-US" sz="1600" dirty="0"/>
          </a:p>
        </p:txBody>
      </p:sp>
      <p:sp>
        <p:nvSpPr>
          <p:cNvPr id="12" name="Text 10"/>
          <p:cNvSpPr/>
          <p:nvPr/>
        </p:nvSpPr>
        <p:spPr>
          <a:xfrm>
            <a:off x="4165600" y="2856102"/>
            <a:ext cx="5860288" cy="29123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9B4C0"/>
                </a:solidFill>
                <a:latin typeface="IBM Plex Sans" pitchFamily="34" charset="0"/>
                <a:ea typeface="IBM Plex Sans" pitchFamily="34" charset="-122"/>
                <a:cs typeface="IBM Plex Sans" pitchFamily="34" charset="-120"/>
              </a:rPr>
              <a:t>Stolen machineKey forges signed payloads</a:t>
            </a:r>
            <a:endParaRPr lang="en-US" sz="1400" dirty="0"/>
          </a:p>
        </p:txBody>
      </p:sp>
      <p:sp>
        <p:nvSpPr>
          <p:cNvPr id="13" name="Text 11"/>
          <p:cNvSpPr/>
          <p:nvPr/>
        </p:nvSpPr>
        <p:spPr>
          <a:xfrm>
            <a:off x="10007600" y="2856102"/>
            <a:ext cx="1320800" cy="291193"/>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8E9BAA"/>
                </a:solidFill>
                <a:latin typeface="JetBrains Mono" pitchFamily="49" charset="0"/>
                <a:ea typeface="JetBrains Mono" pitchFamily="49" charset="-122"/>
                <a:cs typeface="JetBrains Mono" pitchFamily="49" charset="-120"/>
              </a:rPr>
              <a:t>T1505.003</a:t>
            </a:r>
            <a:endParaRPr lang="en-US" sz="1300" dirty="0"/>
          </a:p>
        </p:txBody>
      </p:sp>
      <p:sp>
        <p:nvSpPr>
          <p:cNvPr id="14" name="Shape 12"/>
          <p:cNvSpPr/>
          <p:nvPr/>
        </p:nvSpPr>
        <p:spPr>
          <a:xfrm>
            <a:off x="812800" y="4006170"/>
            <a:ext cx="10566400" cy="0"/>
          </a:xfrm>
          <a:prstGeom prst="line">
            <a:avLst/>
          </a:prstGeom>
          <a:noFill/>
          <a:ln w="6350">
            <a:solidFill>
              <a:srgbClr val="263142"/>
            </a:solidFill>
            <a:prstDash val="solid"/>
          </a:ln>
        </p:spPr>
      </p:sp>
      <p:sp>
        <p:nvSpPr>
          <p:cNvPr id="15" name="Text 13"/>
          <p:cNvSpPr/>
          <p:nvPr/>
        </p:nvSpPr>
        <p:spPr>
          <a:xfrm>
            <a:off x="863600" y="3473376"/>
            <a:ext cx="406400" cy="413884"/>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E0A45A"/>
                </a:solidFill>
                <a:latin typeface="JetBrains Mono" pitchFamily="49" charset="0"/>
                <a:ea typeface="JetBrains Mono" pitchFamily="49" charset="-122"/>
                <a:cs typeface="JetBrains Mono" pitchFamily="49" charset="-120"/>
              </a:rPr>
              <a:t>3</a:t>
            </a:r>
            <a:endParaRPr lang="en-US" sz="1900" dirty="0"/>
          </a:p>
        </p:txBody>
      </p:sp>
      <p:sp>
        <p:nvSpPr>
          <p:cNvPr id="16" name="Text 14"/>
          <p:cNvSpPr/>
          <p:nvPr/>
        </p:nvSpPr>
        <p:spPr>
          <a:xfrm>
            <a:off x="1422400" y="3504065"/>
            <a:ext cx="2616200" cy="3525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AEEF3"/>
                </a:solidFill>
                <a:latin typeface="IBM Plex Sans" pitchFamily="34" charset="0"/>
                <a:ea typeface="IBM Plex Sans" pitchFamily="34" charset="-122"/>
                <a:cs typeface="IBM Plex Sans" pitchFamily="34" charset="-120"/>
              </a:rPr>
              <a:t>IIS .NET implant</a:t>
            </a:r>
            <a:endParaRPr lang="en-US" sz="1600" dirty="0"/>
          </a:p>
        </p:txBody>
      </p:sp>
      <p:sp>
        <p:nvSpPr>
          <p:cNvPr id="17" name="Text 15"/>
          <p:cNvSpPr/>
          <p:nvPr/>
        </p:nvSpPr>
        <p:spPr>
          <a:xfrm>
            <a:off x="4165600" y="3534683"/>
            <a:ext cx="5860288" cy="29123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9B4C0"/>
                </a:solidFill>
                <a:latin typeface="IBM Plex Sans" pitchFamily="34" charset="0"/>
                <a:ea typeface="IBM Plex Sans" pitchFamily="34" charset="-122"/>
                <a:cs typeface="IBM Plex Sans" pitchFamily="34" charset="-120"/>
              </a:rPr>
              <a:t>In-memory loader; GhostContainer backdoor</a:t>
            </a:r>
            <a:endParaRPr lang="en-US" sz="1400" dirty="0"/>
          </a:p>
        </p:txBody>
      </p:sp>
      <p:sp>
        <p:nvSpPr>
          <p:cNvPr id="18" name="Text 16"/>
          <p:cNvSpPr/>
          <p:nvPr/>
        </p:nvSpPr>
        <p:spPr>
          <a:xfrm>
            <a:off x="10007600" y="3534721"/>
            <a:ext cx="1320800" cy="291193"/>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8E9BAA"/>
                </a:solidFill>
                <a:latin typeface="JetBrains Mono" pitchFamily="49" charset="0"/>
                <a:ea typeface="JetBrains Mono" pitchFamily="49" charset="-122"/>
                <a:cs typeface="JetBrains Mono" pitchFamily="49" charset="-120"/>
              </a:rPr>
              <a:t>T1620</a:t>
            </a:r>
            <a:endParaRPr lang="en-US" sz="1300" dirty="0"/>
          </a:p>
        </p:txBody>
      </p:sp>
      <p:sp>
        <p:nvSpPr>
          <p:cNvPr id="19" name="Shape 17"/>
          <p:cNvSpPr/>
          <p:nvPr/>
        </p:nvSpPr>
        <p:spPr>
          <a:xfrm>
            <a:off x="812800" y="4684789"/>
            <a:ext cx="10566400" cy="0"/>
          </a:xfrm>
          <a:prstGeom prst="line">
            <a:avLst/>
          </a:prstGeom>
          <a:noFill/>
          <a:ln w="6350">
            <a:solidFill>
              <a:srgbClr val="263142"/>
            </a:solidFill>
            <a:prstDash val="solid"/>
          </a:ln>
        </p:spPr>
      </p:sp>
      <p:sp>
        <p:nvSpPr>
          <p:cNvPr id="20" name="Text 18"/>
          <p:cNvSpPr/>
          <p:nvPr/>
        </p:nvSpPr>
        <p:spPr>
          <a:xfrm>
            <a:off x="863600" y="4151995"/>
            <a:ext cx="406400" cy="413884"/>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E0A45A"/>
                </a:solidFill>
                <a:latin typeface="JetBrains Mono" pitchFamily="49" charset="0"/>
                <a:ea typeface="JetBrains Mono" pitchFamily="49" charset="-122"/>
                <a:cs typeface="JetBrains Mono" pitchFamily="49" charset="-120"/>
              </a:rPr>
              <a:t>4</a:t>
            </a:r>
            <a:endParaRPr lang="en-US" sz="1900" dirty="0"/>
          </a:p>
        </p:txBody>
      </p:sp>
      <p:sp>
        <p:nvSpPr>
          <p:cNvPr id="21" name="Text 19"/>
          <p:cNvSpPr/>
          <p:nvPr/>
        </p:nvSpPr>
        <p:spPr>
          <a:xfrm>
            <a:off x="1422400" y="4182684"/>
            <a:ext cx="2616200" cy="3525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AEEF3"/>
                </a:solidFill>
                <a:latin typeface="IBM Plex Sans" pitchFamily="34" charset="0"/>
                <a:ea typeface="IBM Plex Sans" pitchFamily="34" charset="-122"/>
                <a:cs typeface="IBM Plex Sans" pitchFamily="34" charset="-120"/>
              </a:rPr>
              <a:t>Chisel tunnel</a:t>
            </a:r>
            <a:endParaRPr lang="en-US" sz="1600" dirty="0"/>
          </a:p>
        </p:txBody>
      </p:sp>
      <p:sp>
        <p:nvSpPr>
          <p:cNvPr id="22" name="Text 20"/>
          <p:cNvSpPr/>
          <p:nvPr/>
        </p:nvSpPr>
        <p:spPr>
          <a:xfrm>
            <a:off x="4165600" y="4213303"/>
            <a:ext cx="5860288" cy="29123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9B4C0"/>
                </a:solidFill>
                <a:latin typeface="IBM Plex Sans" pitchFamily="34" charset="0"/>
                <a:ea typeface="IBM Plex Sans" pitchFamily="34" charset="-122"/>
                <a:cs typeface="IBM Plex Sans" pitchFamily="34" charset="-120"/>
              </a:rPr>
              <a:t>SOCKS to C2:443; relaunched every 4 hours</a:t>
            </a:r>
            <a:endParaRPr lang="en-US" sz="1400" dirty="0"/>
          </a:p>
        </p:txBody>
      </p:sp>
      <p:sp>
        <p:nvSpPr>
          <p:cNvPr id="23" name="Text 21"/>
          <p:cNvSpPr/>
          <p:nvPr/>
        </p:nvSpPr>
        <p:spPr>
          <a:xfrm>
            <a:off x="10007600" y="4213340"/>
            <a:ext cx="1320800" cy="291193"/>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8E9BAA"/>
                </a:solidFill>
                <a:latin typeface="JetBrains Mono" pitchFamily="49" charset="0"/>
                <a:ea typeface="JetBrains Mono" pitchFamily="49" charset="-122"/>
                <a:cs typeface="JetBrains Mono" pitchFamily="49" charset="-120"/>
              </a:rPr>
              <a:t>T1572</a:t>
            </a:r>
            <a:endParaRPr lang="en-US" sz="1300" dirty="0"/>
          </a:p>
        </p:txBody>
      </p:sp>
      <p:sp>
        <p:nvSpPr>
          <p:cNvPr id="24" name="Shape 22"/>
          <p:cNvSpPr/>
          <p:nvPr/>
        </p:nvSpPr>
        <p:spPr>
          <a:xfrm>
            <a:off x="812800" y="5363408"/>
            <a:ext cx="10566400" cy="0"/>
          </a:xfrm>
          <a:prstGeom prst="line">
            <a:avLst/>
          </a:prstGeom>
          <a:noFill/>
          <a:ln w="6350">
            <a:solidFill>
              <a:srgbClr val="263142"/>
            </a:solidFill>
            <a:prstDash val="solid"/>
          </a:ln>
        </p:spPr>
      </p:sp>
      <p:sp>
        <p:nvSpPr>
          <p:cNvPr id="25" name="Text 23"/>
          <p:cNvSpPr/>
          <p:nvPr/>
        </p:nvSpPr>
        <p:spPr>
          <a:xfrm>
            <a:off x="863600" y="4830611"/>
            <a:ext cx="406400" cy="413884"/>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E0A45A"/>
                </a:solidFill>
                <a:latin typeface="JetBrains Mono" pitchFamily="49" charset="0"/>
                <a:ea typeface="JetBrains Mono" pitchFamily="49" charset="-122"/>
                <a:cs typeface="JetBrains Mono" pitchFamily="49" charset="-120"/>
              </a:rPr>
              <a:t>5</a:t>
            </a:r>
            <a:endParaRPr lang="en-US" sz="1900" dirty="0"/>
          </a:p>
        </p:txBody>
      </p:sp>
      <p:sp>
        <p:nvSpPr>
          <p:cNvPr id="26" name="Text 24"/>
          <p:cNvSpPr/>
          <p:nvPr/>
        </p:nvSpPr>
        <p:spPr>
          <a:xfrm>
            <a:off x="1422400" y="4861303"/>
            <a:ext cx="2616200" cy="3525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AEEF3"/>
                </a:solidFill>
                <a:latin typeface="IBM Plex Sans" pitchFamily="34" charset="0"/>
                <a:ea typeface="IBM Plex Sans" pitchFamily="34" charset="-122"/>
                <a:cs typeface="IBM Plex Sans" pitchFamily="34" charset="-120"/>
              </a:rPr>
              <a:t>AD escalation</a:t>
            </a:r>
            <a:endParaRPr lang="en-US" sz="1600" dirty="0"/>
          </a:p>
        </p:txBody>
      </p:sp>
      <p:sp>
        <p:nvSpPr>
          <p:cNvPr id="27" name="Text 25"/>
          <p:cNvSpPr/>
          <p:nvPr/>
        </p:nvSpPr>
        <p:spPr>
          <a:xfrm>
            <a:off x="4165600" y="4891918"/>
            <a:ext cx="5860288" cy="29123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9B4C0"/>
                </a:solidFill>
                <a:latin typeface="IBM Plex Sans" pitchFamily="34" charset="0"/>
                <a:ea typeface="IBM Plex Sans" pitchFamily="34" charset="-122"/>
                <a:cs typeface="IBM Plex Sans" pitchFamily="34" charset="-120"/>
              </a:rPr>
              <a:t>Priv-esc, lateral movement toward the DC</a:t>
            </a:r>
            <a:endParaRPr lang="en-US" sz="1400" dirty="0"/>
          </a:p>
        </p:txBody>
      </p:sp>
      <p:sp>
        <p:nvSpPr>
          <p:cNvPr id="28" name="Text 26"/>
          <p:cNvSpPr/>
          <p:nvPr/>
        </p:nvSpPr>
        <p:spPr>
          <a:xfrm>
            <a:off x="10007600" y="4891959"/>
            <a:ext cx="1320800" cy="291193"/>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8E9BAA"/>
                </a:solidFill>
                <a:latin typeface="JetBrains Mono" pitchFamily="49" charset="0"/>
                <a:ea typeface="JetBrains Mono" pitchFamily="49" charset="-122"/>
                <a:cs typeface="JetBrains Mono" pitchFamily="49" charset="-120"/>
              </a:rPr>
              <a:t>T1068</a:t>
            </a:r>
            <a:endParaRPr lang="en-US" sz="1300" dirty="0"/>
          </a:p>
        </p:txBody>
      </p:sp>
      <p:sp>
        <p:nvSpPr>
          <p:cNvPr id="29" name="Shape 27"/>
          <p:cNvSpPr/>
          <p:nvPr/>
        </p:nvSpPr>
        <p:spPr>
          <a:xfrm>
            <a:off x="812800" y="6042024"/>
            <a:ext cx="10566400" cy="0"/>
          </a:xfrm>
          <a:prstGeom prst="line">
            <a:avLst/>
          </a:prstGeom>
          <a:noFill/>
          <a:ln w="6350">
            <a:solidFill>
              <a:srgbClr val="263142"/>
            </a:solidFill>
            <a:prstDash val="solid"/>
          </a:ln>
        </p:spPr>
      </p:sp>
      <p:sp>
        <p:nvSpPr>
          <p:cNvPr id="30" name="Text 28"/>
          <p:cNvSpPr/>
          <p:nvPr/>
        </p:nvSpPr>
        <p:spPr>
          <a:xfrm>
            <a:off x="863600" y="5509230"/>
            <a:ext cx="406400" cy="413884"/>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E0A45A"/>
                </a:solidFill>
                <a:latin typeface="JetBrains Mono" pitchFamily="49" charset="0"/>
                <a:ea typeface="JetBrains Mono" pitchFamily="49" charset="-122"/>
                <a:cs typeface="JetBrains Mono" pitchFamily="49" charset="-120"/>
              </a:rPr>
              <a:t>6</a:t>
            </a:r>
            <a:endParaRPr lang="en-US" sz="1900" dirty="0"/>
          </a:p>
        </p:txBody>
      </p:sp>
      <p:sp>
        <p:nvSpPr>
          <p:cNvPr id="31" name="Text 29"/>
          <p:cNvSpPr/>
          <p:nvPr/>
        </p:nvSpPr>
        <p:spPr>
          <a:xfrm>
            <a:off x="1422400" y="5539922"/>
            <a:ext cx="2616200" cy="3525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AEEF3"/>
                </a:solidFill>
                <a:latin typeface="IBM Plex Sans" pitchFamily="34" charset="0"/>
                <a:ea typeface="IBM Plex Sans" pitchFamily="34" charset="-122"/>
                <a:cs typeface="IBM Plex Sans" pitchFamily="34" charset="-120"/>
              </a:rPr>
              <a:t>Collection &amp; exfil</a:t>
            </a:r>
            <a:endParaRPr lang="en-US" sz="1600" dirty="0"/>
          </a:p>
        </p:txBody>
      </p:sp>
      <p:sp>
        <p:nvSpPr>
          <p:cNvPr id="32" name="Text 30"/>
          <p:cNvSpPr/>
          <p:nvPr/>
        </p:nvSpPr>
        <p:spPr>
          <a:xfrm>
            <a:off x="4165600" y="5570538"/>
            <a:ext cx="5860288" cy="29123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9B4C0"/>
                </a:solidFill>
                <a:latin typeface="IBM Plex Sans" pitchFamily="34" charset="0"/>
                <a:ea typeface="IBM Plex Sans" pitchFamily="34" charset="-122"/>
                <a:cs typeface="IBM Plex Sans" pitchFamily="34" charset="-120"/>
              </a:rPr>
              <a:t>Mailbox data out over the C2 channel</a:t>
            </a:r>
            <a:endParaRPr lang="en-US" sz="1400" dirty="0"/>
          </a:p>
        </p:txBody>
      </p:sp>
      <p:sp>
        <p:nvSpPr>
          <p:cNvPr id="33" name="Text 31"/>
          <p:cNvSpPr/>
          <p:nvPr/>
        </p:nvSpPr>
        <p:spPr>
          <a:xfrm>
            <a:off x="10007600" y="5570575"/>
            <a:ext cx="1320800" cy="291193"/>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8E9BAA"/>
                </a:solidFill>
                <a:latin typeface="JetBrains Mono" pitchFamily="49" charset="0"/>
                <a:ea typeface="JetBrains Mono" pitchFamily="49" charset="-122"/>
                <a:cs typeface="JetBrains Mono" pitchFamily="49" charset="-120"/>
              </a:rPr>
              <a:t>T1114</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50938"/>
          </a:xfrm>
          <a:prstGeom prst="rect">
            <a:avLst/>
          </a:prstGeom>
          <a:noFill/>
          <a:ln/>
        </p:spPr>
        <p:txBody>
          <a:bodyPr wrap="square" lIns="0" tIns="0" rIns="0" bIns="0" rtlCol="0" anchor="t">
            <a:normAutofit/>
          </a:bodyPr>
          <a:lstStyle/>
          <a:p>
            <a:pPr algn="l" indent="0" marL="0">
              <a:lnSpc>
                <a:spcPts val="1581"/>
              </a:lnSpc>
              <a:buNone/>
            </a:pPr>
            <a:r>
              <a:rPr lang="en-US" sz="1129" spc="150" kern="0" dirty="0">
                <a:solidFill>
                  <a:srgbClr val="E0A45A"/>
                </a:solidFill>
                <a:latin typeface="JetBrains Mono" pitchFamily="49" charset="0"/>
                <a:ea typeface="JetBrains Mono" pitchFamily="49" charset="-122"/>
                <a:cs typeface="JetBrains Mono" pitchFamily="49" charset="-120"/>
              </a:rPr>
              <a:t>ARSENAL</a:t>
            </a:r>
            <a:endParaRPr lang="en-US" sz="1129" dirty="0"/>
          </a:p>
        </p:txBody>
      </p:sp>
      <p:sp>
        <p:nvSpPr>
          <p:cNvPr id="3" name="Text 1"/>
          <p:cNvSpPr/>
          <p:nvPr>
            <p:ph type="title"/>
          </p:nvPr>
        </p:nvSpPr>
        <p:spPr>
          <a:xfrm>
            <a:off x="812800" y="1127240"/>
            <a:ext cx="10883392" cy="493864"/>
          </a:xfrm>
          <a:prstGeom prst="rect">
            <a:avLst/>
          </a:prstGeom>
          <a:noFill/>
          <a:ln/>
        </p:spPr>
        <p:txBody>
          <a:bodyPr wrap="square" lIns="0" tIns="0" rIns="0" bIns="0" rtlCol="0" anchor="t">
            <a:normAutofit/>
          </a:bodyPr>
          <a:lstStyle/>
          <a:p>
            <a:pPr algn="l" indent="0" marL="0">
              <a:lnSpc>
                <a:spcPts val="3237"/>
              </a:lnSpc>
              <a:buNone/>
            </a:pPr>
            <a:r>
              <a:rPr lang="en-US" sz="3083" b="1" i="0" dirty="0">
                <a:solidFill>
                  <a:srgbClr val="EAEEF3"/>
                </a:solidFill>
                <a:latin typeface="IBM Plex Sans" pitchFamily="34" charset="0"/>
                <a:ea typeface="IBM Plex Sans" pitchFamily="34" charset="-122"/>
                <a:cs typeface="IBM Plex Sans" pitchFamily="34" charset="-120"/>
              </a:rPr>
              <a:t>Custom and source-modified</a:t>
            </a:r>
            <a:endParaRPr lang="en-US" sz="3083"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95" y="1887199"/>
          <a:ext cx="10554305" cy="3419589"/>
        </p:xfrm>
        <a:graphic>
          <a:graphicData uri="http://schemas.openxmlformats.org/drawingml/2006/table">
            <a:tbl>
              <a:tblPr/>
              <a:tblGrid>
                <a:gridCol w="3166291"/>
                <a:gridCol w="3166291"/>
                <a:gridCol w="4221722"/>
              </a:tblGrid>
              <a:tr h="522212">
                <a:tc>
                  <a:txBody>
                    <a:bodyPr/>
                    <a:lstStyle/>
                    <a:p>
                      <a:pPr indent="0" marL="0">
                        <a:lnSpc>
                          <a:spcPts val="1960"/>
                        </a:lnSpc>
                        <a:buNone/>
                      </a:pPr>
                      <a:r>
                        <a:rPr lang="en-US" sz="1400" b="1" dirty="0">
                          <a:solidFill>
                            <a:srgbClr val="E0A45A"/>
                          </a:solidFill>
                          <a:latin typeface="IBM Plex Sans" pitchFamily="34" charset="0"/>
                          <a:ea typeface="IBM Plex Sans" pitchFamily="34" charset="-122"/>
                          <a:cs typeface="IBM Plex Sans" pitchFamily="34" charset="-120"/>
                        </a:rPr>
                        <a:t>Component</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C535B"/>
                      </a:solidFill>
                      <a:prstDash val="solid"/>
                      <a:round/>
                      <a:headEnd type="none" w="med" len="med"/>
                      <a:tailEnd type="none" w="med" len="med"/>
                    </a:lnB>
                    <a:solidFill>
                      <a:srgbClr val="1B2430"/>
                    </a:solidFill>
                  </a:tcPr>
                </a:tc>
                <a:tc>
                  <a:txBody>
                    <a:bodyPr/>
                    <a:lstStyle/>
                    <a:p>
                      <a:pPr indent="0" marL="0">
                        <a:lnSpc>
                          <a:spcPts val="1960"/>
                        </a:lnSpc>
                        <a:buNone/>
                      </a:pPr>
                      <a:r>
                        <a:rPr lang="en-US" sz="1400" b="1" dirty="0">
                          <a:solidFill>
                            <a:srgbClr val="E0A45A"/>
                          </a:solidFill>
                          <a:latin typeface="IBM Plex Sans" pitchFamily="34" charset="0"/>
                          <a:ea typeface="IBM Plex Sans" pitchFamily="34" charset="-122"/>
                          <a:cs typeface="IBM Plex Sans" pitchFamily="34" charset="-120"/>
                        </a:rPr>
                        <a:t>Type</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C535B"/>
                      </a:solidFill>
                      <a:prstDash val="solid"/>
                      <a:round/>
                      <a:headEnd type="none" w="med" len="med"/>
                      <a:tailEnd type="none" w="med" len="med"/>
                    </a:lnB>
                    <a:solidFill>
                      <a:srgbClr val="1B2430"/>
                    </a:solidFill>
                  </a:tcPr>
                </a:tc>
                <a:tc>
                  <a:txBody>
                    <a:bodyPr/>
                    <a:lstStyle/>
                    <a:p>
                      <a:pPr indent="0" marL="0">
                        <a:lnSpc>
                          <a:spcPts val="1960"/>
                        </a:lnSpc>
                        <a:buNone/>
                      </a:pPr>
                      <a:r>
                        <a:rPr lang="en-US" sz="1400" b="1" dirty="0">
                          <a:solidFill>
                            <a:srgbClr val="E0A45A"/>
                          </a:solidFill>
                          <a:latin typeface="IBM Plex Sans" pitchFamily="34" charset="0"/>
                          <a:ea typeface="IBM Plex Sans" pitchFamily="34" charset="-122"/>
                          <a:cs typeface="IBM Plex Sans" pitchFamily="34" charset="-120"/>
                        </a:rPr>
                        <a:t>Role in the chain</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C535B"/>
                      </a:solidFill>
                      <a:prstDash val="solid"/>
                      <a:round/>
                      <a:headEnd type="none" w="med" len="med"/>
                      <a:tailEnd type="none" w="med" len="med"/>
                    </a:lnB>
                    <a:solidFill>
                      <a:srgbClr val="1B2430"/>
                    </a:solidFill>
                  </a:tcPr>
                </a:tc>
              </a:tr>
              <a:tr h="522212">
                <a:tc>
                  <a:txBody>
                    <a:bodyPr/>
                    <a:lstStyle/>
                    <a:p>
                      <a:pP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Exchange zero-day</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960"/>
                        </a:lnSpc>
                        <a:buNone/>
                      </a:pPr>
                      <a:r>
                        <a:rPr lang="en-US" sz="1400" dirty="0">
                          <a:solidFill>
                            <a:srgbClr val="A9B4C0"/>
                          </a:solidFill>
                          <a:latin typeface="IBM Plex Sans" pitchFamily="34" charset="0"/>
                          <a:ea typeface="IBM Plex Sans" pitchFamily="34" charset="-122"/>
                          <a:cs typeface="IBM Plex Sans" pitchFamily="34" charset="-120"/>
                        </a:rPr>
                        <a:t>Initial-access exploit</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960"/>
                        </a:lnSpc>
                        <a:buNone/>
                      </a:pPr>
                      <a:r>
                        <a:rPr lang="en-US" sz="1400" dirty="0">
                          <a:solidFill>
                            <a:srgbClr val="A9B4C0"/>
                          </a:solidFill>
                          <a:latin typeface="IBM Plex Sans" pitchFamily="34" charset="0"/>
                          <a:ea typeface="IBM Plex Sans" pitchFamily="34" charset="-122"/>
                          <a:cs typeface="IBM Plex Sans" pitchFamily="34" charset="-120"/>
                        </a:rPr>
                        <a:t>Yields the machineKey for ViewState RCE</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r h="522212">
                <a:tc>
                  <a:txBody>
                    <a:bodyPr/>
                    <a:lstStyle/>
                    <a:p>
                      <a:pP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.NET IIS loader</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960"/>
                        </a:lnSpc>
                        <a:buNone/>
                      </a:pPr>
                      <a:r>
                        <a:rPr lang="en-US" sz="1400" dirty="0">
                          <a:solidFill>
                            <a:srgbClr val="A9B4C0"/>
                          </a:solidFill>
                          <a:latin typeface="IBM Plex Sans" pitchFamily="34" charset="0"/>
                          <a:ea typeface="IBM Plex Sans" pitchFamily="34" charset="-122"/>
                          <a:cs typeface="IBM Plex Sans" pitchFamily="34" charset="-120"/>
                        </a:rPr>
                        <a:t>Custom web implant</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960"/>
                        </a:lnSpc>
                        <a:buNone/>
                      </a:pPr>
                      <a:r>
                        <a:rPr lang="en-US" sz="1400" dirty="0">
                          <a:solidFill>
                            <a:srgbClr val="A9B4C0"/>
                          </a:solidFill>
                          <a:latin typeface="IBM Plex Sans" pitchFamily="34" charset="0"/>
                          <a:ea typeface="IBM Plex Sans" pitchFamily="34" charset="-122"/>
                          <a:cs typeface="IBM Plex Sans" pitchFamily="34" charset="-120"/>
                        </a:rPr>
                        <a:t>Runs in the IIS worker; reads mailbox data</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r h="808491">
                <a:tc>
                  <a:txBody>
                    <a:bodyPr/>
                    <a:lstStyle/>
                    <a:p>
                      <a:pP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GhostContainer</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960"/>
                        </a:lnSpc>
                        <a:buNone/>
                      </a:pPr>
                      <a:r>
                        <a:rPr lang="en-US" sz="1400" dirty="0">
                          <a:solidFill>
                            <a:srgbClr val="A9B4C0"/>
                          </a:solidFill>
                          <a:latin typeface="IBM Plex Sans" pitchFamily="34" charset="0"/>
                          <a:ea typeface="IBM Plex Sans" pitchFamily="34" charset="-122"/>
                          <a:cs typeface="IBM Plex Sans" pitchFamily="34" charset="-120"/>
                        </a:rPr>
                        <a:t>In-memory backdoor</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960"/>
                        </a:lnSpc>
                        <a:buNone/>
                      </a:pPr>
                      <a:r>
                        <a:rPr lang="en-US" sz="1400" dirty="0">
                          <a:solidFill>
                            <a:srgbClr val="A9B4C0"/>
                          </a:solidFill>
                          <a:latin typeface="IBM Plex Sans" pitchFamily="34" charset="0"/>
                          <a:ea typeface="IBM Plex Sans" pitchFamily="34" charset="-122"/>
                          <a:cs typeface="IBM Plex Sans" pitchFamily="34" charset="-120"/>
                        </a:rPr>
                        <a:t>Remote control; evades logging; redirects traffic</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r h="522212">
                <a:tc>
                  <a:txBody>
                    <a:bodyPr/>
                    <a:lstStyle/>
                    <a:p>
                      <a:pP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Modified Chisel</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960"/>
                        </a:lnSpc>
                        <a:buNone/>
                      </a:pPr>
                      <a:r>
                        <a:rPr lang="en-US" sz="1400" dirty="0">
                          <a:solidFill>
                            <a:srgbClr val="A9B4C0"/>
                          </a:solidFill>
                          <a:latin typeface="IBM Plex Sans" pitchFamily="34" charset="0"/>
                          <a:ea typeface="IBM Plex Sans" pitchFamily="34" charset="-122"/>
                          <a:cs typeface="IBM Plex Sans" pitchFamily="34" charset="-120"/>
                        </a:rPr>
                        <a:t>Source-modified Go tool</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960"/>
                        </a:lnSpc>
                        <a:buNone/>
                      </a:pPr>
                      <a:r>
                        <a:rPr lang="en-US" sz="1400" dirty="0">
                          <a:solidFill>
                            <a:srgbClr val="A9B4C0"/>
                          </a:solidFill>
                          <a:latin typeface="IBM Plex Sans" pitchFamily="34" charset="0"/>
                          <a:ea typeface="IBM Plex Sans" pitchFamily="34" charset="-122"/>
                          <a:cs typeface="IBM Plex Sans" pitchFamily="34" charset="-120"/>
                        </a:rPr>
                        <a:t>Hard-coded creds; SOCKS to C2:443</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r h="522250">
                <a:tc>
                  <a:txBody>
                    <a:bodyPr/>
                    <a:lstStyle/>
                    <a:p>
                      <a:pP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GitHub archives</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960"/>
                        </a:lnSpc>
                        <a:buNone/>
                      </a:pPr>
                      <a:r>
                        <a:rPr lang="en-US" sz="1400" dirty="0">
                          <a:solidFill>
                            <a:srgbClr val="A9B4C0"/>
                          </a:solidFill>
                          <a:latin typeface="IBM Plex Sans" pitchFamily="34" charset="0"/>
                          <a:ea typeface="IBM Plex Sans" pitchFamily="34" charset="-122"/>
                          <a:cs typeface="IBM Plex Sans" pitchFamily="34" charset="-120"/>
                        </a:rPr>
                        <a:t>Staging / disguise</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960"/>
                        </a:lnSpc>
                        <a:buNone/>
                      </a:pPr>
                      <a:r>
                        <a:rPr lang="en-US" sz="1400" dirty="0">
                          <a:solidFill>
                            <a:srgbClr val="A9B4C0"/>
                          </a:solidFill>
                          <a:latin typeface="IBM Plex Sans" pitchFamily="34" charset="0"/>
                          <a:ea typeface="IBM Plex Sans" pitchFamily="34" charset="-122"/>
                          <a:cs typeface="IBM Plex Sans" pitchFamily="34" charset="-120"/>
                        </a:rPr>
                        <a:t>Tools named like AdobeSync, TrueConf</a:t>
                      </a:r>
                      <a:endParaRPr lang="en-US" sz="1400"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bl>
          </a:graphicData>
        </a:graphic>
      </p:graphicFrame>
      <p:sp>
        <p:nvSpPr>
          <p:cNvPr id="5" name="Text 2"/>
          <p:cNvSpPr/>
          <p:nvPr/>
        </p:nvSpPr>
        <p:spPr>
          <a:xfrm>
            <a:off x="812800" y="5586186"/>
            <a:ext cx="10883392" cy="484414"/>
          </a:xfrm>
          <a:prstGeom prst="rect">
            <a:avLst/>
          </a:prstGeom>
          <a:noFill/>
          <a:ln/>
        </p:spPr>
        <p:txBody>
          <a:bodyPr wrap="square" lIns="0" tIns="0" rIns="0" bIns="0" rtlCol="0" anchor="t">
            <a:normAutofit/>
          </a:bodyPr>
          <a:lstStyle/>
          <a:p>
            <a:pPr algn="l" indent="0" marL="0">
              <a:lnSpc>
                <a:spcPts val="1575"/>
              </a:lnSpc>
              <a:buNone/>
            </a:pPr>
            <a:r>
              <a:rPr lang="en-US" sz="1125" dirty="0">
                <a:solidFill>
                  <a:srgbClr val="8E9BAA"/>
                </a:solidFill>
                <a:latin typeface="IBM Plex Sans" pitchFamily="34" charset="0"/>
                <a:ea typeface="IBM Plex Sans" pitchFamily="34" charset="-122"/>
                <a:cs typeface="IBM Plex Sans" pitchFamily="34" charset="-120"/>
              </a:rPr>
              <a:t>The Exchange machineKey is the linchpin: once stolen, it enables indefinite ViewState RCE until rotated. The Chisel build trades flexibility for a small, resilient footprint.</a:t>
            </a:r>
            <a:endParaRPr lang="en-US" sz="11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91193"/>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E0A45A"/>
                </a:solidFill>
                <a:latin typeface="JetBrains Mono" pitchFamily="49" charset="0"/>
                <a:ea typeface="JetBrains Mono" pitchFamily="49" charset="-122"/>
                <a:cs typeface="JetBrains Mono" pitchFamily="49" charset="-120"/>
              </a:rPr>
              <a:t>EVOLUTION</a:t>
            </a:r>
            <a:endParaRPr lang="en-US" sz="1300" dirty="0"/>
          </a:p>
        </p:txBody>
      </p:sp>
      <p:sp>
        <p:nvSpPr>
          <p:cNvPr id="3" name="Text 1"/>
          <p:cNvSpPr/>
          <p:nvPr>
            <p:ph type="title"/>
          </p:nvPr>
        </p:nvSpPr>
        <p:spPr>
          <a:xfrm>
            <a:off x="812800" y="1167495"/>
            <a:ext cx="10883392" cy="577434"/>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EAEEF3"/>
                </a:solidFill>
                <a:latin typeface="IBM Plex Sans" pitchFamily="34" charset="0"/>
                <a:ea typeface="IBM Plex Sans" pitchFamily="34" charset="-122"/>
                <a:cs typeface="IBM Plex Sans" pitchFamily="34" charset="-120"/>
              </a:rPr>
              <a:t>From China to Russia</a:t>
            </a:r>
            <a:endParaRPr lang="en-US" sz="3600" dirty="0"/>
          </a:p>
        </p:txBody>
      </p:sp>
      <p:sp>
        <p:nvSpPr>
          <p:cNvPr id="4" name="Shape 2"/>
          <p:cNvSpPr/>
          <p:nvPr/>
        </p:nvSpPr>
        <p:spPr>
          <a:xfrm>
            <a:off x="812800" y="2688282"/>
            <a:ext cx="10566400" cy="0"/>
          </a:xfrm>
          <a:prstGeom prst="line">
            <a:avLst/>
          </a:prstGeom>
          <a:noFill/>
          <a:ln w="6350">
            <a:solidFill>
              <a:srgbClr val="263142"/>
            </a:solidFill>
            <a:prstDash val="solid"/>
          </a:ln>
        </p:spPr>
      </p:sp>
      <p:sp>
        <p:nvSpPr>
          <p:cNvPr id="5" name="Text 3"/>
          <p:cNvSpPr/>
          <p:nvPr/>
        </p:nvSpPr>
        <p:spPr>
          <a:xfrm>
            <a:off x="863600" y="2214829"/>
            <a:ext cx="1962150" cy="3320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0A45A"/>
                </a:solidFill>
                <a:latin typeface="JetBrains Mono" pitchFamily="49" charset="0"/>
                <a:ea typeface="JetBrains Mono" pitchFamily="49" charset="-122"/>
                <a:cs typeface="JetBrains Mono" pitchFamily="49" charset="-120"/>
              </a:rPr>
              <a:t>Since 2023</a:t>
            </a:r>
            <a:endParaRPr lang="en-US" sz="1500" dirty="0"/>
          </a:p>
        </p:txBody>
      </p:sp>
      <p:sp>
        <p:nvSpPr>
          <p:cNvPr id="6" name="Text 4"/>
          <p:cNvSpPr/>
          <p:nvPr/>
        </p:nvSpPr>
        <p:spPr>
          <a:xfrm>
            <a:off x="3022600" y="2219666"/>
            <a:ext cx="8554974"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7D0DB"/>
                </a:solidFill>
                <a:latin typeface="IBM Plex Sans" pitchFamily="34" charset="0"/>
                <a:ea typeface="IBM Plex Sans" pitchFamily="34" charset="-122"/>
                <a:cs typeface="IBM Plex Sans" pitchFamily="34" charset="-120"/>
              </a:rPr>
              <a:t>Earliest assessed activity against Chinese targets</a:t>
            </a:r>
            <a:endParaRPr lang="en-US" sz="1500" dirty="0"/>
          </a:p>
        </p:txBody>
      </p:sp>
      <p:sp>
        <p:nvSpPr>
          <p:cNvPr id="7" name="Shape 5"/>
          <p:cNvSpPr/>
          <p:nvPr/>
        </p:nvSpPr>
        <p:spPr>
          <a:xfrm>
            <a:off x="812800" y="3330010"/>
            <a:ext cx="10566400" cy="0"/>
          </a:xfrm>
          <a:prstGeom prst="line">
            <a:avLst/>
          </a:prstGeom>
          <a:noFill/>
          <a:ln w="6350">
            <a:solidFill>
              <a:srgbClr val="263142"/>
            </a:solidFill>
            <a:prstDash val="solid"/>
          </a:ln>
        </p:spPr>
      </p:sp>
      <p:sp>
        <p:nvSpPr>
          <p:cNvPr id="8" name="Text 6"/>
          <p:cNvSpPr/>
          <p:nvPr/>
        </p:nvSpPr>
        <p:spPr>
          <a:xfrm>
            <a:off x="863600" y="2856557"/>
            <a:ext cx="1962150" cy="3320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0A45A"/>
                </a:solidFill>
                <a:latin typeface="JetBrains Mono" pitchFamily="49" charset="0"/>
                <a:ea typeface="JetBrains Mono" pitchFamily="49" charset="-122"/>
                <a:cs typeface="JetBrains Mono" pitchFamily="49" charset="-120"/>
              </a:rPr>
              <a:t>Jul 2025</a:t>
            </a:r>
            <a:endParaRPr lang="en-US" sz="1500" dirty="0"/>
          </a:p>
        </p:txBody>
      </p:sp>
      <p:sp>
        <p:nvSpPr>
          <p:cNvPr id="9" name="Text 7"/>
          <p:cNvSpPr/>
          <p:nvPr/>
        </p:nvSpPr>
        <p:spPr>
          <a:xfrm>
            <a:off x="3022600" y="2861394"/>
            <a:ext cx="8554974"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7D0DB"/>
                </a:solidFill>
                <a:latin typeface="IBM Plex Sans" pitchFamily="34" charset="0"/>
                <a:ea typeface="IBM Plex Sans" pitchFamily="34" charset="-122"/>
                <a:cs typeface="IBM Plex Sans" pitchFamily="34" charset="-120"/>
              </a:rPr>
              <a:t>QiAnXin RedDrip discloses at CYDES 2025: Exchange zero-day, IIS loader, Chisel</a:t>
            </a:r>
            <a:endParaRPr lang="en-US" sz="1500" dirty="0"/>
          </a:p>
        </p:txBody>
      </p:sp>
      <p:sp>
        <p:nvSpPr>
          <p:cNvPr id="10" name="Shape 8"/>
          <p:cNvSpPr/>
          <p:nvPr/>
        </p:nvSpPr>
        <p:spPr>
          <a:xfrm>
            <a:off x="812800" y="3971736"/>
            <a:ext cx="10566400" cy="0"/>
          </a:xfrm>
          <a:prstGeom prst="line">
            <a:avLst/>
          </a:prstGeom>
          <a:noFill/>
          <a:ln w="6350">
            <a:solidFill>
              <a:srgbClr val="263142"/>
            </a:solidFill>
            <a:prstDash val="solid"/>
          </a:ln>
        </p:spPr>
      </p:sp>
      <p:sp>
        <p:nvSpPr>
          <p:cNvPr id="11" name="Text 9"/>
          <p:cNvSpPr/>
          <p:nvPr/>
        </p:nvSpPr>
        <p:spPr>
          <a:xfrm>
            <a:off x="863600" y="3498283"/>
            <a:ext cx="1962150" cy="3320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0A45A"/>
                </a:solidFill>
                <a:latin typeface="JetBrains Mono" pitchFamily="49" charset="0"/>
                <a:ea typeface="JetBrains Mono" pitchFamily="49" charset="-122"/>
                <a:cs typeface="JetBrains Mono" pitchFamily="49" charset="-120"/>
              </a:rPr>
              <a:t>Jul 2025</a:t>
            </a:r>
            <a:endParaRPr lang="en-US" sz="1500" dirty="0"/>
          </a:p>
        </p:txBody>
      </p:sp>
      <p:sp>
        <p:nvSpPr>
          <p:cNvPr id="12" name="Text 10"/>
          <p:cNvSpPr/>
          <p:nvPr/>
        </p:nvSpPr>
        <p:spPr>
          <a:xfrm>
            <a:off x="3022600" y="3503123"/>
            <a:ext cx="8554974"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7D0DB"/>
                </a:solidFill>
                <a:latin typeface="IBM Plex Sans" pitchFamily="34" charset="0"/>
                <a:ea typeface="IBM Plex Sans" pitchFamily="34" charset="-122"/>
                <a:cs typeface="IBM Plex Sans" pitchFamily="34" charset="-120"/>
              </a:rPr>
              <a:t>Microsoft: “no new actionable vulnerabilities identified to date”</a:t>
            </a:r>
            <a:endParaRPr lang="en-US" sz="1500" dirty="0"/>
          </a:p>
        </p:txBody>
      </p:sp>
      <p:sp>
        <p:nvSpPr>
          <p:cNvPr id="13" name="Shape 11"/>
          <p:cNvSpPr/>
          <p:nvPr/>
        </p:nvSpPr>
        <p:spPr>
          <a:xfrm>
            <a:off x="812800" y="4613464"/>
            <a:ext cx="10566400" cy="0"/>
          </a:xfrm>
          <a:prstGeom prst="line">
            <a:avLst/>
          </a:prstGeom>
          <a:noFill/>
          <a:ln w="6350">
            <a:solidFill>
              <a:srgbClr val="263142"/>
            </a:solidFill>
            <a:prstDash val="solid"/>
          </a:ln>
        </p:spPr>
      </p:sp>
      <p:sp>
        <p:nvSpPr>
          <p:cNvPr id="14" name="Text 12"/>
          <p:cNvSpPr/>
          <p:nvPr/>
        </p:nvSpPr>
        <p:spPr>
          <a:xfrm>
            <a:off x="863600" y="4140011"/>
            <a:ext cx="1962150" cy="3320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0A45A"/>
                </a:solidFill>
                <a:latin typeface="JetBrains Mono" pitchFamily="49" charset="0"/>
                <a:ea typeface="JetBrains Mono" pitchFamily="49" charset="-122"/>
                <a:cs typeface="JetBrains Mono" pitchFamily="49" charset="-120"/>
              </a:rPr>
              <a:t>Sep 2026</a:t>
            </a:r>
            <a:endParaRPr lang="en-US" sz="1500" dirty="0"/>
          </a:p>
        </p:txBody>
      </p:sp>
      <p:sp>
        <p:nvSpPr>
          <p:cNvPr id="15" name="Text 13"/>
          <p:cNvSpPr/>
          <p:nvPr/>
        </p:nvSpPr>
        <p:spPr>
          <a:xfrm>
            <a:off x="3022600" y="4144851"/>
            <a:ext cx="8554974"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7D0DB"/>
                </a:solidFill>
                <a:latin typeface="IBM Plex Sans" pitchFamily="34" charset="0"/>
                <a:ea typeface="IBM Plex Sans" pitchFamily="34" charset="-122"/>
                <a:cs typeface="IBM Plex Sans" pitchFamily="34" charset="-120"/>
              </a:rPr>
              <a:t>Kaspersky: expansion into Russia; GhostContainer backdoor; AD abuse</a:t>
            </a:r>
            <a:endParaRPr lang="en-US" sz="1500" dirty="0"/>
          </a:p>
        </p:txBody>
      </p:sp>
      <p:sp>
        <p:nvSpPr>
          <p:cNvPr id="16" name="Text 14"/>
          <p:cNvSpPr/>
          <p:nvPr/>
        </p:nvSpPr>
        <p:spPr>
          <a:xfrm>
            <a:off x="812800" y="4946839"/>
            <a:ext cx="10883392" cy="55698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E9BAA"/>
                </a:solidFill>
                <a:latin typeface="IBM Plex Sans" pitchFamily="34" charset="0"/>
                <a:ea typeface="IBM Plex Sans" pitchFamily="34" charset="-122"/>
                <a:cs typeface="IBM Plex Sans" pitchFamily="34" charset="-120"/>
              </a:rPr>
              <a:t>The operating model held across both disclosures — compromise Exchange/IIS, operate in memory, tunnel inward, escalate through Active Directory.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1246"/>
          </a:xfrm>
          <a:prstGeom prst="rect">
            <a:avLst/>
          </a:prstGeom>
          <a:noFill/>
          <a:ln/>
        </p:spPr>
        <p:txBody>
          <a:bodyPr wrap="square" lIns="0" tIns="0" rIns="0" bIns="0" rtlCol="0" anchor="t">
            <a:normAutofit/>
          </a:bodyPr>
          <a:lstStyle/>
          <a:p>
            <a:pPr algn="l" indent="0" marL="0">
              <a:lnSpc>
                <a:spcPts val="1411"/>
              </a:lnSpc>
              <a:buNone/>
            </a:pPr>
            <a:r>
              <a:rPr lang="en-US" sz="1008" spc="150" kern="0" dirty="0">
                <a:solidFill>
                  <a:srgbClr val="E0A45A"/>
                </a:solidFill>
                <a:latin typeface="JetBrains Mono" pitchFamily="49" charset="0"/>
                <a:ea typeface="JetBrains Mono" pitchFamily="49" charset="-122"/>
                <a:cs typeface="JetBrains Mono" pitchFamily="49" charset="-120"/>
              </a:rPr>
              <a:t>MITRE ATT&amp;CK</a:t>
            </a:r>
            <a:endParaRPr lang="en-US" sz="1008" dirty="0"/>
          </a:p>
        </p:txBody>
      </p:sp>
      <p:sp>
        <p:nvSpPr>
          <p:cNvPr id="3" name="Text 1"/>
          <p:cNvSpPr/>
          <p:nvPr>
            <p:ph type="title"/>
          </p:nvPr>
        </p:nvSpPr>
        <p:spPr>
          <a:xfrm>
            <a:off x="812800" y="1107548"/>
            <a:ext cx="10883392" cy="452929"/>
          </a:xfrm>
          <a:prstGeom prst="rect">
            <a:avLst/>
          </a:prstGeom>
          <a:noFill/>
          <a:ln/>
        </p:spPr>
        <p:txBody>
          <a:bodyPr wrap="square" lIns="0" tIns="0" rIns="0" bIns="0" rtlCol="0" anchor="t">
            <a:normAutofit/>
          </a:bodyPr>
          <a:lstStyle/>
          <a:p>
            <a:pPr algn="l" indent="0" marL="0">
              <a:lnSpc>
                <a:spcPts val="2930"/>
              </a:lnSpc>
              <a:buNone/>
            </a:pPr>
            <a:r>
              <a:rPr lang="en-US" sz="2790" b="1" i="0" dirty="0">
                <a:solidFill>
                  <a:srgbClr val="EAEEF3"/>
                </a:solidFill>
                <a:latin typeface="IBM Plex Sans" pitchFamily="34" charset="0"/>
                <a:ea typeface="IBM Plex Sans" pitchFamily="34" charset="-122"/>
                <a:cs typeface="IBM Plex Sans" pitchFamily="34" charset="-120"/>
              </a:rPr>
              <a:t>Technique highlights</a:t>
            </a:r>
            <a:endParaRPr lang="en-US" sz="2790" dirty="0"/>
          </a:p>
        </p:txBody>
      </p:sp>
      <p:sp>
        <p:nvSpPr>
          <p:cNvPr id="4" name="Shape 2"/>
          <p:cNvSpPr/>
          <p:nvPr/>
        </p:nvSpPr>
        <p:spPr>
          <a:xfrm>
            <a:off x="815975" y="1817650"/>
            <a:ext cx="5207000" cy="728020"/>
          </a:xfrm>
          <a:prstGeom prst="roundRect">
            <a:avLst>
              <a:gd name="adj" fmla="val 11775"/>
            </a:avLst>
          </a:prstGeom>
          <a:solidFill>
            <a:srgbClr val="161D27"/>
          </a:solidFill>
          <a:ln w="6350">
            <a:solidFill>
              <a:srgbClr val="263142"/>
            </a:solidFill>
            <a:prstDash val="solid"/>
          </a:ln>
        </p:spPr>
      </p:sp>
      <p:sp>
        <p:nvSpPr>
          <p:cNvPr id="5" name="Text 3"/>
          <p:cNvSpPr/>
          <p:nvPr/>
        </p:nvSpPr>
        <p:spPr>
          <a:xfrm>
            <a:off x="1020838" y="1984412"/>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T1190  ·  Initial Access</a:t>
            </a:r>
            <a:endParaRPr lang="en-US" sz="821" dirty="0"/>
          </a:p>
        </p:txBody>
      </p:sp>
      <p:sp>
        <p:nvSpPr>
          <p:cNvPr id="6" name="Text 4"/>
          <p:cNvSpPr/>
          <p:nvPr/>
        </p:nvSpPr>
        <p:spPr>
          <a:xfrm>
            <a:off x="1020838" y="2187990"/>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Exploit Public-Facing App (Exchange)</a:t>
            </a:r>
            <a:endParaRPr lang="en-US" sz="947" dirty="0"/>
          </a:p>
        </p:txBody>
      </p:sp>
      <p:sp>
        <p:nvSpPr>
          <p:cNvPr id="7" name="Shape 5"/>
          <p:cNvSpPr/>
          <p:nvPr/>
        </p:nvSpPr>
        <p:spPr>
          <a:xfrm>
            <a:off x="6169025" y="1817650"/>
            <a:ext cx="5207000" cy="728020"/>
          </a:xfrm>
          <a:prstGeom prst="roundRect">
            <a:avLst>
              <a:gd name="adj" fmla="val 11775"/>
            </a:avLst>
          </a:prstGeom>
          <a:solidFill>
            <a:srgbClr val="161D27"/>
          </a:solidFill>
          <a:ln w="6350">
            <a:solidFill>
              <a:srgbClr val="263142"/>
            </a:solidFill>
            <a:prstDash val="solid"/>
          </a:ln>
        </p:spPr>
      </p:sp>
      <p:sp>
        <p:nvSpPr>
          <p:cNvPr id="8" name="Text 6"/>
          <p:cNvSpPr/>
          <p:nvPr/>
        </p:nvSpPr>
        <p:spPr>
          <a:xfrm>
            <a:off x="6373888" y="1984412"/>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T1133 / T1078  ·  Access</a:t>
            </a:r>
            <a:endParaRPr lang="en-US" sz="821" dirty="0"/>
          </a:p>
        </p:txBody>
      </p:sp>
      <p:sp>
        <p:nvSpPr>
          <p:cNvPr id="9" name="Text 7"/>
          <p:cNvSpPr/>
          <p:nvPr/>
        </p:nvSpPr>
        <p:spPr>
          <a:xfrm>
            <a:off x="6373888" y="2187990"/>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VPN + valid accounts</a:t>
            </a:r>
            <a:endParaRPr lang="en-US" sz="947" dirty="0"/>
          </a:p>
        </p:txBody>
      </p:sp>
      <p:sp>
        <p:nvSpPr>
          <p:cNvPr id="10" name="Shape 8"/>
          <p:cNvSpPr/>
          <p:nvPr/>
        </p:nvSpPr>
        <p:spPr>
          <a:xfrm>
            <a:off x="815975" y="2691721"/>
            <a:ext cx="5207000" cy="728020"/>
          </a:xfrm>
          <a:prstGeom prst="roundRect">
            <a:avLst>
              <a:gd name="adj" fmla="val 11775"/>
            </a:avLst>
          </a:prstGeom>
          <a:solidFill>
            <a:srgbClr val="161D27"/>
          </a:solidFill>
          <a:ln w="6350">
            <a:solidFill>
              <a:srgbClr val="263142"/>
            </a:solidFill>
            <a:prstDash val="solid"/>
          </a:ln>
        </p:spPr>
      </p:sp>
      <p:sp>
        <p:nvSpPr>
          <p:cNvPr id="11" name="Text 9"/>
          <p:cNvSpPr/>
          <p:nvPr/>
        </p:nvSpPr>
        <p:spPr>
          <a:xfrm>
            <a:off x="1020838" y="2858483"/>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T1505.003  ·  Persistence</a:t>
            </a:r>
            <a:endParaRPr lang="en-US" sz="821" dirty="0"/>
          </a:p>
        </p:txBody>
      </p:sp>
      <p:sp>
        <p:nvSpPr>
          <p:cNvPr id="12" name="Text 10"/>
          <p:cNvSpPr/>
          <p:nvPr/>
        </p:nvSpPr>
        <p:spPr>
          <a:xfrm>
            <a:off x="1020838" y="3062061"/>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ViewState web shell</a:t>
            </a:r>
            <a:endParaRPr lang="en-US" sz="947" dirty="0"/>
          </a:p>
        </p:txBody>
      </p:sp>
      <p:sp>
        <p:nvSpPr>
          <p:cNvPr id="13" name="Shape 11"/>
          <p:cNvSpPr/>
          <p:nvPr/>
        </p:nvSpPr>
        <p:spPr>
          <a:xfrm>
            <a:off x="6169025" y="2691721"/>
            <a:ext cx="5207000" cy="728020"/>
          </a:xfrm>
          <a:prstGeom prst="roundRect">
            <a:avLst>
              <a:gd name="adj" fmla="val 11775"/>
            </a:avLst>
          </a:prstGeom>
          <a:solidFill>
            <a:srgbClr val="161D27"/>
          </a:solidFill>
          <a:ln w="6350">
            <a:solidFill>
              <a:srgbClr val="263142"/>
            </a:solidFill>
            <a:prstDash val="solid"/>
          </a:ln>
        </p:spPr>
      </p:sp>
      <p:sp>
        <p:nvSpPr>
          <p:cNvPr id="14" name="Text 12"/>
          <p:cNvSpPr/>
          <p:nvPr/>
        </p:nvSpPr>
        <p:spPr>
          <a:xfrm>
            <a:off x="6373888" y="2858483"/>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T1505.004  ·  Persistence</a:t>
            </a:r>
            <a:endParaRPr lang="en-US" sz="821" dirty="0"/>
          </a:p>
        </p:txBody>
      </p:sp>
      <p:sp>
        <p:nvSpPr>
          <p:cNvPr id="15" name="Text 13"/>
          <p:cNvSpPr/>
          <p:nvPr/>
        </p:nvSpPr>
        <p:spPr>
          <a:xfrm>
            <a:off x="6373888" y="3062061"/>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IIS component loader</a:t>
            </a:r>
            <a:endParaRPr lang="en-US" sz="947" dirty="0"/>
          </a:p>
        </p:txBody>
      </p:sp>
      <p:sp>
        <p:nvSpPr>
          <p:cNvPr id="16" name="Shape 14"/>
          <p:cNvSpPr/>
          <p:nvPr/>
        </p:nvSpPr>
        <p:spPr>
          <a:xfrm>
            <a:off x="815975" y="3565792"/>
            <a:ext cx="5207000" cy="728020"/>
          </a:xfrm>
          <a:prstGeom prst="roundRect">
            <a:avLst>
              <a:gd name="adj" fmla="val 11775"/>
            </a:avLst>
          </a:prstGeom>
          <a:solidFill>
            <a:srgbClr val="161D27"/>
          </a:solidFill>
          <a:ln w="6350">
            <a:solidFill>
              <a:srgbClr val="263142"/>
            </a:solidFill>
            <a:prstDash val="solid"/>
          </a:ln>
        </p:spPr>
      </p:sp>
      <p:sp>
        <p:nvSpPr>
          <p:cNvPr id="17" name="Text 15"/>
          <p:cNvSpPr/>
          <p:nvPr/>
        </p:nvSpPr>
        <p:spPr>
          <a:xfrm>
            <a:off x="1020838" y="3732554"/>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T1620  ·  Defense Evasion</a:t>
            </a:r>
            <a:endParaRPr lang="en-US" sz="821" dirty="0"/>
          </a:p>
        </p:txBody>
      </p:sp>
      <p:sp>
        <p:nvSpPr>
          <p:cNvPr id="18" name="Text 16"/>
          <p:cNvSpPr/>
          <p:nvPr/>
        </p:nvSpPr>
        <p:spPr>
          <a:xfrm>
            <a:off x="1020838" y="3936132"/>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Reflective code loading</a:t>
            </a:r>
            <a:endParaRPr lang="en-US" sz="947" dirty="0"/>
          </a:p>
        </p:txBody>
      </p:sp>
      <p:sp>
        <p:nvSpPr>
          <p:cNvPr id="19" name="Shape 17"/>
          <p:cNvSpPr/>
          <p:nvPr/>
        </p:nvSpPr>
        <p:spPr>
          <a:xfrm>
            <a:off x="6169025" y="3565792"/>
            <a:ext cx="5207000" cy="728020"/>
          </a:xfrm>
          <a:prstGeom prst="roundRect">
            <a:avLst>
              <a:gd name="adj" fmla="val 11775"/>
            </a:avLst>
          </a:prstGeom>
          <a:solidFill>
            <a:srgbClr val="161D27"/>
          </a:solidFill>
          <a:ln w="6350">
            <a:solidFill>
              <a:srgbClr val="263142"/>
            </a:solidFill>
            <a:prstDash val="solid"/>
          </a:ln>
        </p:spPr>
      </p:sp>
      <p:sp>
        <p:nvSpPr>
          <p:cNvPr id="20" name="Text 18"/>
          <p:cNvSpPr/>
          <p:nvPr/>
        </p:nvSpPr>
        <p:spPr>
          <a:xfrm>
            <a:off x="6373888" y="3732554"/>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T1552  ·  Credential Access</a:t>
            </a:r>
            <a:endParaRPr lang="en-US" sz="821" dirty="0"/>
          </a:p>
        </p:txBody>
      </p:sp>
      <p:sp>
        <p:nvSpPr>
          <p:cNvPr id="21" name="Text 19"/>
          <p:cNvSpPr/>
          <p:nvPr/>
        </p:nvSpPr>
        <p:spPr>
          <a:xfrm>
            <a:off x="6373888" y="3936132"/>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machineKey theft &amp; reuse</a:t>
            </a:r>
            <a:endParaRPr lang="en-US" sz="947" dirty="0"/>
          </a:p>
        </p:txBody>
      </p:sp>
      <p:sp>
        <p:nvSpPr>
          <p:cNvPr id="22" name="Shape 20"/>
          <p:cNvSpPr/>
          <p:nvPr/>
        </p:nvSpPr>
        <p:spPr>
          <a:xfrm>
            <a:off x="815975" y="4439859"/>
            <a:ext cx="5207000" cy="728058"/>
          </a:xfrm>
          <a:prstGeom prst="roundRect">
            <a:avLst>
              <a:gd name="adj" fmla="val 11774"/>
            </a:avLst>
          </a:prstGeom>
          <a:solidFill>
            <a:srgbClr val="161D27"/>
          </a:solidFill>
          <a:ln w="6350">
            <a:solidFill>
              <a:srgbClr val="263142"/>
            </a:solidFill>
            <a:prstDash val="solid"/>
          </a:ln>
        </p:spPr>
      </p:sp>
      <p:sp>
        <p:nvSpPr>
          <p:cNvPr id="23" name="Text 21"/>
          <p:cNvSpPr/>
          <p:nvPr/>
        </p:nvSpPr>
        <p:spPr>
          <a:xfrm>
            <a:off x="1020838" y="4606621"/>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T1572 / T1090  ·  C2</a:t>
            </a:r>
            <a:endParaRPr lang="en-US" sz="821" dirty="0"/>
          </a:p>
        </p:txBody>
      </p:sp>
      <p:sp>
        <p:nvSpPr>
          <p:cNvPr id="24" name="Text 22"/>
          <p:cNvSpPr/>
          <p:nvPr/>
        </p:nvSpPr>
        <p:spPr>
          <a:xfrm>
            <a:off x="1020838" y="4810199"/>
            <a:ext cx="4941192" cy="216354"/>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Protocol tunneling (Chisel)</a:t>
            </a:r>
            <a:endParaRPr lang="en-US" sz="947" dirty="0"/>
          </a:p>
        </p:txBody>
      </p:sp>
      <p:sp>
        <p:nvSpPr>
          <p:cNvPr id="25" name="Shape 23"/>
          <p:cNvSpPr/>
          <p:nvPr/>
        </p:nvSpPr>
        <p:spPr>
          <a:xfrm>
            <a:off x="6169025" y="4439859"/>
            <a:ext cx="5207000" cy="728058"/>
          </a:xfrm>
          <a:prstGeom prst="roundRect">
            <a:avLst>
              <a:gd name="adj" fmla="val 11774"/>
            </a:avLst>
          </a:prstGeom>
          <a:solidFill>
            <a:srgbClr val="161D27"/>
          </a:solidFill>
          <a:ln w="6350">
            <a:solidFill>
              <a:srgbClr val="263142"/>
            </a:solidFill>
            <a:prstDash val="solid"/>
          </a:ln>
        </p:spPr>
      </p:sp>
      <p:sp>
        <p:nvSpPr>
          <p:cNvPr id="26" name="Text 24"/>
          <p:cNvSpPr/>
          <p:nvPr/>
        </p:nvSpPr>
        <p:spPr>
          <a:xfrm>
            <a:off x="6373888" y="4606621"/>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T1053.005  ·  Persistence</a:t>
            </a:r>
            <a:endParaRPr lang="en-US" sz="821" dirty="0"/>
          </a:p>
        </p:txBody>
      </p:sp>
      <p:sp>
        <p:nvSpPr>
          <p:cNvPr id="27" name="Text 25"/>
          <p:cNvSpPr/>
          <p:nvPr/>
        </p:nvSpPr>
        <p:spPr>
          <a:xfrm>
            <a:off x="6373888" y="4810199"/>
            <a:ext cx="4941192" cy="216354"/>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Scheduled task (4h relaunch)</a:t>
            </a:r>
            <a:endParaRPr lang="en-US" sz="947" dirty="0"/>
          </a:p>
        </p:txBody>
      </p:sp>
      <p:sp>
        <p:nvSpPr>
          <p:cNvPr id="28" name="Shape 26"/>
          <p:cNvSpPr/>
          <p:nvPr/>
        </p:nvSpPr>
        <p:spPr>
          <a:xfrm>
            <a:off x="815975" y="5313970"/>
            <a:ext cx="5207000" cy="728058"/>
          </a:xfrm>
          <a:prstGeom prst="roundRect">
            <a:avLst>
              <a:gd name="adj" fmla="val 11774"/>
            </a:avLst>
          </a:prstGeom>
          <a:solidFill>
            <a:srgbClr val="161D27"/>
          </a:solidFill>
          <a:ln w="6350">
            <a:solidFill>
              <a:srgbClr val="263142"/>
            </a:solidFill>
            <a:prstDash val="solid"/>
          </a:ln>
        </p:spPr>
      </p:sp>
      <p:sp>
        <p:nvSpPr>
          <p:cNvPr id="29" name="Text 27"/>
          <p:cNvSpPr/>
          <p:nvPr/>
        </p:nvSpPr>
        <p:spPr>
          <a:xfrm>
            <a:off x="1020838" y="5480732"/>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T1068 / T1021  ·  Esc / Lateral</a:t>
            </a:r>
            <a:endParaRPr lang="en-US" sz="821" dirty="0"/>
          </a:p>
        </p:txBody>
      </p:sp>
      <p:sp>
        <p:nvSpPr>
          <p:cNvPr id="30" name="Text 28"/>
          <p:cNvSpPr/>
          <p:nvPr/>
        </p:nvSpPr>
        <p:spPr>
          <a:xfrm>
            <a:off x="1020838" y="5684310"/>
            <a:ext cx="4941192" cy="216354"/>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AD escalation toward the DC</a:t>
            </a:r>
            <a:endParaRPr lang="en-US" sz="947" dirty="0"/>
          </a:p>
        </p:txBody>
      </p:sp>
      <p:sp>
        <p:nvSpPr>
          <p:cNvPr id="31" name="Shape 29"/>
          <p:cNvSpPr/>
          <p:nvPr/>
        </p:nvSpPr>
        <p:spPr>
          <a:xfrm>
            <a:off x="6169025" y="5313970"/>
            <a:ext cx="5207000" cy="728058"/>
          </a:xfrm>
          <a:prstGeom prst="roundRect">
            <a:avLst>
              <a:gd name="adj" fmla="val 11774"/>
            </a:avLst>
          </a:prstGeom>
          <a:solidFill>
            <a:srgbClr val="161D27"/>
          </a:solidFill>
          <a:ln w="6350">
            <a:solidFill>
              <a:srgbClr val="263142"/>
            </a:solidFill>
            <a:prstDash val="solid"/>
          </a:ln>
        </p:spPr>
      </p:sp>
      <p:sp>
        <p:nvSpPr>
          <p:cNvPr id="32" name="Text 30"/>
          <p:cNvSpPr/>
          <p:nvPr/>
        </p:nvSpPr>
        <p:spPr>
          <a:xfrm>
            <a:off x="6373888" y="5480732"/>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T1114 / T1041  ·  Collect / Exfil</a:t>
            </a:r>
            <a:endParaRPr lang="en-US" sz="821" dirty="0"/>
          </a:p>
        </p:txBody>
      </p:sp>
      <p:sp>
        <p:nvSpPr>
          <p:cNvPr id="33" name="Text 31"/>
          <p:cNvSpPr/>
          <p:nvPr/>
        </p:nvSpPr>
        <p:spPr>
          <a:xfrm>
            <a:off x="6373888" y="5684310"/>
            <a:ext cx="4941192" cy="216354"/>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Email collection over C2</a:t>
            </a:r>
            <a:endParaRPr lang="en-US" sz="94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91193"/>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E0A45A"/>
                </a:solidFill>
                <a:latin typeface="JetBrains Mono" pitchFamily="49" charset="0"/>
                <a:ea typeface="JetBrains Mono" pitchFamily="49" charset="-122"/>
                <a:cs typeface="JetBrains Mono" pitchFamily="49" charset="-120"/>
              </a:rPr>
              <a:t>RED TEAM · EMULATION</a:t>
            </a:r>
            <a:endParaRPr lang="en-US" sz="1300" dirty="0"/>
          </a:p>
        </p:txBody>
      </p:sp>
      <p:sp>
        <p:nvSpPr>
          <p:cNvPr id="3" name="Text 1"/>
          <p:cNvSpPr/>
          <p:nvPr>
            <p:ph type="title"/>
          </p:nvPr>
        </p:nvSpPr>
        <p:spPr>
          <a:xfrm>
            <a:off x="812800" y="1167495"/>
            <a:ext cx="10883392" cy="546780"/>
          </a:xfrm>
          <a:prstGeom prst="rect">
            <a:avLst/>
          </a:prstGeom>
          <a:noFill/>
          <a:ln/>
        </p:spPr>
        <p:txBody>
          <a:bodyPr wrap="square" lIns="0" tIns="0" rIns="0" bIns="0" rtlCol="0" anchor="t">
            <a:normAutofit/>
          </a:bodyPr>
          <a:lstStyle/>
          <a:p>
            <a:pPr algn="l" indent="0" marL="0">
              <a:lnSpc>
                <a:spcPts val="3570"/>
              </a:lnSpc>
              <a:buNone/>
            </a:pPr>
            <a:r>
              <a:rPr lang="en-US" sz="3400" b="1" i="0" dirty="0">
                <a:solidFill>
                  <a:srgbClr val="EAEEF3"/>
                </a:solidFill>
                <a:latin typeface="IBM Plex Sans" pitchFamily="34" charset="0"/>
                <a:ea typeface="IBM Plex Sans" pitchFamily="34" charset="-122"/>
                <a:cs typeface="IBM Plex Sans" pitchFamily="34" charset="-120"/>
              </a:rPr>
              <a:t>Start from assumed breach</a:t>
            </a:r>
            <a:endParaRPr lang="en-US" sz="3400" dirty="0"/>
          </a:p>
        </p:txBody>
      </p:sp>
      <p:sp>
        <p:nvSpPr>
          <p:cNvPr id="4" name="Text 2"/>
          <p:cNvSpPr/>
          <p:nvPr/>
        </p:nvSpPr>
        <p:spPr>
          <a:xfrm>
            <a:off x="812800" y="1942877"/>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1</a:t>
            </a:r>
            <a:endParaRPr lang="en-US" sz="1400" dirty="0"/>
          </a:p>
        </p:txBody>
      </p:sp>
      <p:sp>
        <p:nvSpPr>
          <p:cNvPr id="5" name="Text 3"/>
          <p:cNvSpPr/>
          <p:nvPr/>
        </p:nvSpPr>
        <p:spPr>
          <a:xfrm>
            <a:off x="1219200" y="1942877"/>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Assume-breach foothold on a lab IIS host — skip the real zero-day </a:t>
            </a:r>
            <a:r>
              <a:rPr lang="en-US" sz="1450" dirty="0">
                <a:solidFill>
                  <a:srgbClr val="7E8B9A"/>
                </a:solidFill>
                <a:latin typeface="IBM Plex Sans" pitchFamily="34" charset="0"/>
                <a:ea typeface="IBM Plex Sans" pitchFamily="34" charset="-122"/>
                <a:cs typeface="IBM Plex Sans" pitchFamily="34" charset="-120"/>
              </a:rPr>
              <a:t>(T1190)</a:t>
            </a:r>
            <a:endParaRPr lang="en-US" sz="1450" dirty="0"/>
          </a:p>
        </p:txBody>
      </p:sp>
      <p:sp>
        <p:nvSpPr>
          <p:cNvPr id="6" name="Text 4"/>
          <p:cNvSpPr/>
          <p:nvPr/>
        </p:nvSpPr>
        <p:spPr>
          <a:xfrm>
            <a:off x="6248400" y="1942877"/>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2</a:t>
            </a:r>
            <a:endParaRPr lang="en-US" sz="1400" dirty="0"/>
          </a:p>
        </p:txBody>
      </p:sp>
      <p:sp>
        <p:nvSpPr>
          <p:cNvPr id="7" name="Text 5"/>
          <p:cNvSpPr/>
          <p:nvPr/>
        </p:nvSpPr>
        <p:spPr>
          <a:xfrm>
            <a:off x="6654800" y="1942877"/>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Forge ViewState with a machineKey you own (ysoserial.net) </a:t>
            </a:r>
            <a:r>
              <a:rPr lang="en-US" sz="1450" dirty="0">
                <a:solidFill>
                  <a:srgbClr val="7E8B9A"/>
                </a:solidFill>
                <a:latin typeface="IBM Plex Sans" pitchFamily="34" charset="0"/>
                <a:ea typeface="IBM Plex Sans" pitchFamily="34" charset="-122"/>
                <a:cs typeface="IBM Plex Sans" pitchFamily="34" charset="-120"/>
              </a:rPr>
              <a:t>(T1505.003)</a:t>
            </a:r>
            <a:endParaRPr lang="en-US" sz="1450" dirty="0"/>
          </a:p>
        </p:txBody>
      </p:sp>
      <p:sp>
        <p:nvSpPr>
          <p:cNvPr id="8" name="Text 6"/>
          <p:cNvSpPr/>
          <p:nvPr/>
        </p:nvSpPr>
        <p:spPr>
          <a:xfrm>
            <a:off x="812800" y="2620435"/>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3</a:t>
            </a:r>
            <a:endParaRPr lang="en-US" sz="1400" dirty="0"/>
          </a:p>
        </p:txBody>
      </p:sp>
      <p:sp>
        <p:nvSpPr>
          <p:cNvPr id="9" name="Text 7"/>
          <p:cNvSpPr/>
          <p:nvPr/>
        </p:nvSpPr>
        <p:spPr>
          <a:xfrm>
            <a:off x="1219200" y="2620435"/>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Reflectively load a benign .NET assembly in the IIS worker </a:t>
            </a:r>
            <a:r>
              <a:rPr lang="en-US" sz="1450" dirty="0">
                <a:solidFill>
                  <a:srgbClr val="7E8B9A"/>
                </a:solidFill>
                <a:latin typeface="IBM Plex Sans" pitchFamily="34" charset="0"/>
                <a:ea typeface="IBM Plex Sans" pitchFamily="34" charset="-122"/>
                <a:cs typeface="IBM Plex Sans" pitchFamily="34" charset="-120"/>
              </a:rPr>
              <a:t>(T1620)</a:t>
            </a:r>
            <a:endParaRPr lang="en-US" sz="1450" dirty="0"/>
          </a:p>
        </p:txBody>
      </p:sp>
      <p:sp>
        <p:nvSpPr>
          <p:cNvPr id="10" name="Text 8"/>
          <p:cNvSpPr/>
          <p:nvPr/>
        </p:nvSpPr>
        <p:spPr>
          <a:xfrm>
            <a:off x="6248400" y="2620435"/>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4</a:t>
            </a:r>
            <a:endParaRPr lang="en-US" sz="1400" dirty="0"/>
          </a:p>
        </p:txBody>
      </p:sp>
      <p:sp>
        <p:nvSpPr>
          <p:cNvPr id="11" name="Text 9"/>
          <p:cNvSpPr/>
          <p:nvPr/>
        </p:nvSpPr>
        <p:spPr>
          <a:xfrm>
            <a:off x="6654800" y="2620435"/>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Stand up a Chisel SOCKS tunnel to a lab C2 on 443 </a:t>
            </a:r>
            <a:r>
              <a:rPr lang="en-US" sz="1450" dirty="0">
                <a:solidFill>
                  <a:srgbClr val="7E8B9A"/>
                </a:solidFill>
                <a:latin typeface="IBM Plex Sans" pitchFamily="34" charset="0"/>
                <a:ea typeface="IBM Plex Sans" pitchFamily="34" charset="-122"/>
                <a:cs typeface="IBM Plex Sans" pitchFamily="34" charset="-120"/>
              </a:rPr>
              <a:t>(T1572)</a:t>
            </a:r>
            <a:endParaRPr lang="en-US" sz="1450" dirty="0"/>
          </a:p>
        </p:txBody>
      </p:sp>
      <p:sp>
        <p:nvSpPr>
          <p:cNvPr id="12" name="Text 10"/>
          <p:cNvSpPr/>
          <p:nvPr/>
        </p:nvSpPr>
        <p:spPr>
          <a:xfrm>
            <a:off x="812800" y="3297994"/>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5</a:t>
            </a:r>
            <a:endParaRPr lang="en-US" sz="1400" dirty="0"/>
          </a:p>
        </p:txBody>
      </p:sp>
      <p:sp>
        <p:nvSpPr>
          <p:cNvPr id="13" name="Text 11"/>
          <p:cNvSpPr/>
          <p:nvPr/>
        </p:nvSpPr>
        <p:spPr>
          <a:xfrm>
            <a:off x="1219200" y="3297994"/>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Register the 4-hour relaunch scheduled task </a:t>
            </a:r>
            <a:r>
              <a:rPr lang="en-US" sz="1450" dirty="0">
                <a:solidFill>
                  <a:srgbClr val="7E8B9A"/>
                </a:solidFill>
                <a:latin typeface="IBM Plex Sans" pitchFamily="34" charset="0"/>
                <a:ea typeface="IBM Plex Sans" pitchFamily="34" charset="-122"/>
                <a:cs typeface="IBM Plex Sans" pitchFamily="34" charset="-120"/>
              </a:rPr>
              <a:t>(T1053.005)</a:t>
            </a:r>
            <a:endParaRPr lang="en-US" sz="1450" dirty="0"/>
          </a:p>
        </p:txBody>
      </p:sp>
      <p:sp>
        <p:nvSpPr>
          <p:cNvPr id="14" name="Text 12"/>
          <p:cNvSpPr/>
          <p:nvPr/>
        </p:nvSpPr>
        <p:spPr>
          <a:xfrm>
            <a:off x="6248400" y="3297994"/>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6</a:t>
            </a:r>
            <a:endParaRPr lang="en-US" sz="1400" dirty="0"/>
          </a:p>
        </p:txBody>
      </p:sp>
      <p:sp>
        <p:nvSpPr>
          <p:cNvPr id="15" name="Text 13"/>
          <p:cNvSpPr/>
          <p:nvPr/>
        </p:nvSpPr>
        <p:spPr>
          <a:xfrm>
            <a:off x="6654800" y="3297994"/>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Run an assumed-breach path from server to domain controller </a:t>
            </a:r>
            <a:r>
              <a:rPr lang="en-US" sz="1450" dirty="0">
                <a:solidFill>
                  <a:srgbClr val="7E8B9A"/>
                </a:solidFill>
                <a:latin typeface="IBM Plex Sans" pitchFamily="34" charset="0"/>
                <a:ea typeface="IBM Plex Sans" pitchFamily="34" charset="-122"/>
                <a:cs typeface="IBM Plex Sans" pitchFamily="34" charset="-120"/>
              </a:rPr>
              <a:t>(T1068 / T1021)</a:t>
            </a:r>
            <a:endParaRPr lang="en-US" sz="1450" dirty="0"/>
          </a:p>
        </p:txBody>
      </p:sp>
      <p:sp>
        <p:nvSpPr>
          <p:cNvPr id="16" name="Text 14"/>
          <p:cNvSpPr/>
          <p:nvPr/>
        </p:nvSpPr>
        <p:spPr>
          <a:xfrm>
            <a:off x="812800" y="6135005"/>
            <a:ext cx="11379200" cy="29119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E9BAA"/>
                </a:solidFill>
                <a:latin typeface="IBM Plex Sans" pitchFamily="34" charset="0"/>
                <a:ea typeface="IBM Plex Sans" pitchFamily="34" charset="-122"/>
                <a:cs typeface="IBM Plex Sans" pitchFamily="34" charset="-120"/>
              </a:rPr>
              <a:t>Run only against isolated VMs you own, with benign stand-ins. Steps 4–6 reuse your GOAD / Sysmon / Wazuh range directly.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91193"/>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E0A45A"/>
                </a:solidFill>
                <a:latin typeface="JetBrains Mono" pitchFamily="49" charset="0"/>
                <a:ea typeface="JetBrains Mono" pitchFamily="49" charset="-122"/>
                <a:cs typeface="JetBrains Mono" pitchFamily="49" charset="-120"/>
              </a:rPr>
              <a:t>PURPLE / BLUE · DETECTION</a:t>
            </a:r>
            <a:endParaRPr lang="en-US" sz="1300" dirty="0"/>
          </a:p>
        </p:txBody>
      </p:sp>
      <p:sp>
        <p:nvSpPr>
          <p:cNvPr id="3" name="Text 1"/>
          <p:cNvSpPr/>
          <p:nvPr>
            <p:ph type="title"/>
          </p:nvPr>
        </p:nvSpPr>
        <p:spPr>
          <a:xfrm>
            <a:off x="812800" y="1167495"/>
            <a:ext cx="10883392" cy="546780"/>
          </a:xfrm>
          <a:prstGeom prst="rect">
            <a:avLst/>
          </a:prstGeom>
          <a:noFill/>
          <a:ln/>
        </p:spPr>
        <p:txBody>
          <a:bodyPr wrap="square" lIns="0" tIns="0" rIns="0" bIns="0" rtlCol="0" anchor="t">
            <a:normAutofit/>
          </a:bodyPr>
          <a:lstStyle/>
          <a:p>
            <a:pPr algn="l" indent="0" marL="0">
              <a:lnSpc>
                <a:spcPts val="3570"/>
              </a:lnSpc>
              <a:buNone/>
            </a:pPr>
            <a:r>
              <a:rPr lang="en-US" sz="3400" b="1" i="0" dirty="0">
                <a:solidFill>
                  <a:srgbClr val="EAEEF3"/>
                </a:solidFill>
                <a:latin typeface="IBM Plex Sans" pitchFamily="34" charset="0"/>
                <a:ea typeface="IBM Plex Sans" pitchFamily="34" charset="-122"/>
                <a:cs typeface="IBM Plex Sans" pitchFamily="34" charset="-120"/>
              </a:rPr>
              <a:t>Hunt the server tier</a:t>
            </a:r>
            <a:endParaRPr lang="en-US" sz="3400" dirty="0"/>
          </a:p>
        </p:txBody>
      </p:sp>
      <p:sp>
        <p:nvSpPr>
          <p:cNvPr id="4" name="Shape 2"/>
          <p:cNvSpPr/>
          <p:nvPr/>
        </p:nvSpPr>
        <p:spPr>
          <a:xfrm>
            <a:off x="815975" y="1946052"/>
            <a:ext cx="4946650" cy="869837"/>
          </a:xfrm>
          <a:prstGeom prst="roundRect">
            <a:avLst>
              <a:gd name="adj" fmla="val 9855"/>
            </a:avLst>
          </a:prstGeom>
          <a:solidFill>
            <a:srgbClr val="161D27"/>
          </a:solidFill>
          <a:ln w="6350">
            <a:solidFill>
              <a:srgbClr val="263142"/>
            </a:solidFill>
            <a:prstDash val="solid"/>
          </a:ln>
        </p:spPr>
      </p:sp>
      <p:sp>
        <p:nvSpPr>
          <p:cNvPr id="5" name="Text 3"/>
          <p:cNvSpPr/>
          <p:nvPr/>
        </p:nvSpPr>
        <p:spPr>
          <a:xfrm>
            <a:off x="995438" y="2100114"/>
            <a:ext cx="4725356"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AEEF3"/>
                </a:solidFill>
                <a:latin typeface="IBM Plex Sans" pitchFamily="34" charset="0"/>
                <a:ea typeface="IBM Plex Sans" pitchFamily="34" charset="-122"/>
                <a:cs typeface="IBM Plex Sans" pitchFamily="34" charset="-120"/>
              </a:rPr>
              <a:t>IIS worker anomaly</a:t>
            </a:r>
            <a:endParaRPr lang="en-US" sz="1400" dirty="0"/>
          </a:p>
        </p:txBody>
      </p:sp>
      <p:sp>
        <p:nvSpPr>
          <p:cNvPr id="6" name="Text 4"/>
          <p:cNvSpPr/>
          <p:nvPr/>
        </p:nvSpPr>
        <p:spPr>
          <a:xfrm>
            <a:off x="995438" y="2424491"/>
            <a:ext cx="4725356" cy="262731"/>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A9B4C0"/>
                </a:solidFill>
                <a:latin typeface="IBM Plex Sans" pitchFamily="34" charset="0"/>
                <a:ea typeface="IBM Plex Sans" pitchFamily="34" charset="-122"/>
                <a:cs typeface="IBM Plex Sans" pitchFamily="34" charset="-120"/>
              </a:rPr>
              <a:t>w3wp.exe spawning cmd / PowerShell</a:t>
            </a:r>
            <a:endParaRPr lang="en-US" sz="1250" dirty="0"/>
          </a:p>
        </p:txBody>
      </p:sp>
      <p:sp>
        <p:nvSpPr>
          <p:cNvPr id="7" name="Shape 5"/>
          <p:cNvSpPr/>
          <p:nvPr/>
        </p:nvSpPr>
        <p:spPr>
          <a:xfrm>
            <a:off x="815975" y="2936534"/>
            <a:ext cx="4946650" cy="869837"/>
          </a:xfrm>
          <a:prstGeom prst="roundRect">
            <a:avLst>
              <a:gd name="adj" fmla="val 9855"/>
            </a:avLst>
          </a:prstGeom>
          <a:solidFill>
            <a:srgbClr val="161D27"/>
          </a:solidFill>
          <a:ln w="6350">
            <a:solidFill>
              <a:srgbClr val="263142"/>
            </a:solidFill>
            <a:prstDash val="solid"/>
          </a:ln>
        </p:spPr>
      </p:sp>
      <p:sp>
        <p:nvSpPr>
          <p:cNvPr id="8" name="Text 6"/>
          <p:cNvSpPr/>
          <p:nvPr/>
        </p:nvSpPr>
        <p:spPr>
          <a:xfrm>
            <a:off x="995438" y="3090602"/>
            <a:ext cx="4725356"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AEEF3"/>
                </a:solidFill>
                <a:latin typeface="IBM Plex Sans" pitchFamily="34" charset="0"/>
                <a:ea typeface="IBM Plex Sans" pitchFamily="34" charset="-122"/>
                <a:cs typeface="IBM Plex Sans" pitchFamily="34" charset="-120"/>
              </a:rPr>
              <a:t>In-memory .NET</a:t>
            </a:r>
            <a:endParaRPr lang="en-US" sz="1400" dirty="0"/>
          </a:p>
        </p:txBody>
      </p:sp>
      <p:sp>
        <p:nvSpPr>
          <p:cNvPr id="9" name="Text 7"/>
          <p:cNvSpPr/>
          <p:nvPr/>
        </p:nvSpPr>
        <p:spPr>
          <a:xfrm>
            <a:off x="995438" y="3414979"/>
            <a:ext cx="4725356" cy="262731"/>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A9B4C0"/>
                </a:solidFill>
                <a:latin typeface="IBM Plex Sans" pitchFamily="34" charset="0"/>
                <a:ea typeface="IBM Plex Sans" pitchFamily="34" charset="-122"/>
                <a:cs typeface="IBM Plex Sans" pitchFamily="34" charset="-120"/>
              </a:rPr>
              <a:t>Unexpected CLR / reflective assembly loads</a:t>
            </a:r>
            <a:endParaRPr lang="en-US" sz="1250" dirty="0"/>
          </a:p>
        </p:txBody>
      </p:sp>
      <p:sp>
        <p:nvSpPr>
          <p:cNvPr id="10" name="Shape 8"/>
          <p:cNvSpPr/>
          <p:nvPr/>
        </p:nvSpPr>
        <p:spPr>
          <a:xfrm>
            <a:off x="815975" y="3927022"/>
            <a:ext cx="4946650" cy="869837"/>
          </a:xfrm>
          <a:prstGeom prst="roundRect">
            <a:avLst>
              <a:gd name="adj" fmla="val 9855"/>
            </a:avLst>
          </a:prstGeom>
          <a:solidFill>
            <a:srgbClr val="161D27"/>
          </a:solidFill>
          <a:ln w="6350">
            <a:solidFill>
              <a:srgbClr val="263142"/>
            </a:solidFill>
            <a:prstDash val="solid"/>
          </a:ln>
        </p:spPr>
      </p:sp>
      <p:sp>
        <p:nvSpPr>
          <p:cNvPr id="11" name="Text 9"/>
          <p:cNvSpPr/>
          <p:nvPr/>
        </p:nvSpPr>
        <p:spPr>
          <a:xfrm>
            <a:off x="995438" y="4081084"/>
            <a:ext cx="4725356"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AEEF3"/>
                </a:solidFill>
                <a:latin typeface="IBM Plex Sans" pitchFamily="34" charset="0"/>
                <a:ea typeface="IBM Plex Sans" pitchFamily="34" charset="-122"/>
                <a:cs typeface="IBM Plex Sans" pitchFamily="34" charset="-120"/>
              </a:rPr>
              <a:t>Chisel tunnel</a:t>
            </a:r>
            <a:endParaRPr lang="en-US" sz="1400" dirty="0"/>
          </a:p>
        </p:txBody>
      </p:sp>
      <p:sp>
        <p:nvSpPr>
          <p:cNvPr id="12" name="Text 10"/>
          <p:cNvSpPr/>
          <p:nvPr/>
        </p:nvSpPr>
        <p:spPr>
          <a:xfrm>
            <a:off x="995438" y="4405468"/>
            <a:ext cx="4725356" cy="262731"/>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A9B4C0"/>
                </a:solidFill>
                <a:latin typeface="IBM Plex Sans" pitchFamily="34" charset="0"/>
                <a:ea typeface="IBM Plex Sans" pitchFamily="34" charset="-122"/>
                <a:cs typeface="IBM Plex Sans" pitchFamily="34" charset="-120"/>
              </a:rPr>
              <a:t>Long-lived SOCKS on 443 from a server; 4h beacon</a:t>
            </a:r>
            <a:endParaRPr lang="en-US" sz="1250" dirty="0"/>
          </a:p>
        </p:txBody>
      </p:sp>
      <p:sp>
        <p:nvSpPr>
          <p:cNvPr id="13" name="Shape 11"/>
          <p:cNvSpPr/>
          <p:nvPr/>
        </p:nvSpPr>
        <p:spPr>
          <a:xfrm>
            <a:off x="815975" y="4917511"/>
            <a:ext cx="4946650" cy="869837"/>
          </a:xfrm>
          <a:prstGeom prst="roundRect">
            <a:avLst>
              <a:gd name="adj" fmla="val 9855"/>
            </a:avLst>
          </a:prstGeom>
          <a:solidFill>
            <a:srgbClr val="161D27"/>
          </a:solidFill>
          <a:ln w="6350">
            <a:solidFill>
              <a:srgbClr val="263142"/>
            </a:solidFill>
            <a:prstDash val="solid"/>
          </a:ln>
        </p:spPr>
      </p:sp>
      <p:sp>
        <p:nvSpPr>
          <p:cNvPr id="14" name="Text 12"/>
          <p:cNvSpPr/>
          <p:nvPr/>
        </p:nvSpPr>
        <p:spPr>
          <a:xfrm>
            <a:off x="995438" y="5071573"/>
            <a:ext cx="4725356"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AEEF3"/>
                </a:solidFill>
                <a:latin typeface="IBM Plex Sans" pitchFamily="34" charset="0"/>
                <a:ea typeface="IBM Plex Sans" pitchFamily="34" charset="-122"/>
                <a:cs typeface="IBM Plex Sans" pitchFamily="34" charset="-120"/>
              </a:rPr>
              <a:t>Server-to-DC pivot</a:t>
            </a:r>
            <a:endParaRPr lang="en-US" sz="1400" dirty="0"/>
          </a:p>
        </p:txBody>
      </p:sp>
      <p:sp>
        <p:nvSpPr>
          <p:cNvPr id="15" name="Text 13"/>
          <p:cNvSpPr/>
          <p:nvPr/>
        </p:nvSpPr>
        <p:spPr>
          <a:xfrm>
            <a:off x="995438" y="5395950"/>
            <a:ext cx="4725356" cy="262731"/>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A9B4C0"/>
                </a:solidFill>
                <a:latin typeface="IBM Plex Sans" pitchFamily="34" charset="0"/>
                <a:ea typeface="IBM Plex Sans" pitchFamily="34" charset="-122"/>
                <a:cs typeface="IBM Plex Sans" pitchFamily="34" charset="-120"/>
              </a:rPr>
              <a:t>Exchange host authenticating to the DC; LSASS access</a:t>
            </a:r>
            <a:endParaRPr lang="en-US" sz="1250" dirty="0"/>
          </a:p>
        </p:txBody>
      </p:sp>
      <p:sp>
        <p:nvSpPr>
          <p:cNvPr id="16" name="Shape 14"/>
          <p:cNvSpPr/>
          <p:nvPr/>
        </p:nvSpPr>
        <p:spPr>
          <a:xfrm>
            <a:off x="6022975" y="1946052"/>
            <a:ext cx="5353050" cy="3841297"/>
          </a:xfrm>
          <a:prstGeom prst="roundRect">
            <a:avLst>
              <a:gd name="adj" fmla="val 2562"/>
            </a:avLst>
          </a:prstGeom>
          <a:solidFill>
            <a:srgbClr val="0A0E13"/>
          </a:solidFill>
          <a:ln w="6350">
            <a:solidFill>
              <a:srgbClr val="2E4256"/>
            </a:solidFill>
            <a:prstDash val="solid"/>
          </a:ln>
        </p:spPr>
      </p:sp>
      <p:sp>
        <p:nvSpPr>
          <p:cNvPr id="17" name="Text 15"/>
          <p:cNvSpPr/>
          <p:nvPr/>
        </p:nvSpPr>
        <p:spPr>
          <a:xfrm>
            <a:off x="6240538" y="2150914"/>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0A45A"/>
                </a:solidFill>
                <a:latin typeface="JetBrains Mono" pitchFamily="49" charset="0"/>
                <a:ea typeface="JetBrains Mono" pitchFamily="49" charset="-122"/>
                <a:cs typeface="JetBrains Mono" pitchFamily="49" charset="-120"/>
              </a:rPr>
              <a:t>title: IIS worker spawning</a:t>
            </a:r>
            <a:endParaRPr lang="en-US" sz="1200" dirty="0"/>
          </a:p>
        </p:txBody>
      </p:sp>
      <p:sp>
        <p:nvSpPr>
          <p:cNvPr id="18" name="Text 16"/>
          <p:cNvSpPr/>
          <p:nvPr/>
        </p:nvSpPr>
        <p:spPr>
          <a:xfrm>
            <a:off x="6240538" y="2413794"/>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0A45A"/>
                </a:solidFill>
                <a:latin typeface="JetBrains Mono" pitchFamily="49" charset="0"/>
                <a:ea typeface="JetBrains Mono" pitchFamily="49" charset="-122"/>
                <a:cs typeface="JetBrains Mono" pitchFamily="49" charset="-120"/>
              </a:rPr>
              <a:t>      a command shell</a:t>
            </a:r>
            <a:endParaRPr lang="en-US" sz="1200" dirty="0"/>
          </a:p>
        </p:txBody>
      </p:sp>
      <p:sp>
        <p:nvSpPr>
          <p:cNvPr id="19" name="Text 17"/>
          <p:cNvSpPr/>
          <p:nvPr/>
        </p:nvSpPr>
        <p:spPr>
          <a:xfrm>
            <a:off x="6240538" y="2676680"/>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E9BAA"/>
                </a:solidFill>
                <a:latin typeface="JetBrains Mono" pitchFamily="49" charset="0"/>
                <a:ea typeface="JetBrains Mono" pitchFamily="49" charset="-122"/>
                <a:cs typeface="JetBrains Mono" pitchFamily="49" charset="-120"/>
              </a:rPr>
              <a:t>logsource:</a:t>
            </a:r>
            <a:endParaRPr lang="en-US" sz="1200" dirty="0"/>
          </a:p>
        </p:txBody>
      </p:sp>
      <p:sp>
        <p:nvSpPr>
          <p:cNvPr id="20" name="Text 18"/>
          <p:cNvSpPr/>
          <p:nvPr/>
        </p:nvSpPr>
        <p:spPr>
          <a:xfrm>
            <a:off x="6240538" y="2939560"/>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category: process_creation</a:t>
            </a:r>
            <a:endParaRPr lang="en-US" sz="1200" dirty="0"/>
          </a:p>
        </p:txBody>
      </p:sp>
      <p:sp>
        <p:nvSpPr>
          <p:cNvPr id="21" name="Text 19"/>
          <p:cNvSpPr/>
          <p:nvPr/>
        </p:nvSpPr>
        <p:spPr>
          <a:xfrm>
            <a:off x="6240538" y="3202440"/>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E9BAA"/>
                </a:solidFill>
                <a:latin typeface="JetBrains Mono" pitchFamily="49" charset="0"/>
                <a:ea typeface="JetBrains Mono" pitchFamily="49" charset="-122"/>
                <a:cs typeface="JetBrains Mono" pitchFamily="49" charset="-120"/>
              </a:rPr>
              <a:t>detection:</a:t>
            </a:r>
            <a:endParaRPr lang="en-US" sz="1200" dirty="0"/>
          </a:p>
        </p:txBody>
      </p:sp>
      <p:sp>
        <p:nvSpPr>
          <p:cNvPr id="22" name="Text 20"/>
          <p:cNvSpPr/>
          <p:nvPr/>
        </p:nvSpPr>
        <p:spPr>
          <a:xfrm>
            <a:off x="6240538" y="3465326"/>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selection:</a:t>
            </a:r>
            <a:endParaRPr lang="en-US" sz="1200" dirty="0"/>
          </a:p>
        </p:txBody>
      </p:sp>
      <p:sp>
        <p:nvSpPr>
          <p:cNvPr id="23" name="Text 21"/>
          <p:cNvSpPr/>
          <p:nvPr/>
        </p:nvSpPr>
        <p:spPr>
          <a:xfrm>
            <a:off x="6240538" y="3728207"/>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ParentImage|endswith:</a:t>
            </a:r>
            <a:endParaRPr lang="en-US" sz="1200" dirty="0"/>
          </a:p>
        </p:txBody>
      </p:sp>
      <p:sp>
        <p:nvSpPr>
          <p:cNvPr id="24" name="Text 22"/>
          <p:cNvSpPr/>
          <p:nvPr/>
        </p:nvSpPr>
        <p:spPr>
          <a:xfrm>
            <a:off x="6240538" y="3991087"/>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 w3wp.exe</a:t>
            </a:r>
            <a:endParaRPr lang="en-US" sz="1200" dirty="0"/>
          </a:p>
        </p:txBody>
      </p:sp>
      <p:sp>
        <p:nvSpPr>
          <p:cNvPr id="25" name="Text 23"/>
          <p:cNvSpPr/>
          <p:nvPr/>
        </p:nvSpPr>
        <p:spPr>
          <a:xfrm>
            <a:off x="6240538" y="4253973"/>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Image|endswith:</a:t>
            </a:r>
            <a:endParaRPr lang="en-US" sz="1200" dirty="0"/>
          </a:p>
        </p:txBody>
      </p:sp>
      <p:sp>
        <p:nvSpPr>
          <p:cNvPr id="26" name="Text 24"/>
          <p:cNvSpPr/>
          <p:nvPr/>
        </p:nvSpPr>
        <p:spPr>
          <a:xfrm>
            <a:off x="6240538" y="4516853"/>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 cmd.exe</a:t>
            </a:r>
            <a:endParaRPr lang="en-US" sz="1200" dirty="0"/>
          </a:p>
        </p:txBody>
      </p:sp>
      <p:sp>
        <p:nvSpPr>
          <p:cNvPr id="27" name="Text 25"/>
          <p:cNvSpPr/>
          <p:nvPr/>
        </p:nvSpPr>
        <p:spPr>
          <a:xfrm>
            <a:off x="6240538" y="4779739"/>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 powershell.exe</a:t>
            </a:r>
            <a:endParaRPr lang="en-US" sz="1200" dirty="0"/>
          </a:p>
        </p:txBody>
      </p:sp>
      <p:sp>
        <p:nvSpPr>
          <p:cNvPr id="28" name="Text 26"/>
          <p:cNvSpPr/>
          <p:nvPr/>
        </p:nvSpPr>
        <p:spPr>
          <a:xfrm>
            <a:off x="6240538" y="5042619"/>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condition: selection</a:t>
            </a:r>
            <a:endParaRPr lang="en-US" sz="1200" dirty="0"/>
          </a:p>
        </p:txBody>
      </p:sp>
      <p:sp>
        <p:nvSpPr>
          <p:cNvPr id="29" name="Text 27"/>
          <p:cNvSpPr/>
          <p:nvPr/>
        </p:nvSpPr>
        <p:spPr>
          <a:xfrm>
            <a:off x="6240538" y="5305499"/>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0A45A"/>
                </a:solidFill>
                <a:latin typeface="JetBrains Mono" pitchFamily="49" charset="0"/>
                <a:ea typeface="JetBrains Mono" pitchFamily="49" charset="-122"/>
                <a:cs typeface="JetBrains Mono" pitchFamily="49" charset="-120"/>
              </a:rPr>
              <a:t>level: high</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02A"/>
        </a:solidFill>
      </p:bgPr>
    </p:bg>
    <p:spTree>
      <p:nvGrpSpPr>
        <p:cNvPr id="1" name=""/>
        <p:cNvGrpSpPr/>
        <p:nvPr/>
      </p:nvGrpSpPr>
      <p:grpSpPr>
        <a:xfrm>
          <a:off x="0" y="0"/>
          <a:ext cx="0" cy="0"/>
          <a:chOff x="0" y="0"/>
          <a:chExt cx="0" cy="0"/>
        </a:xfrm>
      </p:grpSpPr>
      <p:sp>
        <p:nvSpPr>
          <p:cNvPr id="2" name="Text 0"/>
          <p:cNvSpPr/>
          <p:nvPr/>
        </p:nvSpPr>
        <p:spPr>
          <a:xfrm>
            <a:off x="812800" y="812800"/>
            <a:ext cx="10883392" cy="291193"/>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E0A45A"/>
                </a:solidFill>
                <a:latin typeface="JetBrains Mono" pitchFamily="49" charset="0"/>
                <a:ea typeface="JetBrains Mono" pitchFamily="49" charset="-122"/>
                <a:cs typeface="JetBrains Mono" pitchFamily="49" charset="-120"/>
              </a:rPr>
              <a:t>TAKEAWAYS</a:t>
            </a:r>
            <a:endParaRPr lang="en-US" sz="1300" dirty="0"/>
          </a:p>
        </p:txBody>
      </p:sp>
      <p:sp>
        <p:nvSpPr>
          <p:cNvPr id="3" name="Text 1"/>
          <p:cNvSpPr/>
          <p:nvPr>
            <p:ph type="title"/>
          </p:nvPr>
        </p:nvSpPr>
        <p:spPr>
          <a:xfrm>
            <a:off x="812800" y="1192895"/>
            <a:ext cx="9156700" cy="624757"/>
          </a:xfrm>
          <a:prstGeom prst="rect">
            <a:avLst/>
          </a:prstGeom>
          <a:noFill/>
          <a:ln/>
        </p:spPr>
        <p:txBody>
          <a:bodyPr wrap="square" lIns="0" tIns="0" rIns="0" bIns="0" rtlCol="0" anchor="t">
            <a:normAutofit/>
          </a:bodyPr>
          <a:lstStyle/>
          <a:p>
            <a:pPr algn="l" indent="0" marL="0">
              <a:lnSpc>
                <a:spcPts val="4104"/>
              </a:lnSpc>
              <a:buNone/>
            </a:pPr>
            <a:r>
              <a:rPr lang="en-US" sz="3800" b="1" i="0" dirty="0">
                <a:solidFill>
                  <a:srgbClr val="EAEEF3"/>
                </a:solidFill>
                <a:latin typeface="IBM Plex Sans" pitchFamily="34" charset="0"/>
                <a:ea typeface="IBM Plex Sans" pitchFamily="34" charset="-122"/>
                <a:cs typeface="IBM Plex Sans" pitchFamily="34" charset="-120"/>
              </a:rPr>
              <a:t>Patient, server-side, hard to see</a:t>
            </a:r>
            <a:endParaRPr lang="en-US" sz="3800" dirty="0"/>
          </a:p>
        </p:txBody>
      </p:sp>
      <p:pic>
        <p:nvPicPr>
          <p:cNvPr id="4" name="Image 0" descr="rect">    </p:cNvPr>
          <p:cNvPicPr>
            <a:picLocks noChangeAspect="1"/>
          </p:cNvPicPr>
          <p:nvPr/>
        </p:nvPicPr>
        <p:blipFill>
          <a:blip r:embed="rId1"/>
          <a:srcRect l="0" r="0" t="0" b="0"/>
          <a:stretch/>
        </p:blipFill>
        <p:spPr>
          <a:xfrm>
            <a:off x="812800" y="2252476"/>
            <a:ext cx="88900" cy="88900"/>
          </a:xfrm>
          <a:prstGeom prst="rect">
            <a:avLst/>
          </a:prstGeom>
        </p:spPr>
      </p:pic>
      <p:sp>
        <p:nvSpPr>
          <p:cNvPr id="5" name="Text 2"/>
          <p:cNvSpPr/>
          <p:nvPr/>
        </p:nvSpPr>
        <p:spPr>
          <a:xfrm>
            <a:off x="1054100" y="2097050"/>
            <a:ext cx="10634853" cy="34082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CE3EA"/>
                </a:solidFill>
                <a:latin typeface="IBM Plex Sans" pitchFamily="34" charset="0"/>
                <a:ea typeface="IBM Plex Sans" pitchFamily="34" charset="-122"/>
                <a:cs typeface="IBM Plex Sans" pitchFamily="34" charset="-120"/>
              </a:rPr>
              <a:t>Patch Exchange fast and minimize internet-facing OWA exposure</a:t>
            </a:r>
            <a:endParaRPr lang="en-US" sz="1600" dirty="0"/>
          </a:p>
        </p:txBody>
      </p:sp>
      <p:pic>
        <p:nvPicPr>
          <p:cNvPr id="6" name="Image 1" descr="rect">    </p:cNvPr>
          <p:cNvPicPr>
            <a:picLocks noChangeAspect="1"/>
          </p:cNvPicPr>
          <p:nvPr/>
        </p:nvPicPr>
        <p:blipFill>
          <a:blip r:embed="rId2"/>
          <a:srcRect l="0" r="0" t="0" b="0"/>
          <a:stretch/>
        </p:blipFill>
        <p:spPr>
          <a:xfrm>
            <a:off x="812800" y="2707593"/>
            <a:ext cx="88900" cy="88900"/>
          </a:xfrm>
          <a:prstGeom prst="rect">
            <a:avLst/>
          </a:prstGeom>
        </p:spPr>
      </p:pic>
      <p:sp>
        <p:nvSpPr>
          <p:cNvPr id="7" name="Text 3"/>
          <p:cNvSpPr/>
          <p:nvPr/>
        </p:nvSpPr>
        <p:spPr>
          <a:xfrm>
            <a:off x="1054100" y="2552173"/>
            <a:ext cx="10634853" cy="34082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CE3EA"/>
                </a:solidFill>
                <a:latin typeface="IBM Plex Sans" pitchFamily="34" charset="0"/>
                <a:ea typeface="IBM Plex Sans" pitchFamily="34" charset="-122"/>
                <a:cs typeface="IBM Plex Sans" pitchFamily="34" charset="-120"/>
              </a:rPr>
              <a:t>Rotate the Exchange machineKey; monitor web.config integrity</a:t>
            </a:r>
            <a:endParaRPr lang="en-US" sz="1600" dirty="0"/>
          </a:p>
        </p:txBody>
      </p:sp>
      <p:pic>
        <p:nvPicPr>
          <p:cNvPr id="8" name="Image 2" descr="rect">    </p:cNvPr>
          <p:cNvPicPr>
            <a:picLocks noChangeAspect="1"/>
          </p:cNvPicPr>
          <p:nvPr/>
        </p:nvPicPr>
        <p:blipFill>
          <a:blip r:embed="rId3"/>
          <a:srcRect l="0" r="0" t="0" b="0"/>
          <a:stretch/>
        </p:blipFill>
        <p:spPr>
          <a:xfrm>
            <a:off x="812800" y="3162715"/>
            <a:ext cx="88900" cy="88900"/>
          </a:xfrm>
          <a:prstGeom prst="rect">
            <a:avLst/>
          </a:prstGeom>
        </p:spPr>
      </p:pic>
      <p:sp>
        <p:nvSpPr>
          <p:cNvPr id="9" name="Text 4"/>
          <p:cNvSpPr/>
          <p:nvPr/>
        </p:nvSpPr>
        <p:spPr>
          <a:xfrm>
            <a:off x="1054100" y="3007296"/>
            <a:ext cx="10634853" cy="34082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CE3EA"/>
                </a:solidFill>
                <a:latin typeface="IBM Plex Sans" pitchFamily="34" charset="0"/>
                <a:ea typeface="IBM Plex Sans" pitchFamily="34" charset="-122"/>
                <a:cs typeface="IBM Plex Sans" pitchFamily="34" charset="-120"/>
              </a:rPr>
              <a:t>Alert on w3wp.exe spawning shells and unexpected CLR loads</a:t>
            </a:r>
            <a:endParaRPr lang="en-US" sz="1600" dirty="0"/>
          </a:p>
        </p:txBody>
      </p:sp>
      <p:pic>
        <p:nvPicPr>
          <p:cNvPr id="10" name="Image 3" descr="rect">    </p:cNvPr>
          <p:cNvPicPr>
            <a:picLocks noChangeAspect="1"/>
          </p:cNvPicPr>
          <p:nvPr/>
        </p:nvPicPr>
        <p:blipFill>
          <a:blip r:embed="rId4"/>
          <a:srcRect l="0" r="0" t="0" b="0"/>
          <a:stretch/>
        </p:blipFill>
        <p:spPr>
          <a:xfrm>
            <a:off x="812800" y="3617838"/>
            <a:ext cx="88900" cy="88900"/>
          </a:xfrm>
          <a:prstGeom prst="rect">
            <a:avLst/>
          </a:prstGeom>
        </p:spPr>
      </p:pic>
      <p:sp>
        <p:nvSpPr>
          <p:cNvPr id="11" name="Text 5"/>
          <p:cNvSpPr/>
          <p:nvPr/>
        </p:nvSpPr>
        <p:spPr>
          <a:xfrm>
            <a:off x="1054100" y="3462412"/>
            <a:ext cx="10634853" cy="34082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CE3EA"/>
                </a:solidFill>
                <a:latin typeface="IBM Plex Sans" pitchFamily="34" charset="0"/>
                <a:ea typeface="IBM Plex Sans" pitchFamily="34" charset="-122"/>
                <a:cs typeface="IBM Plex Sans" pitchFamily="34" charset="-120"/>
              </a:rPr>
              <a:t>Enforce phishing-resistant MFA on all VPN and remote access</a:t>
            </a:r>
            <a:endParaRPr lang="en-US" sz="1600" dirty="0"/>
          </a:p>
        </p:txBody>
      </p:sp>
      <p:pic>
        <p:nvPicPr>
          <p:cNvPr id="12" name="Image 4" descr="rect">    </p:cNvPr>
          <p:cNvPicPr>
            <a:picLocks noChangeAspect="1"/>
          </p:cNvPicPr>
          <p:nvPr/>
        </p:nvPicPr>
        <p:blipFill>
          <a:blip r:embed="rId5"/>
          <a:srcRect l="0" r="0" t="0" b="0"/>
          <a:stretch/>
        </p:blipFill>
        <p:spPr>
          <a:xfrm>
            <a:off x="812800" y="4072961"/>
            <a:ext cx="88900" cy="88900"/>
          </a:xfrm>
          <a:prstGeom prst="rect">
            <a:avLst/>
          </a:prstGeom>
        </p:spPr>
      </p:pic>
      <p:sp>
        <p:nvSpPr>
          <p:cNvPr id="13" name="Text 6"/>
          <p:cNvSpPr/>
          <p:nvPr/>
        </p:nvSpPr>
        <p:spPr>
          <a:xfrm>
            <a:off x="1054100" y="3917535"/>
            <a:ext cx="10634853" cy="34082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CE3EA"/>
                </a:solidFill>
                <a:latin typeface="IBM Plex Sans" pitchFamily="34" charset="0"/>
                <a:ea typeface="IBM Plex Sans" pitchFamily="34" charset="-122"/>
                <a:cs typeface="IBM Plex Sans" pitchFamily="34" charset="-120"/>
              </a:rPr>
              <a:t>Hunt long-lived SOCKS tunnels and server-to-DC authentication</a:t>
            </a:r>
            <a:endParaRPr lang="en-US" sz="1600" dirty="0"/>
          </a:p>
        </p:txBody>
      </p:sp>
      <p:sp>
        <p:nvSpPr>
          <p:cNvPr id="14" name="Text 7"/>
          <p:cNvSpPr/>
          <p:nvPr/>
        </p:nvSpPr>
        <p:spPr>
          <a:xfrm>
            <a:off x="812800" y="5910114"/>
            <a:ext cx="10883392" cy="51608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E8B9A"/>
                </a:solidFill>
                <a:latin typeface="IBM Plex Sans" pitchFamily="34" charset="0"/>
                <a:ea typeface="IBM Plex Sans" pitchFamily="34" charset="-122"/>
                <a:cs typeface="IBM Plex Sans" pitchFamily="34" charset="-120"/>
              </a:rPr>
              <a:t>Sources: QiAnXin RedDrip (via The Hacker News) · Kaspersky · The Record · Dark Reading. North American attribution is a working-hours assessment, not confirmed. TLP:CLEAR.</a:t>
            </a:r>
            <a:endParaRPr lang="en-US" sz="1200" dirty="0"/>
          </a:p>
        </p:txBody>
      </p:sp>
    </p:spTree>
  </p:cSld>
  <p:clrMapOvr>
    <a:masterClrMapping/>
  </p:clrMapOvr>
</p:sld>
</file>

<file path=ppt/theme/theme1.xml><?xml version="1.0" encoding="utf-8"?>
<a:theme xmlns:a="http://schemas.openxmlformats.org/drawingml/2006/main" name="NightEagle (APT-Q-95) — Red/Purple Team Briefing">
  <a:themeElements>
    <a:clrScheme name="NightEagle (APT-Q-95) — Red/Purple Team Briefing">
      <a:dk1>
        <a:srgbClr val="0F141B"/>
      </a:dk1>
      <a:lt1>
        <a:srgbClr val="EAEEF3"/>
      </a:lt1>
      <a:dk2>
        <a:srgbClr val="252A31"/>
      </a:dk2>
      <a:lt2>
        <a:srgbClr val="B3B8BD"/>
      </a:lt2>
      <a:accent1>
        <a:srgbClr val="E0A45A"/>
      </a:accent1>
      <a:accent2>
        <a:srgbClr val="C7D0DB"/>
      </a:accent2>
      <a:accent3>
        <a:srgbClr val="8E9BAA"/>
      </a:accent3>
      <a:accent4>
        <a:srgbClr val="A9B4C0"/>
      </a:accent4>
      <a:accent5>
        <a:srgbClr val="7E8B9A"/>
      </a:accent5>
      <a:accent6>
        <a:srgbClr val="9AA0A6"/>
      </a:accent6>
      <a:hlink>
        <a:srgbClr val="0563C1"/>
      </a:hlink>
      <a:folHlink>
        <a:srgbClr val="954F72"/>
      </a:folHlink>
    </a:clrScheme>
    <a:fontScheme name="NightEagle (APT-Q-95) — Red/Purple Team Briefi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NightEagle (APT-Q-95) — Red/Purple Team Briefing</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2026-10-26T21:15:41Z</dcterms:created>
  <dcterms:modified xsi:type="dcterms:W3CDTF">2026-10-26T21:15:41Z</dcterms:modified>
</cp:coreProperties>
</file>